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62" Type="http://schemas.openxmlformats.org/officeDocument/2006/relationships/tableStyles" Target="tableStyles.xml" /><Relationship Id="rId6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0" Type="http://schemas.openxmlformats.org/officeDocument/2006/relationships/viewProps" Target="viewProps.xml" /><Relationship Id="rId5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jp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rive.google.com/drive/folders/1djzbe1pWmHpGwHIHPiN_PQYnBIWQJ6vd?usp=sharing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rive.google.com/drive/folders/1djzbe1pWmHpGwHIHPiN_PQYnBIWQJ6vd?usp=sharing" TargetMode="Externa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Words to Structured Text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Defining the Word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Types, Tokens, and Vocabulary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 </a:t>
                </a:r>
                <a:r>
                  <a:rPr b="1"/>
                  <a:t>token</a:t>
                </a:r>
                <a:r>
                  <a:rPr/>
                  <a:t> is an individual occurrence of a word in a document:</a:t>
                </a:r>
                <a:br/>
                <a14:m>
                  <m:oMath xmlns:m="http://schemas.openxmlformats.org/officeDocument/2006/math">
                    <m:r>
                      <m:t>w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w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w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…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w</m:t>
                            </m:r>
                          </m:e>
                          <m:sub>
                            <m:r>
                              <m:t>M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, where each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t>V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0"/>
                <a:r>
                  <a:rPr/>
                  <a:t>A </a:t>
                </a:r>
                <a:r>
                  <a:rPr b="1"/>
                  <a:t>type</a:t>
                </a:r>
                <a:r>
                  <a:rPr/>
                  <a:t> is a unique word in the vocabulary.</a:t>
                </a:r>
                <a:br/>
              </a:p>
              <a:p>
                <a:pPr lvl="0"/>
                <a:r>
                  <a:rPr/>
                  <a:t>A document’s type‑count vector is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∈</m:t>
                            </m:r>
                            <m:r>
                              <m:rPr>
                                <m:sty m:val="p"/>
                              </m:rPr>
                              <m:t>{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M</m:t>
                            </m:r>
                            <m:r>
                              <m:rPr>
                                <m:sty m:val="p"/>
                              </m:rPr>
                              <m:t>}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1"/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counts how many times type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 appears.</a:t>
                </a:r>
              </a:p>
              <a:p>
                <a:pPr lvl="0"/>
                <a:r>
                  <a:rPr/>
                  <a:t>Order matters for tokens; order is lost in type counts.</a:t>
                </a:r>
                <a:br/>
              </a:p>
              <a:p>
                <a:pPr lvl="0"/>
                <a:r>
                  <a:rPr/>
                  <a:t>Many token sequences map to the same type‑count vector.</a:t>
                </a:r>
                <a:br/>
              </a:p>
              <a:p>
                <a:pPr lvl="0"/>
                <a:r>
                  <a:rPr/>
                  <a:t>Multinomial Naïve Bayes uses type counts, but an equivalent generative model can produce tokens directly.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Naïve Bayes for Word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Goal: classify a document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into a label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{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r>
                      <m:t>K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0"/>
                <a:r>
                  <a:rPr/>
                  <a:t>Bayes rule: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y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arg</m:t>
                            </m:r>
                            <m:limLow>
                              <m:e>
                                <m:r>
                                  <m:rPr>
                                    <m:sty m:val="p"/>
                                  </m:rPr>
                                  <m:t>max</m:t>
                                </m:r>
                              </m:e>
                              <m:lim>
                                <m:r>
                                  <m:t>y</m:t>
                                </m:r>
                              </m:lim>
                            </m:limLow>
                            <m:r>
                              <m:t> 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arg</m:t>
                            </m:r>
                            <m:limLow>
                              <m:e>
                                <m:r>
                                  <m:rPr>
                                    <m:sty m:val="p"/>
                                  </m:rPr>
                                  <m:t>max</m:t>
                                </m:r>
                              </m:e>
                              <m:lim>
                                <m:r>
                                  <m:t>y</m:t>
                                </m:r>
                              </m:lim>
                            </m:limLow>
                            <m:r>
                              <m:t> 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y</m:t>
                                </m:r>
                              </m:e>
                            </m:d>
                            <m:r>
                              <m:t> 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y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 b="1"/>
                  <a:t>Naïve assumption:</a:t>
                </a:r>
                <a:r>
                  <a:rPr/>
                  <a:t> features (words) are conditionally independent given the class.</a:t>
                </a:r>
                <a:br/>
              </a:p>
              <a:p>
                <a:pPr lvl="0"/>
                <a:r>
                  <a:rPr/>
                  <a:t>Prior: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μ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Likelihood factorizes across features.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Multinomial Naïve Bayes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Represent document as type‑count vector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m:t>…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V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Generative process:</a:t>
                </a:r>
              </a:p>
              <a:p>
                <a:pPr lvl="1" indent="-457200" marL="914400">
                  <a:buAutoNum type="arabicPeriod"/>
                </a:pPr>
                <a:r>
                  <a:rPr/>
                  <a:t>Draw class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Categorical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μ</m:t>
                        </m:r>
                      </m:e>
                    </m:d>
                  </m:oMath>
                </a14:m>
                <a:r>
                  <a:rPr/>
                  <a:t>.</a:t>
                </a:r>
                <a:br/>
              </a:p>
              <a:p>
                <a:pPr lvl="1" indent="-457200" marL="914400">
                  <a:buAutoNum type="arabicPeriod"/>
                </a:pPr>
                <a:r>
                  <a:rPr/>
                  <a:t>Draw counts from a multinomial: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y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Multinomial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M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ϕ</m:t>
                            </m:r>
                          </m:e>
                          <m:sub>
                            <m:r>
                              <m:t>y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/>
                  <a:t>Likelihood: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B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</m:e>
                            </m:d>
                            <m:nary>
                              <m:naryPr>
                                <m:chr m:val="∏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V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m:t>ϕ</m:t>
                                    </m:r>
                                  </m:e>
                                  <m:sub>
                                    <m: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j</m:t>
                                    </m:r>
                                  </m:sub>
                                  <m:sup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sup>
                                </m:sSubSup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  <a:p>
                <a:pPr lvl="1"/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r>
                          <m:rPr>
                            <m:sty m:val="p"/>
                          </m:rPr>
                          <m:t>!</m:t>
                        </m:r>
                      </m:num>
                      <m:den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!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!</m:t>
                        </m:r>
                        <m:r>
                          <m:rPr>
                            <m:sty m:val="p"/>
                          </m:rPr>
                          <m:t>⋯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V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!</m:t>
                        </m:r>
                      </m:den>
                    </m:f>
                  </m:oMath>
                </a14:m>
                <a:r>
                  <a:rPr/>
                  <a:t> is the multinomial coefficient.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Token‑Level Generative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Alternative generative process (Algorithm 2):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p>
                              <m:e>
                                <m:r>
                                  <m:t>y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  <m:e>
                            <m:r>
                              <m:rPr>
                                <m:sty m:val="p"/>
                              </m:rPr>
                              <m:t>∼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Categorical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μ</m:t>
                                </m:r>
                              </m:e>
                            </m:d>
                          </m:e>
                        </m:mr>
                        <m:mr>
                          <m:e>
                            <m:sSubSup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</m:e>
                                </m:d>
                              </m:sup>
                            </m:sSubSup>
                          </m:e>
                          <m:e>
                            <m:r>
                              <m:rPr>
                                <m:sty m:val="p"/>
                              </m:rPr>
                              <m:t>∣</m:t>
                            </m:r>
                            <m:sSup>
                              <m:e>
                                <m:r>
                                  <m:t>y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m:t>∼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Categorical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ϕ</m:t>
                                    </m:r>
                                  </m:e>
                                  <m:sub>
                                    <m:sSup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/>
                                          </m:dPr>
                                          <m:e>
                                            <m: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Conditional independence: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Sup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m:t>⟂</m:t>
                            </m:r>
                            <m:sSubSup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m:t>′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m:t>∣</m:t>
                            </m:r>
                            <m:sSup>
                              <m:e>
                                <m:r>
                                  <m:t>y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Probability of sequence: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w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∏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M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m:t>ϕ</m:t>
                                    </m:r>
                                  </m:e>
                                  <m:sub>
                                    <m: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m:t>m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Equivalent to multinomial NB up to the multinomial coefficient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Two Models Are Equivalent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Many token sequences correspond to the same type‑count vector.</a:t>
                </a:r>
                <a:br/>
              </a:p>
              <a:p>
                <a:pPr lvl="0"/>
                <a:r>
                  <a:rPr/>
                  <a:t>Relationship: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w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B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x</m:t>
                                    </m:r>
                                  </m:e>
                                </m:d>
                              </m:den>
                            </m:f>
                            <m:r>
                              <m:t> 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y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Since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≥</m:t>
                    </m:r>
                    <m:r>
                      <m:t>1</m:t>
                    </m:r>
                  </m:oMath>
                </a14:m>
                <a:r>
                  <a:rPr/>
                  <a:t>,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≥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w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y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Classification decisions identical because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does not depend on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0"/>
                <a:r>
                  <a:rPr/>
                  <a:t>Order adds no information under the Naïve Bayes independence assumption.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Converts raw character sequences into discrete units.</a:t>
            </a:r>
            <a:br/>
          </a:p>
          <a:p>
            <a:pPr lvl="0"/>
            <a:r>
              <a:rPr/>
              <a:t>English: whitespace + punctuation rules often suffice.</a:t>
            </a:r>
            <a:br/>
          </a:p>
          <a:p>
            <a:pPr lvl="0"/>
            <a:r>
              <a:rPr/>
              <a:t>Other languages: segmentation is non‑trivial (e.g., Chinese, Japanese).</a:t>
            </a:r>
          </a:p>
          <a:p>
            <a:pPr lvl="0"/>
            <a:r>
              <a:rPr/>
              <a:t>Challenges:</a:t>
            </a:r>
          </a:p>
          <a:p>
            <a:pPr lvl="1"/>
            <a:r>
              <a:rPr/>
              <a:t>Ambiguity: “Isn’t Ahab, Ahab? ;)” → different tokenizers produce different segmentations.</a:t>
            </a:r>
            <a:br/>
          </a:p>
          <a:p>
            <a:pPr lvl="1"/>
            <a:r>
              <a:rPr/>
              <a:t>Languages without spaces require statistical segmentation.</a:t>
            </a:r>
            <a:br/>
          </a:p>
          <a:p>
            <a:pPr lvl="1"/>
            <a:r>
              <a:rPr/>
              <a:t>Social media, hashtags, emojis, and code‑switching complicate boundaries.</a:t>
            </a:r>
          </a:p>
          <a:p>
            <a:pPr lvl="0"/>
            <a:r>
              <a:rPr/>
              <a:t>Algorithmic Approaches</a:t>
            </a:r>
          </a:p>
          <a:p>
            <a:pPr lvl="1"/>
            <a:r>
              <a:rPr/>
              <a:t>Rule‑based (regex, dictionaries).</a:t>
            </a:r>
            <a:br/>
          </a:p>
          <a:p>
            <a:pPr lvl="1"/>
            <a:r>
              <a:rPr/>
              <a:t>Supervised sequence labeling (e.g., logistic regression, CRF).</a:t>
            </a:r>
            <a:br/>
          </a:p>
          <a:p>
            <a:pPr lvl="1"/>
            <a:r>
              <a:rPr/>
              <a:t>Neural models (LSTM‑CRF, CNN‑based encoders).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Out‑of‑Vocabulary (OOV) Words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Closed vs. open vocabulary</a:t>
                </a:r>
              </a:p>
              <a:p>
                <a:pPr lvl="1"/>
                <a:r>
                  <a:rPr/>
                  <a:t>Closed vocabulary: fixed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1"/>
                <a:r>
                  <a:rPr/>
                  <a:t>Real text introduces new names, slang, technologies, numbers, and morphological variants.</a:t>
                </a:r>
              </a:p>
              <a:p>
                <a:pPr lvl="0"/>
                <a:r>
                  <a:rPr/>
                  <a:t>Basic OOV handling</a:t>
                </a:r>
              </a:p>
              <a:p>
                <a:pPr lvl="1"/>
                <a:r>
                  <a:rPr/>
                  <a:t>Replace unseen types with a special token: ⟨UNK⟩.</a:t>
                </a:r>
                <a:br/>
              </a:p>
              <a:p>
                <a:pPr lvl="1"/>
                <a:r>
                  <a:rPr/>
                  <a:t>Option: mark first occurrence of each type as ⟨UNK⟩.</a:t>
                </a:r>
              </a:p>
              <a:p>
                <a:pPr lvl="0"/>
                <a:r>
                  <a:rPr/>
                  <a:t>Better OOV modeling</a:t>
                </a:r>
              </a:p>
              <a:p>
                <a:pPr lvl="1"/>
                <a:r>
                  <a:rPr/>
                  <a:t>Character‑level models (n‑grams, RNNs, CNNs).</a:t>
                </a:r>
                <a:br/>
              </a:p>
              <a:p>
                <a:pPr lvl="1"/>
                <a:r>
                  <a:rPr/>
                  <a:t>Subword segmentation (morphemes, BPE, unigram LM).</a:t>
                </a:r>
                <a:br/>
              </a:p>
              <a:p>
                <a:pPr lvl="1"/>
                <a:r>
                  <a:rPr/>
                  <a:t>Helps with morphologically rich languages (e.g., Portuguese verb paradigms).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Vocabulary Size and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Larger vocabulary → higher coverage but larger models.</a:t>
            </a:r>
            <a:br/>
          </a:p>
          <a:p>
            <a:pPr lvl="0"/>
            <a:r>
              <a:rPr/>
              <a:t>English movie reviews: ~4k types cover ~90% of tokens.</a:t>
            </a:r>
            <a:br/>
          </a:p>
          <a:p>
            <a:pPr lvl="0"/>
            <a:r>
              <a:rPr/>
              <a:t>Portuguese (MAC‑Morpho): &gt;10k types needed for similar coverage.</a:t>
            </a:r>
          </a:p>
          <a:p>
            <a:pPr lvl="0"/>
            <a:r>
              <a:rPr/>
              <a:t>Design decisions</a:t>
            </a:r>
          </a:p>
          <a:p>
            <a:pPr lvl="1"/>
            <a:r>
              <a:rPr/>
              <a:t>Limit vocabulary to top‑K types.</a:t>
            </a:r>
            <a:br/>
          </a:p>
          <a:p>
            <a:pPr lvl="1"/>
            <a:r>
              <a:rPr/>
              <a:t>Consider stemming/lemmatization.</a:t>
            </a:r>
            <a:br/>
          </a:p>
          <a:p>
            <a:pPr lvl="1"/>
            <a:r>
              <a:rPr/>
              <a:t>Avoid over‑aggressive stopword removal in supervised tasks.</a:t>
            </a:r>
            <a:br/>
          </a:p>
          <a:p>
            <a:pPr lvl="1"/>
            <a:r>
              <a:rPr/>
              <a:t>Feature hashing for fixed‑size representations.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Vector Semantics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Distributional Semantics: The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Meaning emerges from </a:t>
            </a:r>
            <a:r>
              <a:rPr b="1"/>
              <a:t>contextual usage</a:t>
            </a:r>
            <a:r>
              <a:rPr/>
              <a:t>.</a:t>
            </a:r>
            <a:br/>
          </a:p>
          <a:p>
            <a:pPr lvl="0"/>
            <a:r>
              <a:rPr/>
              <a:t>Harris (1954), Firth (1957): </a:t>
            </a:r>
            <a:r>
              <a:rPr i="1"/>
              <a:t>“You shall know a word by the company it keeps.”</a:t>
            </a:r>
            <a:br/>
          </a:p>
          <a:p>
            <a:pPr lvl="0"/>
            <a:r>
              <a:rPr/>
              <a:t>Represent words as vectors in a high‑dimensional space.</a:t>
            </a:r>
            <a:br/>
          </a:p>
          <a:p>
            <a:pPr lvl="0"/>
            <a:r>
              <a:rPr/>
              <a:t>Similarity = geometric closeness.</a:t>
            </a:r>
            <a:br/>
          </a:p>
          <a:p>
            <a:pPr lvl="0"/>
            <a:r>
              <a:rPr/>
              <a:t>Foundation for all modern embeddings.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Static Embeddings: word2vec &amp; GloVe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word2vec</a:t>
                </a:r>
              </a:p>
              <a:p>
                <a:pPr lvl="1"/>
                <a:r>
                  <a:rPr/>
                  <a:t>Learns embeddings by predicting context.</a:t>
                </a:r>
                <a:br/>
              </a:p>
              <a:p>
                <a:pPr lvl="0"/>
                <a:r>
                  <a:rPr/>
                  <a:t>Two architectures:</a:t>
                </a:r>
              </a:p>
              <a:p>
                <a:pPr lvl="1"/>
                <a:r>
                  <a:rPr/>
                  <a:t>CBOW: predict target from context.</a:t>
                </a:r>
                <a:br/>
              </a:p>
              <a:p>
                <a:pPr lvl="1"/>
                <a:r>
                  <a:rPr/>
                  <a:t>Skip‑gram: predict context from target.</a:t>
                </a:r>
                <a:br/>
              </a:p>
              <a:p>
                <a:pPr lvl="0"/>
                <a:r>
                  <a:rPr/>
                  <a:t>Objective (skip‑gram):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limLow>
                              <m:e>
                                <m:r>
                                  <m:rPr>
                                    <m:sty m:val="p"/>
                                  </m:rPr>
                                  <m:t>max</m:t>
                                </m:r>
                              </m:e>
                              <m:lim>
                                <m:r>
                                  <m:t>θ</m:t>
                                </m:r>
                              </m:lim>
                            </m:limLow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T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n"/>
                                  </m:naryPr>
                                  <m:sub>
                                    <m: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∈</m:t>
                                    </m:r>
                                    <m:r>
                                      <m:rPr>
                                        <m:sty m:val="p"/>
                                        <m:scr m:val="script"/>
                                      </m:rPr>
                                      <m:t>C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t</m:t>
                                        </m:r>
                                      </m:e>
                                    </m:d>
                                  </m:sub>
                                  <m:sup>
                                    <m:r>
                                      <m:t>​</m:t>
                                    </m:r>
                                  </m:sup>
                                  <m:e>
                                    <m:r>
                                      <m:rPr>
                                        <m:sty m:val="p"/>
                                      </m:rPr>
                                      <m:t>log</m:t>
                                    </m:r>
                                  </m:e>
                                </m:nary>
                              </m:e>
                            </m:nary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w</m:t>
                                    </m:r>
                                  </m:e>
                                  <m:sub>
                                    <m:r>
                                      <m:t>c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sSub>
                                  <m:e>
                                    <m:r>
                                      <m:t>w</m:t>
                                    </m:r>
                                  </m:e>
                                  <m:sub>
                                    <m:r>
                                      <m:t>t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GloVe</a:t>
                </a:r>
              </a:p>
              <a:p>
                <a:pPr lvl="1"/>
                <a:r>
                  <a:rPr/>
                  <a:t>Global co‑occurrence matrix factorization.</a:t>
                </a:r>
                <a:br/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n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j</m:t>
                                </m:r>
                              </m:sub>
                              <m:sup>
                                <m:r>
                                  <m:t>​</m:t>
                                </m:r>
                              </m:sup>
                              <m:e>
                                <m:r>
                                  <m:t>f</m:t>
                                </m:r>
                              </m:e>
                            </m:nary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  <m: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Sup>
                                      <m:e>
                                        <m: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m:t>⊤</m:t>
                                        </m:r>
                                      </m:sup>
                                    </m:sSubSup>
                                    <m:sSub>
                                      <m:e>
                                        <m:acc>
                                          <m:accPr>
                                            <m:chr m:val="̃"/>
                                          </m:accPr>
                                          <m:e>
                                            <m:r>
                                              <m:t>w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sSub>
                                      <m:e>
                                        <m:acc>
                                          <m:accPr>
                                            <m:chr m:val="̃"/>
                                          </m:accPr>
                                          <m:e>
                                            <m:r>
                                              <m:t>b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log</m:t>
                                    </m:r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Geometry of Embedding Spaces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Embedding space = semantic geometry.</a:t>
                </a:r>
              </a:p>
              <a:p>
                <a:pPr lvl="0"/>
                <a:r>
                  <a:rPr/>
                  <a:t>Cosine similarity:</a:t>
                </a:r>
              </a:p>
              <a:p>
                <a:pPr lvl="1"/>
                <a:r>
                  <a:rPr/>
                  <a:t>Cosine: angle → semantic similarity.</a:t>
                </a:r>
                <a:br/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u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v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u</m:t>
                                </m:r>
                                <m:r>
                                  <m:rPr>
                                    <m:sty m:val="p"/>
                                  </m:rPr>
                                  <m:t>⋅</m:t>
                                </m:r>
                                <m:r>
                                  <m:t>v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∥</m:t>
                                </m:r>
                                <m:r>
                                  <m:t>u</m:t>
                                </m:r>
                                <m:r>
                                  <m:rPr>
                                    <m:sty m:val="p"/>
                                  </m:rPr>
                                  <m:t>∥</m:t>
                                </m:r>
                                <m:r>
                                  <m:rPr>
                                    <m:sty m:val="p"/>
                                  </m:rPr>
                                  <m:t>∥</m:t>
                                </m:r>
                                <m:r>
                                  <m:t>v</m:t>
                                </m:r>
                                <m:r>
                                  <m:rPr>
                                    <m:sty m:val="p"/>
                                  </m:rPr>
                                  <m:t>∥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Euclidean distance:</a:t>
                </a:r>
              </a:p>
              <a:p>
                <a:pPr lvl="1"/>
                <a:r>
                  <a:rPr/>
                  <a:t>Euclidean: magnitude + direction → sensitive to frequency effects.</a:t>
                </a:r>
                <a:br/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u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v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∥</m:t>
                            </m:r>
                            <m:r>
                              <m:t>u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v</m:t>
                            </m:r>
                            <m:r>
                              <m:rPr>
                                <m:sty m:val="p"/>
                              </m:rPr>
                              <m:t>∥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Distance Metrics in Embedding Space</a:t>
            </a:r>
          </a:p>
        </p:txBody>
      </p:sp>
      <p:pic>
        <p:nvPicPr>
          <p:cNvPr descr="./M02_lecture02_figures/distance-metr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816100"/>
            <a:ext cx="68199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1</a:t>
            </a:r>
            <a:r>
              <a:rPr b="1"/>
              <a:t>.</a:t>
            </a:r>
            <a:r>
              <a:rPr/>
              <a:t> Distance Metrics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Mahalanobis Distance: Covariance‑Aware Similarity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Accounts for correlated dimensions.</a:t>
                </a:r>
                <a:br/>
              </a:p>
              <a:p>
                <a:pPr lvl="0"/>
                <a:r>
                  <a:rPr/>
                  <a:t>Generalized distance: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d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u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v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u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v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⊤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t>Σ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1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u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v</m:t>
                                    </m:r>
                                  </m:e>
                                </m:d>
                              </m:e>
                            </m:rad>
                          </m:e>
                        </m:mr>
                      </m:m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= covariance matrix of embedding distribution.</a:t>
                </a:r>
                <a:br/>
              </a:p>
              <a:p>
                <a:pPr lvl="0"/>
                <a:r>
                  <a:rPr/>
                  <a:t>Benefits:</a:t>
                </a:r>
              </a:p>
              <a:p>
                <a:pPr lvl="1"/>
                <a:r>
                  <a:rPr/>
                  <a:t>Downweights noisy or redundant dimensions.</a:t>
                </a:r>
                <a:br/>
              </a:p>
              <a:p>
                <a:pPr lvl="1"/>
                <a:r>
                  <a:rPr/>
                  <a:t>Captures anisotropy in embedding spaces.</a:t>
                </a:r>
                <a:br/>
              </a:p>
              <a:p>
                <a:pPr lvl="0"/>
                <a:r>
                  <a:rPr/>
                  <a:t>Useful in metric learning, clustering, and specialized retrieval tasks.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Mahalanobis Distance</a:t>
            </a:r>
          </a:p>
        </p:txBody>
      </p:sp>
      <p:pic>
        <p:nvPicPr>
          <p:cNvPr descr="./M02_lecture02_figures/mahalanobis-outlie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87700" y="1816100"/>
            <a:ext cx="58039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2</a:t>
            </a:r>
            <a:r>
              <a:rPr b="1"/>
              <a:t>.</a:t>
            </a:r>
            <a:r>
              <a:rPr/>
              <a:t> Mahalanobis distance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Cross‑Entropy</a:t>
            </a:r>
          </a:p>
        </p:txBody>
      </p:sp>
      <p:pic>
        <p:nvPicPr>
          <p:cNvPr descr="M02_P2_files/figure-pptx/fig-entropy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78300" y="1816100"/>
            <a:ext cx="383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3</a:t>
            </a:r>
            <a:r>
              <a:rPr b="1"/>
              <a:t>.</a:t>
            </a:r>
            <a:r>
              <a:rPr/>
              <a:t> Different levels of entropy in 2D data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Cross‑Entropy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Cross‑entropy measures how well a predicted distribution matches the true one.</a:t>
            </a:r>
            <a:br/>
          </a:p>
          <a:p>
            <a:pPr lvl="0"/>
            <a:r>
              <a:rPr/>
              <a:t>High cross‑entropy → model assigns low probability to the correct class.</a:t>
            </a:r>
            <a:br/>
          </a:p>
          <a:p>
            <a:pPr lvl="0"/>
            <a:r>
              <a:rPr/>
              <a:t>Low cross‑entropy → model is confident and correct.</a:t>
            </a:r>
            <a:br/>
          </a:p>
          <a:p>
            <a:pPr lvl="0"/>
            <a:r>
              <a:rPr/>
              <a:t>Visual intuition:</a:t>
            </a:r>
          </a:p>
          <a:p>
            <a:pPr lvl="1"/>
            <a:r>
              <a:rPr/>
              <a:t>When the predicted probability for the true class approaches 1, loss → 0.</a:t>
            </a:r>
            <a:br/>
          </a:p>
          <a:p>
            <a:pPr lvl="1"/>
            <a:r>
              <a:rPr/>
              <a:t>When the model is wrong/confident, loss spikes sharply.</a:t>
            </a:r>
            <a:br/>
          </a:p>
          <a:p>
            <a:pPr lvl="0"/>
            <a:r>
              <a:rPr/>
              <a:t>This loss underlies softmax classifiers, word prediction, and neural language models.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Representing Meaning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VAKOG: Visual, Auditory, Kinesthetic modalities.</a:t>
            </a:r>
          </a:p>
        </p:txBody>
      </p:sp>
      <p:pic>
        <p:nvPicPr>
          <p:cNvPr descr="./M02_lecture02_figures/VAKOG-representational-meanin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816100"/>
            <a:ext cx="67437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4</a:t>
            </a:r>
            <a:r>
              <a:rPr b="1"/>
              <a:t>.</a:t>
            </a:r>
            <a:r>
              <a:rPr/>
              <a:t> Visual, Auditory, Kinesthetic, Olfactory, and Gustatory Representation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Represent Meaning in Vectors?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Words carry meaning through </a:t>
            </a:r>
            <a:r>
              <a:rPr b="1"/>
              <a:t>patterns of use</a:t>
            </a:r>
            <a:r>
              <a:rPr/>
              <a:t>.</a:t>
            </a:r>
            <a:br/>
          </a:p>
          <a:p>
            <a:pPr lvl="0"/>
            <a:r>
              <a:rPr/>
              <a:t>Distributional hypothesis → represent meaning via </a:t>
            </a:r>
            <a:r>
              <a:rPr b="1"/>
              <a:t>co‑occurrence structure</a:t>
            </a:r>
            <a:r>
              <a:rPr/>
              <a:t>.</a:t>
            </a:r>
            <a:br/>
          </a:p>
          <a:p>
            <a:pPr lvl="0"/>
            <a:r>
              <a:rPr/>
              <a:t>Vector spaces allow:</a:t>
            </a:r>
          </a:p>
          <a:p>
            <a:pPr lvl="1"/>
            <a:r>
              <a:rPr/>
              <a:t>Similarity comparisons</a:t>
            </a:r>
            <a:br/>
          </a:p>
          <a:p>
            <a:pPr lvl="1"/>
            <a:r>
              <a:rPr/>
              <a:t>Analogy reasoning</a:t>
            </a:r>
            <a:br/>
          </a:p>
          <a:p>
            <a:pPr lvl="1"/>
            <a:r>
              <a:rPr/>
              <a:t>Clustering &amp; retrieval</a:t>
            </a:r>
            <a:br/>
          </a:p>
          <a:p>
            <a:pPr lvl="1"/>
            <a:r>
              <a:rPr/>
              <a:t>Input to neural models</a:t>
            </a:r>
            <a:br/>
          </a:p>
          <a:p>
            <a:pPr lvl="0"/>
            <a:r>
              <a:rPr/>
              <a:t>Meaning becomes </a:t>
            </a:r>
            <a:r>
              <a:rPr b="1"/>
              <a:t>geometry</a:t>
            </a:r>
            <a:r>
              <a:rPr/>
              <a:t>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Static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vector per word type (context‑independent).</a:t>
            </a:r>
            <a:br/>
          </a:p>
          <a:p>
            <a:pPr lvl="0"/>
            <a:r>
              <a:rPr/>
              <a:t>Learned from large corpora.</a:t>
            </a:r>
            <a:br/>
          </a:p>
          <a:p>
            <a:pPr lvl="0"/>
            <a:r>
              <a:rPr/>
              <a:t>Two major families:</a:t>
            </a:r>
          </a:p>
          <a:p>
            <a:pPr lvl="1"/>
            <a:r>
              <a:rPr b="1"/>
              <a:t>word2vec</a:t>
            </a:r>
            <a:r>
              <a:rPr/>
              <a:t> (predictive)</a:t>
            </a:r>
            <a:br/>
          </a:p>
          <a:p>
            <a:pPr lvl="1"/>
            <a:r>
              <a:rPr b="1"/>
              <a:t>GloVe</a:t>
            </a:r>
            <a:r>
              <a:rPr/>
              <a:t> (count‑based factorization)</a:t>
            </a:r>
            <a:br/>
          </a:p>
          <a:p>
            <a:pPr lvl="0"/>
            <a:r>
              <a:rPr/>
              <a:t>Capture syntactic &amp; semantic regularities.</a:t>
            </a:r>
            <a:br/>
          </a:p>
          <a:p>
            <a:pPr lvl="0"/>
            <a:r>
              <a:rPr/>
              <a:t>Limitations:</a:t>
            </a:r>
          </a:p>
          <a:p>
            <a:pPr lvl="1"/>
            <a:r>
              <a:rPr/>
              <a:t>Polysemy collapsed into one vector</a:t>
            </a:r>
            <a:br/>
          </a:p>
          <a:p>
            <a:pPr lvl="1"/>
            <a:r>
              <a:rPr/>
              <a:t>No contextual variation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Contextual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Meaning depends on </a:t>
            </a:r>
            <a:r>
              <a:rPr b="1"/>
              <a:t>context</a:t>
            </a:r>
            <a:r>
              <a:rPr/>
              <a:t>.</a:t>
            </a:r>
            <a:br/>
          </a:p>
          <a:p>
            <a:pPr lvl="0"/>
            <a:r>
              <a:rPr/>
              <a:t>Same word → different vectors in different sentences.</a:t>
            </a:r>
            <a:br/>
          </a:p>
          <a:p>
            <a:pPr lvl="0"/>
            <a:r>
              <a:rPr/>
              <a:t>Produced by deep LMs (ELMo, BERT, GPT).</a:t>
            </a:r>
            <a:br/>
          </a:p>
          <a:p>
            <a:pPr lvl="0"/>
            <a:r>
              <a:rPr/>
              <a:t>Representations come from </a:t>
            </a:r>
            <a:r>
              <a:rPr b="1"/>
              <a:t>hidden states</a:t>
            </a:r>
            <a:r>
              <a:rPr/>
              <a:t> of the model.</a:t>
            </a:r>
            <a:br/>
          </a:p>
          <a:p>
            <a:pPr lvl="0"/>
            <a:r>
              <a:rPr/>
              <a:t>Capture:</a:t>
            </a:r>
          </a:p>
          <a:p>
            <a:pPr lvl="1"/>
            <a:r>
              <a:rPr/>
              <a:t>Word sense</a:t>
            </a:r>
            <a:br/>
          </a:p>
          <a:p>
            <a:pPr lvl="1"/>
            <a:r>
              <a:rPr/>
              <a:t>Syntax</a:t>
            </a:r>
            <a:br/>
          </a:p>
          <a:p>
            <a:pPr lvl="1"/>
            <a:r>
              <a:rPr/>
              <a:t>Long‑range dependencies</a:t>
            </a:r>
            <a:br/>
          </a:p>
          <a:p>
            <a:pPr lvl="1"/>
            <a:r>
              <a:rPr/>
              <a:t>Discourse‑level meaning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Classification Diagnostics &amp; Evaluation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 includes </a:t>
            </a:r>
            <a:r>
              <a:rPr b="1"/>
              <a:t>Adelie, Gentoo, Chinstrap</a:t>
            </a:r>
            <a:r>
              <a:rPr/>
              <a:t> penguins.</a:t>
            </a:r>
            <a:br/>
          </a:p>
          <a:p>
            <a:pPr lvl="0"/>
            <a:r>
              <a:rPr/>
              <a:t>Features: bill length, bill depth, flipper length, body mass.</a:t>
            </a:r>
            <a:br/>
          </a:p>
          <a:p>
            <a:pPr lvl="0"/>
            <a:r>
              <a:rPr/>
              <a:t>For evaluation demos, create a </a:t>
            </a:r>
            <a:r>
              <a:rPr b="1"/>
              <a:t>binary task</a:t>
            </a:r>
            <a:r>
              <a:rPr/>
              <a:t>:</a:t>
            </a:r>
          </a:p>
          <a:p>
            <a:pPr lvl="1"/>
            <a:r>
              <a:rPr i="1"/>
              <a:t>Adelie</a:t>
            </a:r>
            <a:r>
              <a:rPr/>
              <a:t> vs </a:t>
            </a:r>
            <a:r>
              <a:rPr i="1"/>
              <a:t>Non‑Adelie</a:t>
            </a:r>
            <a:br/>
          </a:p>
          <a:p>
            <a:pPr lvl="0"/>
            <a:r>
              <a:rPr/>
              <a:t>Allows clean visualization of:</a:t>
            </a:r>
          </a:p>
          <a:p>
            <a:pPr lvl="1"/>
            <a:r>
              <a:rPr/>
              <a:t>Class separation</a:t>
            </a:r>
            <a:br/>
          </a:p>
          <a:p>
            <a:pPr lvl="1"/>
            <a:r>
              <a:rPr/>
              <a:t>Threshold effects</a:t>
            </a:r>
            <a:br/>
          </a:p>
          <a:p>
            <a:pPr lvl="1"/>
            <a:r>
              <a:rPr/>
              <a:t>ROC &amp; PR curves</a:t>
            </a:r>
            <a:br/>
          </a:p>
          <a:p>
            <a:pPr lvl="1"/>
            <a:r>
              <a:rPr/>
              <a:t>Imbalance manipulation</a:t>
            </a:r>
          </a:p>
          <a:p>
            <a:pPr lvl="0"/>
            <a:r>
              <a:rPr/>
              <a:t>More Detailed discussion is in module 8 lecture note 1.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Visualizing the Feature Space</a:t>
            </a:r>
          </a:p>
        </p:txBody>
      </p:sp>
      <p:pic>
        <p:nvPicPr>
          <p:cNvPr descr="M02_P2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1816100"/>
            <a:ext cx="42799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Penguins feature space: bill length vs. bill depth, colored by species.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Confusion Matrix &amp; Thresholding</a:t>
            </a:r>
          </a:p>
        </p:txBody>
      </p:sp>
      <p:pic>
        <p:nvPicPr>
          <p:cNvPr descr="./M02_lecture02_figures/complete-contingecy-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51300" y="1816100"/>
            <a:ext cx="41021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5</a:t>
            </a:r>
            <a:r>
              <a:rPr b="1"/>
              <a:t>.</a:t>
            </a:r>
            <a:r>
              <a:rPr/>
              <a:t> Contingency Table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ROC Curve on Penguins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ROC = TPR vs FPR across thresholds.</a:t>
            </a:r>
            <a:br/>
          </a:p>
          <a:p>
            <a:pPr lvl="0"/>
            <a:r>
              <a:rPr/>
              <a:t>AUC = ranking quality.</a:t>
            </a:r>
            <a:br/>
          </a:p>
          <a:p>
            <a:pPr lvl="0"/>
            <a:r>
              <a:rPr/>
              <a:t>Penguins show clear separation → high AUC.</a:t>
            </a:r>
            <a:br/>
          </a:p>
          <a:p>
            <a:pPr lvl="0"/>
            <a:r>
              <a:rPr/>
              <a:t>Connects to LLM evaluation:</a:t>
            </a:r>
          </a:p>
          <a:p>
            <a:pPr lvl="1"/>
            <a:r>
              <a:rPr/>
              <a:t>LLM token ranking ≈ classifier score ranking.</a:t>
            </a:r>
          </a:p>
        </p:txBody>
      </p:sp>
      <p:pic>
        <p:nvPicPr>
          <p:cNvPr descr="M02_P2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460500"/>
            <a:ext cx="617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ROC curve for logistic regression on penguin data.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Roboto"/>
              </a:rPr>
              <a:t>ROC AUC: 0.9995993589743589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Precision–Recall Curve on Penguins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PR curve focuses on the </a:t>
            </a:r>
            <a:r>
              <a:rPr b="1"/>
              <a:t>positive class</a:t>
            </a:r>
            <a:r>
              <a:rPr/>
              <a:t>.</a:t>
            </a:r>
            <a:br/>
          </a:p>
          <a:p>
            <a:pPr lvl="0"/>
            <a:r>
              <a:rPr/>
              <a:t>More sensitive to imbalance.</a:t>
            </a:r>
            <a:br/>
          </a:p>
          <a:p>
            <a:pPr lvl="0"/>
            <a:r>
              <a:rPr/>
              <a:t>Demonstrates why PR‑AUC is preferred when positives are rare.</a:t>
            </a:r>
            <a:br/>
          </a:p>
          <a:p>
            <a:pPr lvl="0"/>
            <a:r>
              <a:rPr/>
              <a:t>Connects to LLM correctness:</a:t>
            </a:r>
          </a:p>
          <a:p>
            <a:pPr lvl="1"/>
            <a:r>
              <a:rPr/>
              <a:t>Rare correct answers → PR‑AUC is more informative.</a:t>
            </a:r>
          </a:p>
        </p:txBody>
      </p:sp>
      <p:pic>
        <p:nvPicPr>
          <p:cNvPr descr="M02_P2_files/figure-pptx/cell-6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714500"/>
            <a:ext cx="617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Creating Imbalance in Penguins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Downsample Adelie to simulate 1:10 imbalance.</a:t>
            </a:r>
            <a:br/>
          </a:p>
          <a:p>
            <a:pPr lvl="0"/>
            <a:r>
              <a:rPr/>
              <a:t>ROC remains high; PR collapses.</a:t>
            </a:r>
            <a:br/>
          </a:p>
          <a:p>
            <a:pPr lvl="0"/>
            <a:r>
              <a:rPr/>
              <a:t>Mirrors the attached document’s insight:</a:t>
            </a:r>
            <a:br/>
            <a:r>
              <a:rPr/>
              <a:t>&gt; “ROC AUC can be optimistic on severely imbalanced classification problems.”</a:t>
            </a:r>
          </a:p>
        </p:txBody>
      </p:sp>
      <p:pic>
        <p:nvPicPr>
          <p:cNvPr descr="M02_P2_files/figure-pptx/cell-7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739900"/>
            <a:ext cx="61722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02_P2_files/figure-pptx/cell-7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93900" y="1816100"/>
            <a:ext cx="82169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 Correctness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LLMs output </a:t>
            </a:r>
            <a:r>
              <a:rPr b="1"/>
              <a:t>ranked token distributions</a:t>
            </a:r>
            <a:r>
              <a:rPr/>
              <a:t>, not labels.</a:t>
            </a:r>
            <a:br/>
          </a:p>
          <a:p>
            <a:pPr lvl="0"/>
            <a:r>
              <a:rPr/>
              <a:t>Evaluation parallels ROC/PR:</a:t>
            </a:r>
          </a:p>
          <a:p>
            <a:pPr lvl="1"/>
            <a:r>
              <a:rPr/>
              <a:t>Ranking quality → ROC‑AUC</a:t>
            </a:r>
            <a:br/>
          </a:p>
          <a:p>
            <a:pPr lvl="1"/>
            <a:r>
              <a:rPr/>
              <a:t>Rare correct answers → PR‑AUC</a:t>
            </a:r>
            <a:br/>
          </a:p>
          <a:p>
            <a:pPr lvl="1"/>
            <a:r>
              <a:rPr/>
              <a:t>Calibration → Brier score</a:t>
            </a:r>
            <a:br/>
          </a:p>
          <a:p>
            <a:pPr lvl="0"/>
            <a:r>
              <a:rPr/>
              <a:t>Penguins example builds intuition for LLM scoring.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Feedforward Architectures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Feedforward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Check module 8 Lecture note 1 and 2 for details on feedforward architectures and Backpropagation.</a:t>
            </a:r>
          </a:p>
          <a:p>
            <a:pPr lvl="0"/>
            <a:r>
              <a:rPr/>
              <a:t>Download data for analysis from </a:t>
            </a:r>
            <a:r>
              <a:rPr>
                <a:hlinkClick r:id="rId2"/>
              </a:rPr>
              <a:t>here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Recurrent Architectures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Recurrent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Check module 8 Lecture note 3 for details on recurrent architectures and LSTM.</a:t>
            </a:r>
          </a:p>
          <a:p>
            <a:pPr lvl="0"/>
            <a:r>
              <a:rPr/>
              <a:t>Download data for analysis from </a:t>
            </a:r>
            <a:r>
              <a:rPr>
                <a:hlinkClick r:id="rId2"/>
              </a:rPr>
              <a:t>here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Attention &amp; Long‑Range Dependencies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RNNs Struggle With Long‑Range Dependencies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RNNs compress all past information into a </a:t>
                </a:r>
                <a:r>
                  <a:rPr b="1"/>
                  <a:t>single hidden state</a:t>
                </a:r>
                <a:r>
                  <a:rPr/>
                  <a:t>.</a:t>
                </a:r>
                <a:br/>
              </a:p>
              <a:p>
                <a:pPr lvl="0"/>
                <a:r>
                  <a:rPr/>
                  <a:t>Gradients must flow through </a:t>
                </a:r>
                <a:r>
                  <a:rPr b="1"/>
                  <a:t>many time steps</a:t>
                </a:r>
                <a:r>
                  <a:rPr/>
                  <a:t>, causing vanishing/exploding gradients.</a:t>
                </a:r>
                <a:br/>
              </a:p>
              <a:p>
                <a:pPr lvl="0"/>
                <a:r>
                  <a:rPr/>
                  <a:t>Sequential processing prevents </a:t>
                </a:r>
                <a:r>
                  <a:rPr b="1"/>
                  <a:t>parallelization</a:t>
                </a:r>
                <a:r>
                  <a:rPr/>
                  <a:t>.</a:t>
                </a:r>
                <a:br/>
              </a:p>
              <a:p>
                <a:pPr lvl="0"/>
                <a:r>
                  <a:rPr/>
                  <a:t>Even LSTMs/GRUs struggle when dependencies span </a:t>
                </a:r>
                <a:r>
                  <a:rPr b="1"/>
                  <a:t>dozens or hundreds</a:t>
                </a:r>
                <a:r>
                  <a:rPr/>
                  <a:t> of tokens.</a:t>
                </a:r>
                <a:br/>
              </a:p>
              <a:p>
                <a:pPr lvl="0"/>
                <a:r>
                  <a:rPr/>
                  <a:t>Bottleneck: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t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All information must pass through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Need for Direct Access to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Many tasks require linking distant tokens:</a:t>
            </a:r>
          </a:p>
          <a:p>
            <a:pPr lvl="1"/>
            <a:r>
              <a:rPr/>
              <a:t>Coreference (“The book… </a:t>
            </a:r>
            <a:r>
              <a:rPr i="1"/>
              <a:t>it</a:t>
            </a:r>
            <a:r>
              <a:rPr/>
              <a:t>…”)</a:t>
            </a:r>
            <a:br/>
          </a:p>
          <a:p>
            <a:pPr lvl="1"/>
            <a:r>
              <a:rPr/>
              <a:t>Long sentences</a:t>
            </a:r>
            <a:br/>
          </a:p>
          <a:p>
            <a:pPr lvl="1"/>
            <a:r>
              <a:rPr/>
              <a:t>Document‑level reasoning</a:t>
            </a:r>
            <a:br/>
          </a:p>
          <a:p>
            <a:pPr lvl="0"/>
            <a:r>
              <a:rPr/>
              <a:t>RNNs force the model to “remember” everything.</a:t>
            </a:r>
            <a:br/>
          </a:p>
          <a:p>
            <a:pPr lvl="0"/>
            <a:r>
              <a:rPr/>
              <a:t>We want a mechanism where a token can </a:t>
            </a:r>
            <a:r>
              <a:rPr b="1"/>
              <a:t>look up</a:t>
            </a:r>
            <a:r>
              <a:rPr/>
              <a:t> relevant information directly.</a:t>
            </a:r>
            <a:br/>
          </a:p>
          <a:p>
            <a:pPr lvl="0"/>
            <a:r>
              <a:rPr/>
              <a:t>Key idea: </a:t>
            </a:r>
            <a:r>
              <a:rPr b="1"/>
              <a:t>don’t compress the past — attend to it.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Attention Mechanism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Each token produces:</a:t>
                </a:r>
              </a:p>
              <a:p>
                <a:pPr lvl="1"/>
                <a:r>
                  <a:rPr b="1"/>
                  <a:t>Query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br/>
              </a:p>
              <a:p>
                <a:pPr lvl="1"/>
                <a:r>
                  <a:rPr b="1"/>
                  <a:t>Key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br/>
              </a:p>
              <a:p>
                <a:pPr lvl="1"/>
                <a:r>
                  <a:rPr b="1"/>
                  <a:t>Value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br/>
              </a:p>
              <a:p>
                <a:pPr lvl="0"/>
                <a:r>
                  <a:rPr/>
                  <a:t>Attention score: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score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Q</m:t>
                                </m:r>
                                <m:sSup>
                                  <m:e>
                                    <m:r>
                                      <m:t>K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⊤</m:t>
                                    </m:r>
                                  </m:sup>
                                </m:sSup>
                              </m:num>
                              <m:den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sSub>
                                      <m:e>
                                        <m: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  <a:p>
                <a:pPr lvl="0"/>
                <a:br/>
              </a:p>
              <a:p>
                <a:pPr lvl="0"/>
                <a:r>
                  <a:rPr/>
                  <a:t>Softmax turns scores into weights.</a:t>
                </a:r>
                <a:br/>
              </a:p>
              <a:p>
                <a:pPr lvl="0"/>
                <a:r>
                  <a:rPr/>
                  <a:t>Output is a weighted sum of values: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Attention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V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softmax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Q</m:t>
                                    </m:r>
                                    <m:sSup>
                                      <m:e>
                                        <m:r>
                                          <m:t>K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m:t>⊤</m:t>
                                        </m:r>
                                      </m:sup>
                                    </m:sSup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</m:radPr>
                                      <m:deg/>
                                      <m:e>
                                        <m:sSub>
                                          <m:e>
                                            <m: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</m:e>
                            </m:d>
                            <m:r>
                              <m:t>V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br/>
              </a:p>
              <a:p>
                <a:pPr lvl="0"/>
                <a:r>
                  <a:rPr/>
                  <a:t>Tokens retrieve information from anywhere in the sequence.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Attention Solves Long‑Range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 recurrence → no vanishing gradients.</a:t>
            </a:r>
            <a:br/>
          </a:p>
          <a:p>
            <a:pPr lvl="0"/>
            <a:r>
              <a:rPr/>
              <a:t>Every token can attend to </a:t>
            </a:r>
            <a:r>
              <a:rPr b="1"/>
              <a:t>any other token</a:t>
            </a:r>
            <a:r>
              <a:rPr/>
              <a:t>.</a:t>
            </a:r>
            <a:br/>
          </a:p>
          <a:p>
            <a:pPr lvl="0"/>
            <a:r>
              <a:rPr/>
              <a:t>Parallelizable across sequence length.</a:t>
            </a:r>
            <a:br/>
          </a:p>
          <a:p>
            <a:pPr lvl="0"/>
            <a:r>
              <a:rPr/>
              <a:t>Learns dynamic context:</a:t>
            </a:r>
          </a:p>
          <a:p>
            <a:pPr lvl="1"/>
            <a:r>
              <a:rPr/>
              <a:t>Syntax</a:t>
            </a:r>
            <a:br/>
          </a:p>
          <a:p>
            <a:pPr lvl="1"/>
            <a:r>
              <a:rPr/>
              <a:t>Semantics</a:t>
            </a:r>
            <a:br/>
          </a:p>
          <a:p>
            <a:pPr lvl="1"/>
            <a:r>
              <a:rPr/>
              <a:t>Coreference</a:t>
            </a:r>
            <a:br/>
          </a:p>
          <a:p>
            <a:pPr lvl="1"/>
            <a:r>
              <a:rPr/>
              <a:t>Long‑range structure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Multi‑Head Self‑Attention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Instead of one attention pattern, use </a:t>
                </a:r>
                <a:r>
                  <a:rPr b="1"/>
                  <a:t>multiple heads</a:t>
                </a:r>
                <a:r>
                  <a:rPr/>
                  <a:t>.</a:t>
                </a:r>
                <a:br/>
              </a:p>
              <a:p>
                <a:pPr lvl="0"/>
                <a:r>
                  <a:rPr/>
                  <a:t>Each head learns a different projection of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,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  <m:r>
                      <m:t>V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0"/>
                <a:r>
                  <a:rPr/>
                  <a:t>Heads capture different relationships:</a:t>
                </a:r>
              </a:p>
              <a:p>
                <a:pPr lvl="1"/>
                <a:r>
                  <a:rPr/>
                  <a:t>Syntax</a:t>
                </a:r>
                <a:br/>
              </a:p>
              <a:p>
                <a:pPr lvl="1"/>
                <a:r>
                  <a:rPr/>
                  <a:t>Semantic similarity</a:t>
                </a:r>
                <a:br/>
              </a:p>
              <a:p>
                <a:pPr lvl="1"/>
                <a:r>
                  <a:rPr/>
                  <a:t>Positional patterns</a:t>
                </a:r>
                <a:br/>
              </a:p>
              <a:p>
                <a:pPr lvl="0"/>
                <a:r>
                  <a:rPr/>
                  <a:t>Outputs are concatenated and projected: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MHA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Concat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nor/>
                                        <m:sty m:val="p"/>
                                      </m:rPr>
                                      <m:t>head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m:t>…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rPr>
                                        <m:nor/>
                                        <m:sty m:val="p"/>
                                      </m:rPr>
                                      <m:t>head</m:t>
                                    </m:r>
                                  </m:e>
                                  <m:sub>
                                    <m: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  <m:sSup>
                              <m:e>
                                <m:r>
                                  <m:t>W</m:t>
                                </m:r>
                              </m:e>
                              <m:sup>
                                <m:r>
                                  <m:t>O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Visualizing Multi‑Head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Each head = a different “view” of the sequence.</a:t>
            </a:r>
            <a:br/>
          </a:p>
          <a:p>
            <a:pPr lvl="0"/>
            <a:r>
              <a:rPr/>
              <a:t>Some heads track subject–verb agreement.</a:t>
            </a:r>
            <a:br/>
          </a:p>
          <a:p>
            <a:pPr lvl="0"/>
            <a:r>
              <a:rPr/>
              <a:t>Some track coreference.</a:t>
            </a:r>
            <a:br/>
          </a:p>
          <a:p>
            <a:pPr lvl="0"/>
            <a:r>
              <a:rPr/>
              <a:t>Some track positional offsets.</a:t>
            </a:r>
            <a:br/>
          </a:p>
          <a:p>
            <a:pPr lvl="0"/>
            <a:r>
              <a:rPr/>
              <a:t>Combined → rich contextual representation.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Leading to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Attention removes RNN bottlenecks.</a:t>
            </a:r>
            <a:br/>
          </a:p>
          <a:p>
            <a:pPr lvl="0"/>
            <a:r>
              <a:rPr/>
              <a:t>Enables full parallelization.</a:t>
            </a:r>
            <a:br/>
          </a:p>
          <a:p>
            <a:pPr lvl="0"/>
            <a:r>
              <a:rPr/>
              <a:t>Scales to long sequences.</a:t>
            </a:r>
            <a:br/>
          </a:p>
          <a:p>
            <a:pPr lvl="0"/>
            <a:r>
              <a:rPr/>
              <a:t>Forms the core of:</a:t>
            </a:r>
          </a:p>
          <a:p>
            <a:pPr lvl="1"/>
            <a:r>
              <a:rPr/>
              <a:t>BERT</a:t>
            </a:r>
            <a:br/>
          </a:p>
          <a:p>
            <a:pPr lvl="1"/>
            <a:r>
              <a:rPr/>
              <a:t>GPT</a:t>
            </a:r>
            <a:br/>
          </a:p>
          <a:p>
            <a:pPr lvl="1"/>
            <a:r>
              <a:rPr/>
              <a:t>T5</a:t>
            </a:r>
            <a:br/>
          </a:p>
          <a:p>
            <a:pPr lvl="1"/>
            <a:r>
              <a:rPr/>
              <a:t>LLaMA</a:t>
            </a:r>
            <a:br/>
          </a:p>
          <a:p>
            <a:pPr lvl="1"/>
            <a:r>
              <a:rPr/>
              <a:t>All modern LLMs</a:t>
            </a:r>
            <a:br/>
          </a:p>
          <a:p>
            <a:pPr lvl="0"/>
            <a:r>
              <a:rPr/>
              <a:t>This is the key architectural leap from RNNs → Transformers.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Transformer Architectures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Encoder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Decoder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Encoder–decoder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Cross-attention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Pretraining Objectives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Masked language modeling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Causal language modeling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Modern Extensions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Vision transformers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Architectural innovations (MoE, RoPE, Flash Attention)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Multimodal LLMs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terms:created xsi:type="dcterms:W3CDTF">2026-03-23T21:16:30Z</dcterms:created>
  <dcterms:modified xsi:type="dcterms:W3CDTF">2026-03-23T21:16:30Z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March 23, 2026</vt:lpwstr>
  </property>
  <property fmtid="{D5CDD505-2E9C-101B-9397-08002B2CF9AE}" pid="13" name="editor">
    <vt:lpwstr/>
  </property>
  <property fmtid="{D5CDD505-2E9C-101B-9397-08002B2CF9AE}" pid="14" name="execute">
    <vt:lpwstr/>
  </property>
  <property fmtid="{D5CDD505-2E9C-101B-9397-08002B2CF9AE}" pid="15" name="header-includes">
    <vt:lpwstr/>
  </property>
  <property fmtid="{D5CDD505-2E9C-101B-9397-08002B2CF9AE}" pid="16" name="include-after">
    <vt:lpwstr/>
  </property>
  <property fmtid="{D5CDD505-2E9C-101B-9397-08002B2CF9AE}" pid="17" name="include-before">
    <vt:lpwstr/>
  </property>
  <property fmtid="{D5CDD505-2E9C-101B-9397-08002B2CF9AE}" pid="18" name="labels">
    <vt:lpwstr/>
  </property>
  <property fmtid="{D5CDD505-2E9C-101B-9397-08002B2CF9AE}" pid="19" name="logo">
    <vt:lpwstr>../theme/figures/met_signature_toptier_rgb.png</vt:lpwstr>
  </property>
  <property fmtid="{D5CDD505-2E9C-101B-9397-08002B2CF9AE}" pid="20" name="monofont">
    <vt:lpwstr>Roboto</vt:lpwstr>
  </property>
  <property fmtid="{D5CDD505-2E9C-101B-9397-08002B2CF9AE}" pid="21" name="resources">
    <vt:lpwstr/>
  </property>
  <property fmtid="{D5CDD505-2E9C-101B-9397-08002B2CF9AE}" pid="22" name="subtitle">
    <vt:lpwstr>From Words to Structured Text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