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gif" ContentType="image/gi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72" Type="http://schemas.openxmlformats.org/officeDocument/2006/relationships/tableStyles" Target="tableStyles.xml" /><Relationship Id="rId7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70" Type="http://schemas.openxmlformats.org/officeDocument/2006/relationships/viewProps" Target="viewProps.xml" /><Relationship Id="rId6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gif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gif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layground.tensorflow.org/#activation=tanh&amp;batchSize=10&amp;dataset=circle&amp;regDataset=reg-plane&amp;learningRate=0.03&amp;regularizationRate=0&amp;noise=0&amp;networkShape=4,2&amp;seed=0.00263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Mathematical Foundations Through Language Modeling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print Revealjs slides</a:t>
            </a:r>
          </a:p>
        </p:txBody>
      </p:sp>
      <p:pic>
        <p:nvPicPr>
          <p:cNvPr descr="../syllabus-images/Printing_Revealjs_Slid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2235200"/>
            <a:ext cx="61722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Language as a Probabilistic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Language as a Distribution Over Sequences</a:t>
                </a:r>
              </a:p>
              <a:p>
                <a:pPr lvl="0"/>
                <a:r>
                  <a:rPr/>
                  <a:t>Language is a distribution over sequences: every sentence has a probability, not just a grammatical form.</a:t>
                </a:r>
                <a:br/>
              </a:p>
              <a:p>
                <a:pPr lvl="0"/>
                <a:r>
                  <a:rPr/>
                  <a:t>Models assign likelihoods to sequences of tokens, capturing patterns in how words co‑occur.</a:t>
                </a:r>
                <a:br/>
              </a:p>
              <a:p>
                <a:pPr lvl="0"/>
                <a:r>
                  <a:rPr/>
                  <a:t>Generation = sampling from this learned distribution, producing fluent text by choosing probable next tokens.</a:t>
                </a:r>
                <a:br/>
              </a:p>
              <a:p>
                <a:pPr lvl="0"/>
                <a:r>
                  <a:rPr/>
                  <a:t>Context shapes probabilities: each new token is conditioned on all previous tokens (and optional prompts or constraints).</a:t>
                </a:r>
                <a:br/>
              </a:p>
              <a:p>
                <a:pPr lvl="0"/>
                <a:r>
                  <a:rPr/>
                  <a:t>Training data defines the distribution, enabling models to approximate how real language is used.</a:t>
                </a:r>
                <a:br/>
              </a:p>
              <a:p>
                <a:pPr lvl="0"/>
                <a:r>
                  <a:rPr/>
                  <a:t>This probabilistic framing unifies tasks like prediction, generation, scoring, and continuation under one principle.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From Classification to Generation</a:t>
                </a:r>
              </a:p>
              <a:p>
                <a:pPr lvl="0"/>
                <a:r>
                  <a:rPr/>
                  <a:t>In probabilistic classification, we compute: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y</m:t>
                    </m:r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b"/>
                      </m:rP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In language modeling, we invert the problem: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b"/>
                      </m:rPr>
                      <m:t>w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1"/>
                <a:r>
                  <a:rPr/>
                  <a:t>We model the probability of entire sequences of tokens: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w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1"/>
                <a:r>
                  <a:rPr/>
                  <a:t>This is a distribution over sequences, not just classes.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nor/>
                        <m:sty m:val="p"/>
                      </m:rPr>
                      <m:t>aardvark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nor/>
                        <m:sty m:val="p"/>
                      </m:rPr>
                      <m:t>abacus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nor/>
                        <m:sty m:val="p"/>
                      </m:rPr>
                      <m:t>zither</m:t>
                    </m:r>
                  </m:oMath>
                </a14:m>
              </a:p>
              <a:p>
                <a:pPr lvl="0"/>
                <a:r>
                  <a:rPr/>
                  <a:t>The vocabulary is finite, typically between 30,000 and 100,000 tokens</a:t>
                </a:r>
              </a:p>
              <a:p>
                <a:pPr lvl="1"/>
                <a:r>
                  <a:rPr/>
                  <a:t>Tokens are not exactly equal to words. While a token can sometimes be a whole word, they are smaller units of text used by AI (like sub-words, single characters, or punctuation). A general rule of thumb is that 1 token equals roughly of a word, or 100 tokens 75 English words.</a:t>
                </a:r>
              </a:p>
              <a:p>
                <a:pPr lvl="0"/>
                <a:r>
                  <a:rPr/>
                  <a:t>The objective of a language model is to assign probability to </a:t>
                </a:r>
                <a:r>
                  <a:rPr i="1"/>
                  <a:t>entire sequences</a:t>
                </a:r>
                <a:r>
                  <a:rPr/>
                  <a:t>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Are Tokens?</a:t>
                </a:r>
              </a:p>
              <a:p>
                <a:pPr lvl="0"/>
                <a:r>
                  <a:rPr/>
                  <a:t>Tokens are the units of text that models read and generate — they may be full words, sub‑words, characters, spaces, or punctuation.</a:t>
                </a:r>
                <a:br/>
              </a:p>
              <a:p>
                <a:pPr lvl="0"/>
                <a:r>
                  <a:rPr/>
                  <a:t>Tokenization splits text into these units before the model processes anything.</a:t>
                </a:r>
                <a:br/>
              </a:p>
              <a:p>
                <a:pPr lvl="0"/>
                <a:r>
                  <a:rPr/>
                  <a:t>Helpful English rules of thumb:</a:t>
                </a:r>
              </a:p>
              <a:p>
                <a:pPr lvl="1"/>
                <a:r>
                  <a:rPr/>
                  <a:t>1 token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</m:oMath>
                </a14:m>
                <a:r>
                  <a:rPr/>
                  <a:t> 4 characters</a:t>
                </a:r>
                <a:br/>
              </a:p>
              <a:p>
                <a:pPr lvl="1"/>
                <a:r>
                  <a:rPr/>
                  <a:t>1 token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f>
                      <m:fPr>
                        <m:type m:val="bar"/>
                      </m:fPr>
                      <m:num>
                        <m:r>
                          <m:t>3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  <a:r>
                  <a:rPr/>
                  <a:t> of a word</a:t>
                </a:r>
                <a:br/>
              </a:p>
              <a:p>
                <a:pPr lvl="1"/>
                <a:r>
                  <a:rPr/>
                  <a:t>1–2 sentences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</m:oMath>
                </a14:m>
                <a:r>
                  <a:rPr/>
                  <a:t> 30 tokens</a:t>
                </a:r>
                <a:br/>
              </a:p>
              <a:p>
                <a:pPr lvl="1"/>
                <a:r>
                  <a:rPr/>
                  <a:t>1 paragraph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</m:oMath>
                </a14:m>
                <a:r>
                  <a:rPr/>
                  <a:t> 100 tokens</a:t>
                </a:r>
                <a:br/>
              </a:p>
              <a:p>
                <a:pPr lvl="0"/>
                <a:r>
                  <a:rPr/>
                  <a:t>Different languages tokenize differently: e.g., “Cómo estás” → 5 tokens for 10 characters.</a:t>
                </a:r>
                <a:br/>
              </a:p>
              <a:p>
                <a:pPr lvl="0"/>
                <a:r>
                  <a:rPr/>
                  <a:t>Real examples:</a:t>
                </a:r>
              </a:p>
              <a:p>
                <a:pPr lvl="1"/>
                <a:r>
                  <a:rPr/>
                  <a:t>“You miss 100% of the shots you don’t take” → 11 tokens</a:t>
                </a:r>
                <a:br/>
              </a:p>
              <a:p>
                <a:pPr lvl="1"/>
                <a:r>
                  <a:rPr/>
                  <a:t>U.S. Declaration of Independence → 1,695 tokens</a:t>
                </a:r>
                <a:br/>
              </a:p>
              <a:p>
                <a:pPr lvl="0"/>
                <a:r>
                  <a:rPr/>
                  <a:t>Token counts matter for costs, limits, and model behavior.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Tokenization Works</a:t>
            </a:r>
          </a:p>
          <a:p>
            <a:pPr lvl="0"/>
            <a:r>
              <a:rPr/>
              <a:t>When you send text to the API:</a:t>
            </a:r>
          </a:p>
          <a:p>
            <a:pPr lvl="1"/>
            <a:r>
              <a:rPr/>
              <a:t>Text → split into tokens</a:t>
            </a:r>
            <a:br/>
          </a:p>
          <a:p>
            <a:pPr lvl="1"/>
            <a:r>
              <a:rPr/>
              <a:t>Model processes tokens</a:t>
            </a:r>
            <a:br/>
          </a:p>
          <a:p>
            <a:pPr lvl="1"/>
            <a:r>
              <a:rPr/>
              <a:t>Model generates new tokens</a:t>
            </a:r>
            <a:br/>
          </a:p>
          <a:p>
            <a:pPr lvl="1"/>
            <a:r>
              <a:rPr/>
              <a:t>Tokens → converted back to text</a:t>
            </a:r>
            <a:br/>
          </a:p>
          <a:p>
            <a:pPr lvl="0"/>
            <a:r>
              <a:rPr/>
              <a:t>Token usage categories:</a:t>
            </a:r>
          </a:p>
          <a:p>
            <a:pPr lvl="1"/>
            <a:r>
              <a:rPr/>
              <a:t>Input tokens (your prompt)</a:t>
            </a:r>
            <a:br/>
          </a:p>
          <a:p>
            <a:pPr lvl="1"/>
            <a:r>
              <a:rPr/>
              <a:t>Output tokens (model’s response)</a:t>
            </a:r>
            <a:br/>
          </a:p>
          <a:p>
            <a:pPr lvl="1"/>
            <a:r>
              <a:rPr/>
              <a:t>Cached tokens (reused history)</a:t>
            </a:r>
            <a:br/>
          </a:p>
          <a:p>
            <a:pPr lvl="1"/>
            <a:r>
              <a:rPr/>
              <a:t>Reasoning tokens (internal steps in some models)</a:t>
            </a:r>
            <a:br/>
          </a:p>
          <a:p>
            <a:pPr lvl="0"/>
            <a:r>
              <a:rPr/>
              <a:t>Context matters: the </a:t>
            </a:r>
            <a:r>
              <a:rPr i="1"/>
              <a:t>same word</a:t>
            </a:r>
            <a:r>
              <a:rPr/>
              <a:t> can map to </a:t>
            </a:r>
            <a:r>
              <a:rPr i="1"/>
              <a:t>different tokens</a:t>
            </a:r>
            <a:r>
              <a:rPr/>
              <a:t> depending on spacing, capitalization, and position.</a:t>
            </a:r>
          </a:p>
          <a:p>
            <a:pPr lvl="1"/>
            <a:r>
              <a:rPr/>
              <a:t>” red” (leading space, lowercase) → token like 2266</a:t>
            </a:r>
            <a:br/>
          </a:p>
          <a:p>
            <a:pPr lvl="1"/>
            <a:r>
              <a:rPr/>
              <a:t>” Red” (leading space, uppercase) → token like 2297</a:t>
            </a:r>
            <a:br/>
          </a:p>
          <a:p>
            <a:pPr lvl="1"/>
            <a:r>
              <a:rPr/>
              <a:t>“Red” (start of sentence, no space) → token like 7738</a:t>
            </a:r>
            <a:br/>
          </a:p>
          <a:p>
            <a:pPr lvl="0"/>
            <a:r>
              <a:rPr b="1"/>
              <a:t>Frequent tokens get lower IDs</a:t>
            </a:r>
            <a:r>
              <a:rPr/>
              <a:t>, rare ones get higher IDs.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Model Sequence Probability?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Sequence probability is foundational for:</a:t>
            </a:r>
          </a:p>
          <a:p>
            <a:pPr lvl="0"/>
            <a:r>
              <a:rPr/>
              <a:t>Machine Translation</a:t>
            </a:r>
          </a:p>
          <a:p>
            <a:pPr lvl="0"/>
            <a:r>
              <a:rPr/>
              <a:t>Speech Recognition</a:t>
            </a:r>
          </a:p>
          <a:p>
            <a:pPr lvl="0"/>
            <a:r>
              <a:rPr/>
              <a:t>Summarization</a:t>
            </a:r>
          </a:p>
          <a:p>
            <a:pPr lvl="0"/>
            <a:r>
              <a:rPr/>
              <a:t>Dialogue Systems</a:t>
            </a:r>
          </a:p>
          <a:p>
            <a:pPr lvl="0"/>
            <a:r>
              <a:rPr/>
              <a:t>Text Generation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Spanish sentence: </a:t>
            </a:r>
            <a:r>
              <a:rPr i="1"/>
              <a:t>El cafe negro me gusta mucho</a:t>
            </a:r>
          </a:p>
          <a:p>
            <a:pPr lvl="0"/>
            <a:r>
              <a:rPr/>
              <a:t>Literal translation: </a:t>
            </a:r>
            <a:r>
              <a:rPr i="1"/>
              <a:t>The coffee black me pleases much</a:t>
            </a:r>
          </a:p>
          <a:p>
            <a:pPr lvl="0"/>
            <a:r>
              <a:rPr/>
              <a:t>The language model encodes fluency as probability.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good English language model assigns: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The coffee black me pleases much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rPr>
                        <m:scr m:val="double-struck"/>
                        <m:sty m:val="p"/>
                      </m:rP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nor/>
                        <m:sty m:val="p"/>
                      </m:rPr>
                      <m:t>I love dark coffee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Language as a Probability Distribution</a:t>
                </a:r>
              </a:p>
              <a:p>
                <a:pPr lvl="0"/>
                <a:r>
                  <a:rPr/>
                  <a:t>Generative AI reframes this formally:</a:t>
                </a:r>
              </a:p>
              <a:p>
                <a:pPr lvl="0"/>
                <a:r>
                  <a:rPr/>
                  <a:t>Generation = sampling from a probability distribution -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z</m:t>
                    </m:r>
                    <m:r>
                      <m:rPr>
                        <m:sty m:val="p"/>
                      </m:rPr>
                      <m:t>∼</m:t>
                    </m:r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m:t>P</m:t>
                        </m:r>
                      </m:e>
                      <m:sub>
                        <m:r>
                          <m:t>d</m:t>
                        </m:r>
                        <m:r>
                          <m:t>a</m:t>
                        </m:r>
                        <m:r>
                          <m:t>t</m:t>
                        </m:r>
                        <m:r>
                          <m:t>a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For text: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z</m:t>
                    </m:r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m:t>N</m:t>
                        </m:r>
                      </m:e>
                      <m:sup>
                        <m:r>
                          <m:t>d</m:t>
                        </m:r>
                      </m:sup>
                    </m:sSup>
                  </m:oMath>
                </a14:m>
              </a:p>
              <a:p>
                <a:pPr lvl="0"/>
                <a:r>
                  <a:rPr/>
                  <a:t>Each element is a token index. So, language modeling means: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w</m:t>
                    </m:r>
                    <m:r>
                      <m:rPr>
                        <m:sty m:val="p"/>
                      </m:rPr>
                      <m:t>∼</m:t>
                    </m:r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m:t>P</m:t>
                        </m:r>
                      </m:e>
                      <m:sub>
                        <m:r>
                          <m:t>d</m:t>
                        </m:r>
                        <m:r>
                          <m:t>a</m:t>
                        </m:r>
                        <m:r>
                          <m:t>t</m:t>
                        </m:r>
                        <m:r>
                          <m:t>a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But we do not know (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m:t>P</m:t>
                        </m:r>
                      </m:e>
                      <m:sub>
                        <m:r>
                          <m:t>d</m:t>
                        </m:r>
                        <m:r>
                          <m:t>a</m:t>
                        </m:r>
                        <m:r>
                          <m:t>t</m:t>
                        </m:r>
                        <m:r>
                          <m:t>a</m:t>
                        </m:r>
                      </m:sub>
                    </m:sSub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/>
                  <a:t>So, we learn an approximation: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rPr>
                                    <m:scr m:val="double-struck"/>
                                    <m:sty m:val="p"/>
                                  </m:rPr>
                                  <m:t>P</m:t>
                                </m:r>
                              </m:e>
                              <m:sub>
                                <m:r>
                                  <m:t>m</m:t>
                                </m:r>
                                <m:r>
                                  <m:t>o</m:t>
                                </m:r>
                                <m:r>
                                  <m:t>d</m:t>
                                </m:r>
                                <m:r>
                                  <m:t>e</m:t>
                                </m:r>
                                <m:r>
                                  <m:t>l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rPr>
                                <m:sty m:val="b"/>
                              </m:rPr>
                              <m:t>w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≈</m:t>
                            </m:r>
                            <m:sSub>
                              <m:e>
                                <m:r>
                                  <m:rPr>
                                    <m:scr m:val="double-struck"/>
                                    <m:sty m:val="p"/>
                                  </m:rPr>
                                  <m:t>P</m:t>
                                </m:r>
                              </m:e>
                              <m:sub>
                                <m:r>
                                  <m:t>d</m:t>
                                </m:r>
                                <m:r>
                                  <m:t>a</m:t>
                                </m:r>
                                <m:r>
                                  <m:t>t</m:t>
                                </m:r>
                                <m:r>
                                  <m:t>a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rPr>
                                <m:sty m:val="b"/>
                              </m:rPr>
                              <m:t>w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Chain Rule of Probability</a:t>
                </a:r>
              </a:p>
              <a:p>
                <a:pPr lvl="0"/>
                <a:r>
                  <a:rPr/>
                  <a:t>Directly modeling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is intractable.</a:t>
                </a:r>
              </a:p>
              <a:p>
                <a:pPr lvl="0"/>
                <a:r>
                  <a:rPr/>
                  <a:t>We apply the chain rule: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M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  <m:mr>
                          <m:e>
                            <m:nary>
                              <m:naryPr>
                                <m:chr m:val="∏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M</m:t>
                                </m:r>
                              </m:sup>
                              <m:e>
                                <m:r>
                                  <m:t>p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∣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This is Autoregressive factorization.</a:t>
                </a:r>
              </a:p>
              <a:p>
                <a:pPr lvl="0"/>
                <a:r>
                  <a:rPr/>
                  <a:t>Each token depends on all previous tokens.</a:t>
                </a:r>
              </a:p>
              <a:p>
                <a:pPr lvl="0"/>
                <a:r>
                  <a:rPr/>
                  <a:t>This is the building block of decoder-only transformers.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Autoregressive Generation</a:t>
                </a:r>
              </a:p>
              <a:p>
                <a:pPr lvl="0"/>
                <a:r>
                  <a:rPr/>
                  <a:t>Generation is iterative so,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∼</m:t>
                    </m:r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∣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m:t>&lt;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We sample one token at a time, with each new token conditioned on the entire history, like,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z</m:t>
                    </m:r>
                    <m:r>
                      <m:rPr>
                        <m:sty m:val="p"/>
                      </m:rPr>
                      <m:t>∼</m:t>
                    </m:r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m:t>P</m:t>
                        </m:r>
                      </m:e>
                      <m:sub>
                        <m:r>
                          <m:t>d</m:t>
                        </m:r>
                        <m:r>
                          <m:t>a</m:t>
                        </m:r>
                        <m:r>
                          <m:t>t</m:t>
                        </m:r>
                        <m: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⋅</m:t>
                    </m:r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b"/>
                      </m:rPr>
                      <m:t>y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where (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y</m:t>
                    </m:r>
                  </m:oMath>
                </a14:m>
                <a:r>
                  <a:rPr/>
                  <a:t>) is the prompt (conditioning context).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Noisy Channel Model</a:t>
                </a:r>
              </a:p>
              <a:p>
                <a:pPr lvl="0"/>
                <a:r>
                  <a:rPr/>
                  <a:t>Remember, English sentence (</a:t>
                </a:r>
                <a14:m>
                  <m:oMath xmlns:m="http://schemas.openxmlformats.org/officeDocument/2006/math"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e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</m:oMath>
                </a14:m>
                <a:r>
                  <a:rPr/>
                  <a:t>) and Spanish sentence (</a:t>
                </a:r>
                <a14:m>
                  <m:oMath xmlns:m="http://schemas.openxmlformats.org/officeDocument/2006/math"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s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</m:oMath>
                </a14:m>
                <a:r>
                  <a:rPr/>
                  <a:t>)</a:t>
                </a:r>
              </a:p>
              <a:p>
                <a:pPr lvl="0"/>
                <a:r>
                  <a:rPr/>
                  <a:t>We want to model translation: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e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m:t>∣</m:t>
                    </m:r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s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Let’s use Bayes’ rule: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p>
                              <m:e>
                                <m: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∣</m:t>
                            </m:r>
                            <m:sSup>
                              <m:e>
                                <m: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  <m:m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sSup>
                                  <m:e>
                                    <m:r>
                                      <m:t>w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(</m:t>
                                    </m:r>
                                    <m: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)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∣</m:t>
                                </m:r>
                                <m:sSup>
                                  <m:e>
                                    <m:r>
                                      <m:t>w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(</m:t>
                                    </m:r>
                                    <m:r>
                                      <m:t>e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)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sSup>
                                  <m:e>
                                    <m:r>
                                      <m:t>w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(</m:t>
                                    </m:r>
                                    <m:r>
                                      <m:t>e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)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num>
                              <m:den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sSup>
                                  <m:e>
                                    <m:r>
                                      <m:t>w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m:t>(</m:t>
                                    </m:r>
                                    <m:r>
                                      <m:t>s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)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If we ignore the denominator (since it does not depend on </a:t>
                </a:r>
                <a14:m>
                  <m:oMath xmlns:m="http://schemas.openxmlformats.org/officeDocument/2006/math"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e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</m:oMath>
                </a14:m>
                <a:r>
                  <a:rPr/>
                  <a:t>):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p>
                              <m:e>
                                <m: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∣</m:t>
                            </m:r>
                            <m:sSup>
                              <m:e>
                                <m: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∝</m:t>
                            </m:r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p>
                              <m:e>
                                <m: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∣</m:t>
                            </m:r>
                            <m:sSup>
                              <m:e>
                                <m: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p>
                              <m:e>
                                <m: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e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Implications</a:t>
                </a:r>
              </a:p>
              <a:p>
                <a:pPr lvl="0"/>
                <a:r>
                  <a:rPr/>
                  <a:t>This is the Noisy Channel Model for translation.</a:t>
                </a:r>
              </a:p>
              <a:p>
                <a:pPr lvl="1"/>
                <a:r>
                  <a:rPr/>
                  <a:t>(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e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 = language model</a:t>
                </a:r>
              </a:p>
              <a:p>
                <a:pPr lvl="1"/>
                <a:r>
                  <a:rPr/>
                  <a:t>(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s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m:t>∣</m:t>
                    </m:r>
                    <m:sSup>
                      <m:e>
                        <m: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e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 = translation model</a:t>
                </a:r>
              </a:p>
              <a:p>
                <a:pPr lvl="0"/>
                <a:r>
                  <a:rPr/>
                  <a:t>This decomposition allows:</a:t>
                </a:r>
              </a:p>
              <a:p>
                <a:pPr lvl="1"/>
                <a:r>
                  <a:rPr/>
                  <a:t>Translation model trained on bilingual data</a:t>
                </a:r>
              </a:p>
              <a:p>
                <a:pPr lvl="1"/>
                <a:r>
                  <a:rPr/>
                  <a:t>Language model trained on monolingual data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Estimation &amp; 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Likelihood and Log-Likelihood</a:t>
                </a:r>
              </a:p>
              <a:p>
                <a:pPr lvl="0"/>
                <a:r>
                  <a:rPr/>
                  <a:t>Given a training corpus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cr m:val="script"/>
                                <m:sty m:val="p"/>
                              </m:rPr>
                              <m:t>D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We want to find parameters (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) that maximize the likelihood of the data, given by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p>
                              <m:e>
                                <m:r>
                                  <m:t>θ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arg</m:t>
                            </m:r>
                            <m:limLow>
                              <m:e>
                                <m:r>
                                  <m:rPr>
                                    <m:sty m:val="p"/>
                                  </m:rPr>
                                  <m:t>max</m:t>
                                </m:r>
                              </m:e>
                              <m:lim>
                                <m:r>
                                  <m:t>θ</m:t>
                                </m:r>
                              </m:lim>
                            </m:limLow>
                            <m:nary>
                              <m:naryPr>
                                <m:chr m:val="∏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m:t>p</m:t>
                                    </m:r>
                                  </m:e>
                                  <m:sub>
                                    <m:r>
                                      <m:t>θ</m:t>
                                    </m:r>
                                  </m:sub>
                                </m:sSub>
                              </m:e>
                            </m:nary>
                            <m:r>
                              <m:rPr>
                                <m:sty m:val="p"/>
                              </m:rPr>
                              <m:t>(</m:t>
                            </m:r>
                            <m:sSup>
                              <m:e>
                                <m:r>
                                  <m:rPr>
                                    <m:sty m:val="b"/>
                                  </m:rPr>
                                  <m:t>w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We can apply the chain rule to factor each sequence probability into token-level probabilities,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m:t>arg</m:t>
                            </m:r>
                            <m:limLow>
                              <m:e>
                                <m:r>
                                  <m:rPr>
                                    <m:sty m:val="p"/>
                                  </m:rPr>
                                  <m:t>max</m:t>
                                </m:r>
                              </m:e>
                              <m:lim>
                                <m:r>
                                  <m:t>θ</m:t>
                                </m:r>
                              </m:lim>
                            </m:limLow>
                            <m:nary>
                              <m:naryPr>
                                <m:chr m:val="∏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nary>
                                  <m:naryPr>
                                    <m:chr m:val="∏"/>
                                    <m:limLoc m:val="undOvr"/>
                                    <m:subHide m:val="off"/>
                                    <m:supHide m:val="off"/>
                                  </m:naryPr>
                                  <m:sub>
                                    <m: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=</m:t>
                                    </m:r>
                                    <m:r>
                                      <m:t>1</m:t>
                                    </m:r>
                                  </m:sub>
                                  <m:sup>
                                    <m:sSub>
                                      <m:e>
                                        <m: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sup>
                                  <m:e>
                                    <m:sSub>
                                      <m:e>
                                        <m:r>
                                          <m:t>p</m:t>
                                        </m:r>
                                      </m:e>
                                      <m:sub>
                                        <m:r>
                                          <m:t>θ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  <m:r>
                              <m:rPr>
                                <m:sty m:val="p"/>
                              </m:rPr>
                              <m:t>(</m:t>
                            </m:r>
                            <m:sSubSup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∣</m:t>
                            </m:r>
                            <m:sSubSup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m:t>&lt;</m:t>
                                </m:r>
                                <m:r>
                                  <m:t>t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The Log-Likelihood, then is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cr m:val="script"/>
                                <m:sty m:val="p"/>
                              </m:rPr>
                              <m:t>L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θ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ff"/>
                                  </m:naryPr>
                                  <m:sub>
                                    <m:r>
                                      <m:t>t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=</m:t>
                                    </m:r>
                                    <m:r>
                                      <m:t>1</m:t>
                                    </m:r>
                                  </m:sub>
                                  <m:sup>
                                    <m:sSub>
                                      <m:e>
                                        <m:r>
                                          <m:t>M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sup>
                                  <m:e>
                                    <m:r>
                                      <m:rPr>
                                        <m:sty m:val="p"/>
                                      </m:rPr>
                                      <m:t>log</m:t>
                                    </m:r>
                                  </m:e>
                                </m:nary>
                              </m:e>
                            </m:nary>
                            <m:sSub>
                              <m:e>
                                <m:r>
                                  <m:t>p</m:t>
                                </m:r>
                              </m:e>
                              <m:sub>
                                <m:r>
                                  <m:t>θ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(</m:t>
                            </m:r>
                            <m:sSubSup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∣</m:t>
                            </m:r>
                            <m:sSubSup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m:t>&lt;</m:t>
                                </m:r>
                                <m:r>
                                  <m:t>t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Log Likelihood (Cross Entropy) Loss</a:t>
                </a:r>
              </a:p>
              <a:p>
                <a:pPr lvl="0"/>
                <a:r>
                  <a:rPr/>
                  <a:t>Training maximizes log-likelihood or equivalently minimizes negative log-likelihood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cr m:val="script"/>
                                <m:sty m:val="p"/>
                              </m:rPr>
                              <m:t>L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t>θ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We know this as the cross-entropy loss in machine learning, which measures the distance between the true data distribution and the model’s predicted distribution.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Perplexity</a:t>
                </a:r>
              </a:p>
              <a:p>
                <a:pPr lvl="0"/>
                <a:r>
                  <a:rPr/>
                  <a:t>Like, Entropy and Cross-Entropy, Perplexity is also an important evaluator for Large Language models</a:t>
                </a:r>
              </a:p>
              <a:p>
                <a:pPr lvl="0"/>
                <a:r>
                  <a:rPr/>
                  <a:t>It is the exponentiated negative average log-likelihood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rPr>
                              <m:nor/>
                              <m:sty m:val="p"/>
                            </m:rPr>
                            <m:t>PPL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exp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r>
                                    <m:t>T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ff"/>
                                </m:naryPr>
                                <m:sub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T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log</m:t>
                                  </m:r>
                                </m:e>
                              </m:nary>
                              <m: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∣</m:t>
                              </m:r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m:t>&lt;</m:t>
                                  </m:r>
                                  <m: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</m:d>
                        </m:e>
                      </m:eqArr>
                    </m:oMath>
                  </m:oMathPara>
                </a14:m>
              </a:p>
              <a:p>
                <a:pPr lvl="0"/>
                <a:r>
                  <a:rPr/>
                  <a:t>Entropy: Measures the average uncertainty in a single probability distribution P</a:t>
                </a:r>
              </a:p>
              <a:p>
                <a:pPr lvl="0"/>
                <a:r>
                  <a:rPr/>
                  <a:t>Cross-entropy: Measures how well a predicted distribution Q approximates the true distribution P</a:t>
                </a:r>
              </a:p>
              <a:p>
                <a:pPr lvl="0"/>
                <a:r>
                  <a:rPr/>
                  <a:t>Perplexity: Exponentiation of cross-entropy; Measures how many likely candidate tokens the model is choosing between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Conditional vs Unconditional Generation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Unconditional</a:t>
            </a:r>
          </a:p>
          <a:p>
            <a:pPr lvl="0"/>
            <a:r>
              <a:rPr/>
              <a:t>Conditional</a:t>
            </a:r>
          </a:p>
          <a:p>
            <a:pPr lvl="0"/>
            <a:r>
              <a:rPr/>
              <a:t>Bayes relationship</a:t>
            </a:r>
          </a:p>
          <a:p>
            <a:pPr lvl="0"/>
            <a:r>
              <a:rPr/>
              <a:t>Modern LLMs implement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502399-0D40-0F1A-A770-6D3B06F65372}"/>
                  </a:ext>
                </a:extLst>
              </p:cNvPr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rPr>
                              <m:sty m:val="b"/>
                            </m:rPr>
                            <m:t>z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∼</m:t>
                          </m:r>
                          <m:sSub>
                            <m:e>
                              <m:r>
                                <m:rPr>
                                  <m:scr m:val="double-struck"/>
                                  <m:sty m:val="p"/>
                                </m:rPr>
                                <m:t>P</m:t>
                              </m:r>
                            </m:e>
                            <m:sub>
                              <m:r>
                                <m:t>d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</m:sub>
                          </m:sSub>
                        </m:e>
                        <m:e>
                          <m:r>
                            <m:rPr>
                              <m:sty m:val="b"/>
                            </m:rPr>
                            <m:t>z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∼</m:t>
                          </m:r>
                          <m:sSub>
                            <m:e>
                              <m:r>
                                <m:rPr>
                                  <m:scr m:val="double-struck"/>
                                  <m:sty m:val="p"/>
                                </m:rPr>
                                <m:t>P</m:t>
                              </m:r>
                            </m:e>
                            <m:sub>
                              <m:r>
                                <m:t>d</m:t>
                              </m:r>
                              <m:r>
                                <m:t>a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rPr>
                              <m:sty m:val="b"/>
                            </m:rPr>
                            <m:t>y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rPr>
                              <m:scr m:val="double-struck"/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sty m:val="b"/>
                            </m:rPr>
                            <m:t>z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∫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sty m:val="b"/>
                            </m:rPr>
                            <m:t>z</m:t>
                          </m:r>
                          <m:r>
                            <m:rPr>
                              <m:sty m:val="p"/>
                            </m:rPr>
                            <m:t>∣</m:t>
                          </m:r>
                          <m:r>
                            <m:rPr>
                              <m:sty m:val="b"/>
                            </m:rPr>
                            <m:t>y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sty m:val="b"/>
                            </m:rPr>
                            <m:t>y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  <m:r>
                            <m:rPr>
                              <m:sty m:val="b"/>
                            </m:rPr>
                            <m:t>y</m:t>
                          </m:r>
                        </m:e>
                        <m:e>
                          <m:r>
                            <m:t>&amp;</m:t>
                          </m:r>
                          <m:r>
                            <m:rPr>
                              <m:scr m:val="double-struck"/>
                              <m:sty m:val="p"/>
                            </m:rPr>
                            <m:t>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∣</m:t>
                          </m:r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&lt;</m:t>
                              </m:r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rPr>
                              <m:nor/>
                              <m:sty m:val="p"/>
                            </m:rPr>
                            <m:t>prompt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Approximation and Generalization</a:t>
                </a:r>
              </a:p>
              <a:p>
                <a:pPr lvl="0"/>
                <a:r>
                  <a:rPr/>
                  <a:t>We will never know the true data distribution,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m:t>P</m:t>
                        </m:r>
                      </m:e>
                      <m:sub>
                        <m:r>
                          <m:t>d</m:t>
                        </m:r>
                        <m:r>
                          <m:t>a</m:t>
                        </m:r>
                        <m:r>
                          <m:t>t</m:t>
                        </m:r>
                        <m:r>
                          <m:t>a</m:t>
                        </m:r>
                      </m:sub>
                    </m:sSub>
                  </m:oMath>
                </a14:m>
                <a:r>
                  <a:rPr/>
                  <a:t>, (Recall Data Generation Process), so we learn an approximation:</a:t>
                </a:r>
              </a:p>
              <a:p>
                <a:pPr lvl="0"/>
                <a:r>
                  <a:rPr/>
                  <a:t>We always estimate a model distribution,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m:t>P</m:t>
                        </m:r>
                      </m:e>
                      <m:sub>
                        <m:r>
                          <m:t>m</m:t>
                        </m:r>
                        <m:r>
                          <m:t>o</m:t>
                        </m:r>
                        <m:r>
                          <m:t>d</m:t>
                        </m:r>
                        <m:r>
                          <m:t>e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, that approximates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cr m:val="double-struck"/>
                            <m:sty m:val="p"/>
                          </m:rPr>
                          <m:t>P</m:t>
                        </m:r>
                      </m:e>
                      <m:sub>
                        <m:r>
                          <m:t>d</m:t>
                        </m:r>
                        <m:r>
                          <m:t>a</m:t>
                        </m:r>
                        <m:r>
                          <m:t>t</m:t>
                        </m:r>
                        <m:r>
                          <m:t>a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/>
                <a:r>
                  <a:rPr/>
                  <a:t>The quality of this estimate depends on:</a:t>
                </a:r>
              </a:p>
              <a:p>
                <a:pPr lvl="1"/>
                <a:r>
                  <a:rPr/>
                  <a:t>Data coverage</a:t>
                </a:r>
              </a:p>
              <a:p>
                <a:pPr lvl="1"/>
                <a:r>
                  <a:rPr/>
                  <a:t>Model capacity</a:t>
                </a:r>
              </a:p>
              <a:p>
                <a:pPr lvl="1"/>
                <a:r>
                  <a:rPr/>
                  <a:t>Objective function</a:t>
                </a:r>
              </a:p>
              <a:p>
                <a:pPr lvl="1"/>
                <a:r>
                  <a:rPr/>
                  <a:t>Optimization success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Algebra of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Vectors as semantic representation</a:t>
            </a:r>
          </a:p>
          <a:p>
            <a:pPr lvl="0"/>
            <a:r>
              <a:rPr/>
              <a:t>Most common NLP solution</a:t>
            </a:r>
          </a:p>
          <a:p>
            <a:pPr lvl="1"/>
            <a:r>
              <a:rPr/>
              <a:t>Use, e.g., WordNet, a thesaurus containing lists of synonym sets and hypernyms (“is a” relationships)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Roboto"/>
              </a:rPr>
              <a:t>noun: good
noun: good, goodness
noun: good, goodness
noun: commodity, trade_good, good
adj: good
adj (s): full, good
adj: good
adj (s): estimable, good, honorable, respectable
adj (s): beneficial, good
adj (s): good
adj (s): good, just, upright
adj (s): adept, expert, good, practiced, proficient, skillful, skilful
adj (s): good
adj (s): dear, good, near
adj (s): dependable, good, safe, secure
adj (s): good, right, ripe
adj (s): good, well
adj (s): effective, good, in_effect, in_force
adj (s): good
adj (s): good, serious
adj (s): good, sound
adj (s): good, salutary
adj (s): good, honest
adj (s): good, undecomposed, unspoiled, unspoilt
adj (s): good
adv: well, good
adv: thoroughly, soundly, good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Roboto"/>
              </a:rPr>
              <a:t>[Synset('procyonid.n.01'),
 Synset('carnivore.n.01'),
 Synset('placental.n.01'),
 Synset('mammal.n.01'),
 Synset('vertebrate.n.01'),
 Synset('chordate.n.01'),
 Synset('animal.n.01'),
 Synset('organism.n.01'),
 Synset('living_thing.n.01'),
 Synset('whole.n.02'),
 Synset('object.n.01'),
 Synset('physical_entity.n.01'),
 Synset('entity.n.01')]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5F88397-2BCC-3DCA-BE8B-B9B0AFAC1E35}"/>
                  </a:ext>
                </a:extLst>
              </p:cNvPr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Word embeddings Problems</a:t>
                </a:r>
              </a:p>
              <a:p>
                <a:pPr lvl="0"/>
                <a:r>
                  <a:rPr/>
                  <a:t>A useful resource but missing nuance:</a:t>
                </a:r>
              </a:p>
              <a:p>
                <a:pPr lvl="1"/>
                <a:r>
                  <a:rPr/>
                  <a:t>e.g., proficient is listed as a synonym for good; This is only correct in some contexts</a:t>
                </a:r>
              </a:p>
              <a:p>
                <a:pPr lvl="1"/>
                <a:r>
                  <a:rPr/>
                  <a:t>Also, WordNet list offensive synonyms in some synonym sets without any coverage of the connotations or appropriateness of words</a:t>
                </a:r>
              </a:p>
              <a:p>
                <a:pPr lvl="0"/>
                <a:r>
                  <a:rPr/>
                  <a:t>Missing new meanings of words:</a:t>
                </a:r>
              </a:p>
              <a:p>
                <a:pPr lvl="1"/>
                <a:r>
                  <a:rPr/>
                  <a:t>e.g., wicked, badass, nifty, wizard, genius, ninja, bombest</a:t>
                </a:r>
              </a:p>
              <a:p>
                <a:pPr lvl="1"/>
                <a:r>
                  <a:rPr/>
                  <a:t>Impossible to keep up-to-date!</a:t>
                </a:r>
              </a:p>
              <a:p>
                <a:pPr lvl="0"/>
                <a:r>
                  <a:rPr/>
                  <a:t>Subjective</a:t>
                </a:r>
              </a:p>
              <a:p>
                <a:pPr lvl="0"/>
                <a:r>
                  <a:rPr/>
                  <a:t>Requires human labor to create and adapt</a:t>
                </a:r>
              </a:p>
              <a:p>
                <a:pPr lvl="0"/>
                <a:r>
                  <a:rPr/>
                  <a:t>Can’t be used to accurately compute word similarity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Vectors as semantic representation</a:t>
                </a:r>
              </a:p>
              <a:p>
                <a:pPr lvl="0"/>
                <a:r>
                  <a:rPr/>
                  <a:t>In traditional NLP, we regard words as discrete symbols: hotel, conference, motel – a localist representation</a:t>
                </a:r>
              </a:p>
              <a:p>
                <a:pPr lvl="0"/>
                <a:r>
                  <a:rPr/>
                  <a:t>Such symbols for words can be represented by one-hot vectors: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t>m</m:t>
                          </m:r>
                          <m:r>
                            <m:t>o</m:t>
                          </m:r>
                          <m:r>
                            <m:t>t</m:t>
                          </m:r>
                          <m:r>
                            <m:t>e</m:t>
                          </m:r>
                          <m:r>
                            <m:t>l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1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</m:mr>
                          </m:m>
                        </m:e>
                        <m:e>
                          <m:r>
                            <m:t>h</m:t>
                          </m:r>
                          <m:r>
                            <m:t>o</m:t>
                          </m:r>
                          <m:r>
                            <m:t>t</m:t>
                          </m:r>
                          <m:r>
                            <m:t>e</m:t>
                          </m:r>
                          <m:r>
                            <m:t>l</m:t>
                          </m:r>
                          <m:r>
                            <m:t>&amp;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1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</m:mr>
                          </m:m>
                        </m:e>
                      </m:eqArr>
                    </m:oMath>
                  </m:oMathPara>
                </a14:m>
              </a:p>
              <a:p>
                <a:pPr lvl="0"/>
                <a:r>
                  <a:rPr/>
                  <a:t>Vector dimension = number of words in vocabulary (e.g., 500,000+)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Problem with words as discrete symbols</a:t>
                </a:r>
              </a:p>
              <a:p>
                <a:pPr lvl="0"/>
                <a:r>
                  <a:rPr/>
                  <a:t>Let’s say we want to search “Boston motel”, we would like to match documents containing “Boston hotel”</a:t>
                </a:r>
              </a:p>
              <a:p>
                <a:pPr lvl="0"/>
                <a:r>
                  <a:rPr/>
                  <a:t>But motel and hotel are orthogonal vectors in one-hot representation</a:t>
                </a:r>
              </a:p>
              <a:p>
                <a:pPr lvl="0"/>
                <a:r>
                  <a:rPr/>
                  <a:t>There is no natural notion of similarity for one-hot vectors!</a:t>
                </a:r>
              </a:p>
              <a:p>
                <a:pPr lvl="0"/>
                <a:r>
                  <a:rPr/>
                  <a:t>Solution:</a:t>
                </a:r>
              </a:p>
              <a:p>
                <a:pPr lvl="0"/>
                <a:r>
                  <a:rPr/>
                  <a:t>Rely on WordNet’s list of synonyms to get similarity?</a:t>
                </a:r>
              </a:p>
              <a:p>
                <a:pPr lvl="0"/>
                <a:r>
                  <a:rPr/>
                  <a:t>But it is well-known to fail badly: incompleteness, and exhaustive list</a:t>
                </a:r>
              </a:p>
              <a:p>
                <a:pPr lvl="0"/>
                <a:r>
                  <a:rPr/>
                  <a:t>Learn to encode similarity in the vectors themselves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Representing words by their context</a:t>
                </a:r>
              </a:p>
              <a:p>
                <a:pPr lvl="0"/>
                <a:r>
                  <a:rPr/>
                  <a:t>Distributional semantics: A word’s meaning is given by the words that frequently appear close-by</a:t>
                </a:r>
              </a:p>
              <a:p>
                <a:pPr lvl="0"/>
                <a:r>
                  <a:rPr/>
                  <a:t>“You shall know a word by the company it keeps” (J. R. Firth 1957: 11)</a:t>
                </a:r>
              </a:p>
              <a:p>
                <a:pPr lvl="0"/>
                <a:r>
                  <a:rPr/>
                  <a:t>When a word w appears in a text, its context is the set of words that appear nearby (within a fixed-size window).</a:t>
                </a:r>
              </a:p>
              <a:p>
                <a:pPr lvl="0"/>
                <a:r>
                  <a:rPr/>
                  <a:t>We use the many contexts of </a:t>
                </a:r>
                <a14:m>
                  <m:oMath xmlns:m="http://schemas.openxmlformats.org/officeDocument/2006/math">
                    <m:r>
                      <m:t>w</m:t>
                    </m:r>
                  </m:oMath>
                </a14:m>
                <a:r>
                  <a:rPr/>
                  <a:t> to build up a representation of </a:t>
                </a:r>
                <a14:m>
                  <m:oMath xmlns:m="http://schemas.openxmlformats.org/officeDocument/2006/math">
                    <m:r>
                      <m:t>w</m:t>
                    </m:r>
                  </m:oMath>
                </a14:m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/>
                <a:r>
                  <a:rPr sz="2000"/>
                  <a:t>…government debt problems turning into banking crises as happened in 2009…</a:t>
                </a:r>
              </a:p>
              <a:p>
                <a:pPr lvl="0"/>
                <a:r>
                  <a:rPr sz="2000"/>
                  <a:t>…saying that Europe needs unified banking regulation to replace the hodgepodge…</a:t>
                </a:r>
              </a:p>
              <a:p>
                <a:pPr lvl="0"/>
                <a:r>
                  <a:rPr sz="2000"/>
                  <a:t>…India has just given its banking system a shot in the arm…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Distributional Vectors</a:t>
                </a:r>
              </a:p>
              <a:p>
                <a:pPr lvl="0"/>
                <a:r>
                  <a:rPr/>
                  <a:t>A </a:t>
                </a:r>
                <a:r>
                  <a:rPr b="1"/>
                  <a:t>distributional vector</a:t>
                </a:r>
                <a:r>
                  <a:rPr/>
                  <a:t> represents a word by the company it keeps</a:t>
                </a:r>
                <a:br/>
              </a:p>
              <a:p>
                <a:pPr lvl="0"/>
                <a:r>
                  <a:rPr/>
                  <a:t>Constructed from </a:t>
                </a:r>
                <a:r>
                  <a:rPr b="1"/>
                  <a:t>co‑occurrence statistics</a:t>
                </a:r>
                <a:br/>
              </a:p>
              <a:p>
                <a:pPr lvl="0"/>
                <a:r>
                  <a:rPr/>
                  <a:t>Words with similar contexts → similar vectors</a:t>
                </a:r>
                <a:br/>
              </a:p>
              <a:p>
                <a:pPr lvl="0"/>
                <a:r>
                  <a:rPr/>
                  <a:t>Captures semantic similarity </a:t>
                </a:r>
                <a:r>
                  <a:rPr i="1"/>
                  <a:t>without</a:t>
                </a:r>
                <a:r>
                  <a:rPr/>
                  <a:t> any manual labeling</a:t>
                </a:r>
                <a:br/>
              </a:p>
              <a:p>
                <a:pPr lvl="0"/>
                <a:r>
                  <a:rPr/>
                  <a:t>Foundation for modern embeddings (word2vec, GloVe, fastText)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Why Distributional Vectors Work</a:t>
                </a:r>
              </a:p>
              <a:p>
                <a:pPr lvl="0"/>
                <a:r>
                  <a:rPr/>
                  <a:t>Words that appear in similar contexts tend to have similar meanings</a:t>
                </a:r>
              </a:p>
              <a:p>
                <a:pPr lvl="1"/>
                <a:r>
                  <a:rPr/>
                  <a:t>“doctor” and “nurse” appear near </a:t>
                </a:r>
                <a:r>
                  <a:rPr i="1"/>
                  <a:t>hospital, patient, medical</a:t>
                </a:r>
                <a:br/>
              </a:p>
              <a:p>
                <a:pPr lvl="1"/>
                <a:r>
                  <a:rPr/>
                  <a:t>“bank” (financial) appears near </a:t>
                </a:r>
                <a:r>
                  <a:rPr i="1"/>
                  <a:t>loan, credit, interest</a:t>
                </a:r>
                <a:br/>
              </a:p>
              <a:p>
                <a:pPr lvl="0"/>
                <a:r>
                  <a:rPr/>
                  <a:t>Distributional vectors encode these patterns numerically</a:t>
                </a:r>
                <a:br/>
              </a:p>
              <a:p>
                <a:pPr lvl="0"/>
                <a:r>
                  <a:rPr/>
                  <a:t>Similarity emerges naturally via cosine similarity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From One‑Hot to Distributional Vectors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1866900"/>
                <a:gridCol w="1397000"/>
                <a:gridCol w="105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One‑hot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Vocabulary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 (orthogonal)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Vocabulary size (co‑occurrence)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Context‑based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5F88397-2BCC-3DCA-BE8B-B9B0AFAC1E35}"/>
                  </a:ext>
                </a:extLst>
              </p:cNvPr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/>
                <a:r>
                  <a:rPr/>
                  <a:t>One‑hot: sparse, meaningless</a:t>
                </a:r>
                <a:br/>
              </a:p>
              <a:p>
                <a:pPr lvl="0"/>
                <a:r>
                  <a:rPr/>
                  <a:t>Distributional: dense, meaningful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Building Distributional Vectors: Co‑Occurrence Matrix</a:t>
                </a:r>
              </a:p>
              <a:p>
                <a:pPr lvl="0"/>
                <a:r>
                  <a:rPr/>
                  <a:t>Define a </a:t>
                </a:r>
                <a:r>
                  <a:rPr b="1"/>
                  <a:t>context window</a:t>
                </a:r>
                <a:r>
                  <a:rPr/>
                  <a:t> (e.g., ±2 words)</a:t>
                </a:r>
                <a:br/>
              </a:p>
              <a:p>
                <a:pPr lvl="0"/>
                <a:r>
                  <a:rPr/>
                  <a:t>Count how often each word appears near each other word</a:t>
                </a:r>
                <a:br/>
              </a:p>
              <a:p>
                <a:pPr lvl="0"/>
                <a:r>
                  <a:rPr/>
                  <a:t>Build a matrix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where:</a:t>
                </a:r>
              </a:p>
              <a:p>
                <a:pPr lvl="1"/>
                <a:r>
                  <a:rPr/>
                  <a:t>Rows = target words</a:t>
                </a:r>
                <a:br/>
              </a:p>
              <a:p>
                <a:pPr lvl="1"/>
                <a:r>
                  <a:rPr/>
                  <a:t>Columns = context words</a:t>
                </a:r>
                <a:br/>
              </a:p>
              <a:p>
                <a:pPr lvl="1"/>
                <a:r>
                  <a:rPr/>
                  <a:t>Values = co‑occurrence counts</a:t>
                </a:r>
              </a:p>
              <a:p>
                <a:pPr lvl="0" indent="0" marL="0">
                  <a:buNone/>
                </a:pPr>
                <a:r>
                  <a:rPr/>
                  <a:t>Example (toy):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900"/>
                <a:gridCol w="1231900"/>
                <a:gridCol w="1231900"/>
                <a:gridCol w="1231900"/>
                <a:gridCol w="1231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water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“bank” is similar to both </a:t>
            </a:r>
            <a:r>
              <a:rPr i="1"/>
              <a:t>loan</a:t>
            </a:r>
            <a:r>
              <a:rPr/>
              <a:t> and </a:t>
            </a:r>
            <a:r>
              <a:rPr i="1"/>
              <a:t>river</a:t>
            </a:r>
            <a:r>
              <a:rPr/>
              <a:t> → polysemy emerges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Weighting Co‑Occurrence Counts</a:t>
            </a:r>
          </a:p>
          <a:p>
            <a:pPr lvl="0" indent="0" marL="0">
              <a:buNone/>
            </a:pPr>
            <a:r>
              <a:rPr/>
              <a:t>Raw counts are not ideal. We often use:</a:t>
            </a:r>
          </a:p>
          <a:p>
            <a:pPr lvl="0"/>
            <a:r>
              <a:rPr b="1"/>
              <a:t>TF‑IDF</a:t>
            </a:r>
            <a:br/>
          </a:p>
          <a:p>
            <a:pPr lvl="0"/>
            <a:r>
              <a:rPr b="1"/>
              <a:t>PPMI (Positive Pointwise Mutual Information)</a:t>
            </a:r>
            <a:br/>
          </a:p>
          <a:p>
            <a:pPr lvl="0"/>
            <a:r>
              <a:rPr b="1"/>
              <a:t>Log‑counts</a:t>
            </a:r>
          </a:p>
          <a:p>
            <a:pPr lvl="0" indent="0" marL="0">
              <a:buNone/>
            </a:pPr>
            <a:r>
              <a:rPr/>
              <a:t>These emphasize informative co‑occurrences and reduce noise.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Dimensionality Reduction</a:t>
            </a:r>
          </a:p>
          <a:p>
            <a:pPr lvl="0" indent="0" marL="0">
              <a:buNone/>
            </a:pPr>
            <a:r>
              <a:rPr/>
              <a:t>Co‑occurrence matrices are huge.</a:t>
            </a:r>
            <a:br/>
            <a:r>
              <a:rPr/>
              <a:t>We compress them using:</a:t>
            </a:r>
          </a:p>
          <a:p>
            <a:pPr lvl="0"/>
            <a:r>
              <a:rPr b="1"/>
              <a:t>SVD (Singular Value Decomposition)</a:t>
            </a:r>
            <a:br/>
          </a:p>
          <a:p>
            <a:pPr lvl="0"/>
            <a:r>
              <a:rPr b="1"/>
              <a:t>PCA</a:t>
            </a:r>
            <a:br/>
          </a:p>
          <a:p>
            <a:pPr lvl="0"/>
            <a:r>
              <a:rPr b="1"/>
              <a:t>Truncated SVD / LSA</a:t>
            </a:r>
            <a:br/>
          </a:p>
          <a:p>
            <a:pPr lvl="0"/>
            <a:r>
              <a:rPr b="1"/>
              <a:t>T SNE / UMAP</a:t>
            </a:r>
            <a:r>
              <a:rPr/>
              <a:t> (for visualization)</a:t>
            </a:r>
          </a:p>
          <a:p>
            <a:pPr lvl="0" indent="0" marL="0">
              <a:buNone/>
            </a:pPr>
            <a:r>
              <a:rPr/>
              <a:t>This yields dense, low‑dimensional vectors that capture latent semantic structure.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Distributional Vectors vs. Neural Embeddings</a:t>
            </a:r>
          </a:p>
          <a:p>
            <a:pPr lvl="0"/>
            <a:r>
              <a:rPr/>
              <a:t>Distributional vectors:</a:t>
            </a:r>
          </a:p>
          <a:p>
            <a:pPr lvl="1"/>
            <a:r>
              <a:rPr/>
              <a:t>Built from co‑occurrence statistics</a:t>
            </a:r>
            <a:br/>
          </a:p>
          <a:p>
            <a:pPr lvl="1"/>
            <a:r>
              <a:rPr/>
              <a:t>Often large and sparse</a:t>
            </a:r>
            <a:br/>
          </a:p>
          <a:p>
            <a:pPr lvl="1"/>
            <a:r>
              <a:rPr/>
              <a:t>Require dimensionality reduction</a:t>
            </a:r>
            <a:br/>
          </a:p>
          <a:p>
            <a:pPr lvl="0"/>
            <a:r>
              <a:rPr/>
              <a:t>Neural embeddings (word2vec, GloVe):</a:t>
            </a:r>
          </a:p>
          <a:p>
            <a:pPr lvl="1"/>
            <a:r>
              <a:rPr/>
              <a:t>Learn vectors directly from prediction tasks</a:t>
            </a:r>
            <a:br/>
          </a:p>
          <a:p>
            <a:pPr lvl="1"/>
            <a:r>
              <a:rPr/>
              <a:t>Dense, low‑dimensional</a:t>
            </a:r>
            <a:br/>
          </a:p>
          <a:p>
            <a:pPr lvl="1"/>
            <a:r>
              <a:rPr/>
              <a:t>Capture deeper semantic and syntactic patterns</a:t>
            </a:r>
          </a:p>
          <a:p>
            <a:pPr lvl="0" indent="0" marL="0">
              <a:buNone/>
            </a:pPr>
            <a:r>
              <a:rPr/>
              <a:t>Distributional vectors are the </a:t>
            </a:r>
            <a:r>
              <a:rPr b="1"/>
              <a:t>conceptual precursor</a:t>
            </a:r>
            <a:r>
              <a:rPr/>
              <a:t> to modern embeddings.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Similarity in Distributional Space</a:t>
            </a:r>
          </a:p>
          <a:p>
            <a:pPr lvl="0"/>
            <a:r>
              <a:rPr/>
              <a:t>Use </a:t>
            </a:r>
            <a:r>
              <a:rPr b="1"/>
              <a:t>cosine similarity</a:t>
            </a:r>
            <a:r>
              <a:rPr/>
              <a:t> to measure closeness</a:t>
            </a:r>
            <a:br/>
          </a:p>
          <a:p>
            <a:pPr lvl="0"/>
            <a:r>
              <a:rPr/>
              <a:t>Similar words cluster together</a:t>
            </a:r>
            <a:br/>
          </a:p>
          <a:p>
            <a:pPr lvl="0"/>
            <a:r>
              <a:rPr/>
              <a:t>Analogies sometimes emerge (weakly):</a:t>
            </a:r>
          </a:p>
          <a:p>
            <a:pPr lvl="1"/>
            <a:r>
              <a:rPr i="1"/>
              <a:t>king – man + woman ≈ queen</a:t>
            </a:r>
            <a:r>
              <a:rPr/>
              <a:t> (stronger in neural embeddings)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Limitations of Distributional Vectors</a:t>
            </a:r>
          </a:p>
          <a:p>
            <a:pPr lvl="0"/>
            <a:r>
              <a:rPr/>
              <a:t>Still bag‑of‑words based</a:t>
            </a:r>
            <a:br/>
          </a:p>
          <a:p>
            <a:pPr lvl="0"/>
            <a:r>
              <a:rPr/>
              <a:t>Cannot handle polysemy cleanly</a:t>
            </a:r>
            <a:br/>
          </a:p>
          <a:p>
            <a:pPr lvl="0"/>
            <a:r>
              <a:rPr/>
              <a:t>Context window is fixed</a:t>
            </a:r>
            <a:br/>
          </a:p>
          <a:p>
            <a:pPr lvl="0"/>
            <a:r>
              <a:rPr/>
              <a:t>No dynamic meaning (unlike contextual embeddings like BERT)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add a scatterplot of PCA‑reduced distributional vectors:</a:t>
            </a:r>
          </a:p>
          <a:p>
            <a:pPr lvl="0"/>
            <a:r>
              <a:rPr i="1"/>
              <a:t>hotel, motel, inn</a:t>
            </a:r>
            <a:r>
              <a:rPr/>
              <a:t> cluster</a:t>
            </a:r>
            <a:br/>
          </a:p>
          <a:p>
            <a:pPr lvl="0"/>
            <a:r>
              <a:rPr i="1"/>
              <a:t>bank, loan, credit</a:t>
            </a:r>
            <a:r>
              <a:rPr/>
              <a:t> cluster</a:t>
            </a:r>
            <a:br/>
          </a:p>
          <a:p>
            <a:pPr lvl="0"/>
            <a:r>
              <a:rPr i="1"/>
              <a:t>river, stream, water</a:t>
            </a:r>
            <a:r>
              <a:rPr/>
              <a:t> cluster</a:t>
            </a:r>
          </a:p>
          <a:p>
            <a:pPr lvl="0" indent="0" marL="0">
              <a:buNone/>
            </a:pPr>
            <a:r>
              <a:rPr/>
              <a:t>This visually reinforces the idea of semantic neighborhoods.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Example: Building a Co‑Occurrence Matrix</a:t>
            </a:r>
          </a:p>
          <a:p>
            <a:pPr lvl="0" indent="0">
              <a:buNone/>
            </a:pPr>
            <a:r>
              <a:rPr>
                <a:latin typeface="Roboto"/>
              </a:rPr>
              <a:t>['applied' 'approved' 'at' 'bank' 'for' 'loan' 'near' 'overflowed' 'river'
 'she' 'the']
[[1 0 1 1 1 1 0 0 0 1 1]
 [0 1 0 1 0 1 0 0 0 0 2]
 [1 0 1 1 1 1 0 0 0 1 1]
 [1 1 1 3 1 2 1 1 1 1 5]
 [1 0 1 1 1 1 0 0 0 1 1]
 [1 1 1 2 1 2 0 0 0 1 3]
 [0 0 0 1 0 0 1 1 1 0 2]
 [0 0 0 1 0 0 1 1 1 0 2]
 [0 0 0 1 0 0 1 1 1 0 2]
 [1 0 1 1 1 1 0 0 0 1 1]
 [1 2 1 5 1 3 2 2 2 1 9]]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Optimization &amp;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Optimization Matters in ML</a:t>
            </a:r>
          </a:p>
          <a:p>
            <a:pPr lvl="0"/>
            <a:r>
              <a:rPr/>
              <a:t>Machine learning models are trained by </a:t>
            </a:r>
            <a:r>
              <a:rPr b="1"/>
              <a:t>optimizing</a:t>
            </a:r>
            <a:r>
              <a:rPr/>
              <a:t> an objective function</a:t>
            </a:r>
            <a:br/>
          </a:p>
          <a:p>
            <a:pPr lvl="0"/>
            <a:r>
              <a:rPr/>
              <a:t>For classification, this is often a </a:t>
            </a:r>
            <a:r>
              <a:rPr b="1"/>
              <a:t>loss</a:t>
            </a:r>
            <a:r>
              <a:rPr/>
              <a:t> that measures how wrong the model is</a:t>
            </a:r>
            <a:br/>
          </a:p>
          <a:p>
            <a:pPr lvl="0"/>
            <a:r>
              <a:rPr/>
              <a:t>Optimization = adjusting parameters to </a:t>
            </a:r>
            <a:r>
              <a:rPr b="1"/>
              <a:t>minimize loss</a:t>
            </a:r>
            <a:br/>
          </a:p>
          <a:p>
            <a:pPr lvl="0"/>
            <a:r>
              <a:rPr/>
              <a:t>Gradient‑based methods are the backbone of modern deep learning</a:t>
            </a:r>
            <a:br/>
          </a:p>
          <a:p>
            <a:pPr lvl="0"/>
            <a:r>
              <a:rPr/>
              <a:t>To understand optimization, we need two core tools:</a:t>
            </a:r>
          </a:p>
          <a:p>
            <a:pPr lvl="1"/>
            <a:r>
              <a:rPr b="1"/>
              <a:t>Softmax</a:t>
            </a:r>
            <a:r>
              <a:rPr/>
              <a:t> (for turning scores into probabilities)</a:t>
            </a:r>
            <a:br/>
          </a:p>
          <a:p>
            <a:pPr lvl="1"/>
            <a:r>
              <a:rPr b="1"/>
              <a:t>Gradients &amp; the chain rule</a:t>
            </a:r>
            <a:r>
              <a:rPr/>
              <a:t> (for learning)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Softmax: Turning Scores into Probabilities</a:t>
                </a:r>
              </a:p>
              <a:p>
                <a:pPr lvl="0"/>
                <a:r>
                  <a:rPr/>
                  <a:t>Many models output </a:t>
                </a:r>
                <a:r>
                  <a:rPr b="1"/>
                  <a:t>raw scores</a:t>
                </a:r>
                <a:r>
                  <a:rPr/>
                  <a:t> (logits), not probabilities</a:t>
                </a:r>
                <a:br/>
              </a:p>
              <a:p>
                <a:pPr lvl="0"/>
                <a:r>
                  <a:rPr/>
                  <a:t>Softmax converts a vector of scores into a </a:t>
                </a:r>
                <a:r>
                  <a:rPr b="1"/>
                  <a:t>probability distribution</a:t>
                </a:r>
                <a:br/>
              </a:p>
              <a:p>
                <a:pPr lvl="0"/>
                <a:r>
                  <a:rPr/>
                  <a:t>Ensures:</a:t>
                </a:r>
              </a:p>
              <a:p>
                <a:pPr lvl="1"/>
                <a:r>
                  <a:rPr/>
                  <a:t>All outputs are positive</a:t>
                </a:r>
                <a:br/>
              </a:p>
              <a:p>
                <a:pPr lvl="1"/>
                <a:r>
                  <a:rPr/>
                  <a:t>They sum to 1</a:t>
                </a:r>
                <a:br/>
              </a:p>
              <a:p>
                <a:pPr lvl="1"/>
                <a:r>
                  <a:rPr/>
                  <a:t>Higher scores → higher probability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m:t>softmax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z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p>
                                  <m:e>
                                    <m:r>
                                      <m:t>e</m:t>
                                    </m:r>
                                  </m:e>
                                  <m:sup>
                                    <m:sSub>
                                      <m:e>
                                        <m: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sup>
                                </m:sSup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n"/>
                                  </m:naryPr>
                                  <m:sub>
                                    <m:r>
                                      <m:t>j</m:t>
                                    </m:r>
                                  </m:sub>
                                  <m:sup>
                                    <m:r>
                                      <m:t>​</m:t>
                                    </m:r>
                                  </m:sup>
                                  <m:e>
                                    <m:sSup>
                                      <m:e>
                                        <m:r>
                                          <m:t>e</m:t>
                                        </m:r>
                                      </m:e>
                                      <m:sup>
                                        <m:sSub>
                                          <m:e>
                                            <m:r>
                                              <m:t>z</m:t>
                                            </m:r>
                                          </m:e>
                                          <m:sub>
                                            <m:r>
                                              <m:t>j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Softmax Works</a:t>
            </a:r>
          </a:p>
          <a:p>
            <a:pPr lvl="0"/>
            <a:r>
              <a:rPr/>
              <a:t>Exponentiation </a:t>
            </a:r>
            <a:r>
              <a:rPr b="1"/>
              <a:t>amplifies differences</a:t>
            </a:r>
            <a:r>
              <a:rPr/>
              <a:t> between scores</a:t>
            </a:r>
            <a:br/>
          </a:p>
          <a:p>
            <a:pPr lvl="0"/>
            <a:r>
              <a:rPr/>
              <a:t>Normalization ensures a </a:t>
            </a:r>
            <a:r>
              <a:rPr b="1"/>
              <a:t>valid probability distribution</a:t>
            </a:r>
            <a:br/>
          </a:p>
          <a:p>
            <a:pPr lvl="0"/>
            <a:r>
              <a:rPr/>
              <a:t>Smooth and differentiable → perfect for gradient‑based learning</a:t>
            </a:r>
            <a:br/>
          </a:p>
          <a:p>
            <a:pPr lvl="0"/>
            <a:r>
              <a:rPr/>
              <a:t>Softmax + cross‑entropy loss is the </a:t>
            </a:r>
            <a:r>
              <a:rPr b="1"/>
              <a:t>standard</a:t>
            </a:r>
            <a:r>
              <a:rPr/>
              <a:t> for multi‑class classification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Softmax Intuition</a:t>
            </a:r>
          </a:p>
          <a:p>
            <a:pPr lvl="0"/>
            <a:r>
              <a:rPr/>
              <a:t>Small differences in scores → meaningful differences in probabilities.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Imagine scores:</a:t>
            </a:r>
          </a:p>
          <a:p>
            <a:pPr lvl="0"/>
            <a:r>
              <a:rPr/>
              <a:t>cat: 2.1</a:t>
            </a:r>
            <a:br/>
          </a:p>
          <a:p>
            <a:pPr lvl="0"/>
            <a:r>
              <a:rPr/>
              <a:t>dog: 1.9</a:t>
            </a:r>
            <a:br/>
          </a:p>
          <a:p>
            <a:pPr lvl="0"/>
            <a:r>
              <a:rPr/>
              <a:t>car: 0.1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Softmax transforms them into:</a:t>
            </a:r>
          </a:p>
          <a:p>
            <a:pPr lvl="0"/>
            <a:r>
              <a:rPr/>
              <a:t>cat: 0.46</a:t>
            </a:r>
            <a:br/>
          </a:p>
          <a:p>
            <a:pPr lvl="0"/>
            <a:r>
              <a:rPr/>
              <a:t>dog: 0.38</a:t>
            </a:r>
            <a:br/>
          </a:p>
          <a:p>
            <a:pPr lvl="0"/>
            <a:r>
              <a:rPr/>
              <a:t>car: 0.02</a:t>
            </a:r>
            <a:br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Softmax in NLP</a:t>
            </a:r>
          </a:p>
          <a:p>
            <a:pPr lvl="0"/>
            <a:r>
              <a:rPr/>
              <a:t>Language models output a score for </a:t>
            </a:r>
            <a:r>
              <a:rPr b="1"/>
              <a:t>every word in the vocabulary</a:t>
            </a:r>
            <a:br/>
          </a:p>
          <a:p>
            <a:pPr lvl="0"/>
            <a:r>
              <a:rPr/>
              <a:t>Softmax converts these scores into a probability distribution over next words</a:t>
            </a:r>
            <a:br/>
          </a:p>
          <a:p>
            <a:pPr lvl="0"/>
            <a:r>
              <a:rPr/>
              <a:t>Example:</a:t>
            </a:r>
          </a:p>
          <a:p>
            <a:pPr lvl="1"/>
            <a:r>
              <a:rPr/>
              <a:t>“The cat sat on the ___”</a:t>
            </a:r>
            <a:br/>
          </a:p>
          <a:p>
            <a:pPr lvl="1"/>
            <a:r>
              <a:rPr/>
              <a:t>Softmax assigns high probability to </a:t>
            </a:r>
            <a:r>
              <a:rPr i="1"/>
              <a:t>mat</a:t>
            </a:r>
            <a:r>
              <a:rPr/>
              <a:t>, lower to </a:t>
            </a:r>
            <a:r>
              <a:rPr i="1"/>
              <a:t>roof</a:t>
            </a:r>
            <a:r>
              <a:rPr/>
              <a:t>, tiny to </a:t>
            </a:r>
            <a:r>
              <a:rPr i="1"/>
              <a:t>economy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Gradients: How Models Learn</a:t>
                </a:r>
              </a:p>
              <a:p>
                <a:pPr lvl="0"/>
                <a:r>
                  <a:rPr/>
                  <a:t>A gradient tells us </a:t>
                </a:r>
                <a:r>
                  <a:rPr b="1"/>
                  <a:t>how much</a:t>
                </a:r>
                <a:r>
                  <a:rPr/>
                  <a:t> a change in a parameter affects the loss</a:t>
                </a:r>
                <a:br/>
              </a:p>
              <a:p>
                <a:pPr lvl="0"/>
                <a:r>
                  <a:rPr/>
                  <a:t>Gradient descent updates parameters in the direction that </a:t>
                </a:r>
                <a:r>
                  <a:rPr b="1"/>
                  <a:t>reduces</a:t>
                </a:r>
                <a:r>
                  <a:rPr/>
                  <a:t> loss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θ</m:t>
                            </m:r>
                            <m:r>
                              <m:rPr>
                                <m:sty m:val="p"/>
                              </m:rPr>
                              <m:t>←</m:t>
                            </m:r>
                            <m:r>
                              <m:t>θ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η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m:t>∇</m:t>
                                </m:r>
                              </m:e>
                              <m:sub>
                                <m:r>
                                  <m:t>θ</m:t>
                                </m:r>
                              </m:sub>
                            </m:sSub>
                            <m:r>
                              <m:t>L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r>
                      <m:t>η</m:t>
                    </m:r>
                  </m:oMath>
                </a14:m>
                <a:r>
                  <a:rPr/>
                  <a:t> = learning rate</a:t>
                </a:r>
                <a:br/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∇</m:t>
                        </m:r>
                      </m:e>
                      <m:sub>
                        <m:r>
                          <m:t>θ</m:t>
                        </m:r>
                      </m:sub>
                    </m:sSub>
                    <m:r>
                      <m:t>L</m:t>
                    </m:r>
                  </m:oMath>
                </a14:m>
                <a:r>
                  <a:rPr/>
                  <a:t> = gradient of loss w.r.t. parameters</a:t>
                </a:r>
              </a:p>
            </p:txBody>
          </p:sp>
        </mc:Choice>
      </mc:AlternateContent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Gradients Matter</a:t>
            </a:r>
          </a:p>
          <a:p>
            <a:pPr lvl="0"/>
            <a:r>
              <a:rPr/>
              <a:t>Without gradients, models cannot learn from data</a:t>
            </a:r>
            <a:br/>
          </a:p>
          <a:p>
            <a:pPr lvl="0"/>
            <a:r>
              <a:rPr/>
              <a:t>Gradients tell us:</a:t>
            </a:r>
          </a:p>
          <a:p>
            <a:pPr lvl="1"/>
            <a:r>
              <a:rPr/>
              <a:t>Which direction to move</a:t>
            </a:r>
            <a:br/>
          </a:p>
          <a:p>
            <a:pPr lvl="1"/>
            <a:r>
              <a:rPr/>
              <a:t>How big the step should be</a:t>
            </a:r>
            <a:br/>
          </a:p>
          <a:p>
            <a:pPr lvl="0"/>
            <a:r>
              <a:rPr/>
              <a:t>Deep learning = computing gradients through </a:t>
            </a:r>
            <a:r>
              <a:rPr b="1"/>
              <a:t>many layers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Chain Rule: The Engine of Backpropagation</a:t>
                </a:r>
              </a:p>
              <a:p>
                <a:pPr lvl="0"/>
                <a:r>
                  <a:rPr/>
                  <a:t>Deep networks are compositions of functions</a:t>
                </a:r>
                <a:br/>
              </a:p>
              <a:p>
                <a:pPr lvl="0"/>
                <a:r>
                  <a:rPr/>
                  <a:t>To compute gradients, we apply the </a:t>
                </a:r>
                <a:r>
                  <a:rPr b="1"/>
                  <a:t>chain rule</a:t>
                </a:r>
                <a:r>
                  <a:rPr/>
                  <a:t> repeatedly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r>
                                  <m:t>L</m:t>
                                </m:r>
                              </m:num>
                              <m:den>
                                <m:r>
                                  <m:t>d</m:t>
                                </m:r>
                                <m:r>
                                  <m:t>x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r>
                                  <m:t>L</m:t>
                                </m:r>
                              </m:num>
                              <m:den>
                                <m:r>
                                  <m:t>d</m:t>
                                </m:r>
                                <m:r>
                                  <m:t>y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⋅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r>
                                  <m:t>y</m:t>
                                </m:r>
                              </m:num>
                              <m:den>
                                <m:r>
                                  <m:t>d</m:t>
                                </m:r>
                                <m:r>
                                  <m:t>x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Backpropagation = systematic application of chain rule from output → input</a:t>
                </a:r>
                <a:br/>
              </a:p>
              <a:p>
                <a:pPr lvl="0"/>
                <a:r>
                  <a:rPr/>
                  <a:t>Allows efficient training of networks with millions of parameters</a:t>
                </a:r>
              </a:p>
            </p:txBody>
          </p:sp>
        </mc:Choice>
      </mc:AlternateContent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Chain Rule Intuition</a:t>
                </a:r>
              </a:p>
              <a:p>
                <a:pPr lvl="0" indent="0" marL="0">
                  <a:buNone/>
                </a:pPr>
                <a:r>
                  <a:rPr/>
                  <a:t>Think of a pipeline: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r>
                              <m:t>L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To know how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affects </a:t>
                </a:r>
                <a14:m>
                  <m:oMath xmlns:m="http://schemas.openxmlformats.org/officeDocument/2006/math">
                    <m:r>
                      <m:t>L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r>
                                  <m:t>L</m:t>
                                </m:r>
                              </m:num>
                              <m:den>
                                <m:r>
                                  <m:t>d</m:t>
                                </m:r>
                                <m:r>
                                  <m:t>x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r>
                                  <m:t>L</m:t>
                                </m:r>
                              </m:num>
                              <m:den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⋅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⋅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⋅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t>d</m:t>
                                </m:r>
                                <m:r>
                                  <m:t>x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Each layer contributes a piece of the gradient.</a:t>
                </a:r>
              </a:p>
            </p:txBody>
          </p:sp>
        </mc:Choice>
      </mc:AlternateContent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Backpropagation in Practice</a:t>
            </a:r>
          </a:p>
          <a:p>
            <a:pPr lvl="0"/>
            <a:r>
              <a:rPr/>
              <a:t>Forward pass: compute outputs and loss</a:t>
            </a:r>
            <a:br/>
          </a:p>
          <a:p>
            <a:pPr lvl="0"/>
            <a:r>
              <a:rPr/>
              <a:t>Backward pass: compute gradients using chain rule</a:t>
            </a:r>
            <a:br/>
          </a:p>
          <a:p>
            <a:pPr lvl="0"/>
            <a:r>
              <a:rPr/>
              <a:t>Update parameters using gradient descent</a:t>
            </a:r>
            <a:br/>
          </a:p>
          <a:p>
            <a:pPr lvl="0"/>
            <a:r>
              <a:rPr/>
              <a:t>Repeat for many epochs</a:t>
            </a:r>
          </a:p>
          <a:p>
            <a:pPr lvl="0" indent="0" marL="0">
              <a:buNone/>
            </a:pPr>
            <a:r>
              <a:rPr/>
              <a:t>This is the core loop of training neural networks.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Softmax + Gradients = Learning</a:t>
            </a:r>
          </a:p>
          <a:p>
            <a:pPr lvl="0"/>
            <a:r>
              <a:rPr/>
              <a:t>Softmax gives probabilities</a:t>
            </a:r>
            <a:br/>
          </a:p>
          <a:p>
            <a:pPr lvl="0"/>
            <a:r>
              <a:rPr/>
              <a:t>Cross‑entropy measures how wrong the model is</a:t>
            </a:r>
            <a:br/>
          </a:p>
          <a:p>
            <a:pPr lvl="0"/>
            <a:r>
              <a:rPr/>
              <a:t>Gradients tell us how to fix the model</a:t>
            </a:r>
            <a:br/>
          </a:p>
          <a:p>
            <a:pPr lvl="0"/>
            <a:r>
              <a:rPr/>
              <a:t>Chain rule lets us compute gradients through deep architectures</a:t>
            </a:r>
          </a:p>
          <a:p>
            <a:pPr lvl="0" indent="0" marL="0">
              <a:buNone/>
            </a:pPr>
            <a:r>
              <a:rPr/>
              <a:t>Together, they form the foundation of modern deep learning.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Softmax + Cross‑Entropy Derivative</a:t>
                </a:r>
              </a:p>
              <a:p>
                <a:pPr lvl="0" indent="0" marL="0">
                  <a:buNone/>
                </a:pPr>
                <a:r>
                  <a:rPr/>
                  <a:t>If you want to show the elegant simplification: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r>
                                  <m:t>L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sSub>
                                  <m:e>
                                    <m:r>
                                      <m:t>z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p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y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softmax probability</a:t>
                </a:r>
                <a:br/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one‑hot label</a:t>
                </a:r>
              </a:p>
              <a:p>
                <a:pPr lvl="0" indent="0" marL="0">
                  <a:buNone/>
                </a:pPr>
                <a:r>
                  <a:rPr/>
                  <a:t>This is why softmax + cross‑entropy is so efficient.</a:t>
                </a:r>
              </a:p>
            </p:txBody>
          </p:sp>
        </mc:Choice>
      </mc:AlternateContent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Gradient Descent</a:t>
            </a:r>
          </a:p>
        </p:txBody>
      </p:sp>
      <p:pic>
        <p:nvPicPr>
          <p:cNvPr descr="./M02_lecture02_figures/sgd-convergence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81600" y="1422400"/>
            <a:ext cx="6172200" cy="346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181600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1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Gradient Descent</a:t>
            </a:r>
          </a:p>
        </p:txBody>
      </p:sp>
      <p:pic>
        <p:nvPicPr>
          <p:cNvPr descr="./M02_lecture02_figures/Saddle-Point-Imgur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8300" y="977900"/>
            <a:ext cx="5638800" cy="435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5181600" y="5334000"/>
            <a:ext cx="6172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b="1"/>
              <a:t>Figure</a:t>
            </a:r>
            <a:r>
              <a:rPr/>
              <a:t> 2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Backpropagation</a:t>
                </a:r>
              </a:p>
              <a:p>
                <a:pPr lvl="0"/>
                <a:r>
                  <a:rPr/>
                  <a:t>Backpropagation is the algorithm that allows neural networks to </a:t>
                </a:r>
                <a:r>
                  <a:rPr b="1"/>
                  <a:t>learn from data</a:t>
                </a:r>
                <a:br/>
              </a:p>
              <a:p>
                <a:pPr lvl="0"/>
                <a:r>
                  <a:rPr/>
                  <a:t>It computes how the loss changes with respect to each parameter</a:t>
                </a:r>
                <a:br/>
              </a:p>
              <a:p>
                <a:pPr lvl="0"/>
                <a:r>
                  <a:rPr/>
                  <a:t>Uses the </a:t>
                </a:r>
                <a:r>
                  <a:rPr b="1"/>
                  <a:t>chain rule</a:t>
                </a:r>
                <a:r>
                  <a:rPr/>
                  <a:t> to propagate gradients backward through the network</a:t>
                </a:r>
                <a:br/>
              </a:p>
              <a:p>
                <a:pPr lvl="0"/>
                <a:r>
                  <a:rPr/>
                  <a:t>Two phases:</a:t>
                </a:r>
              </a:p>
              <a:p>
                <a:pPr lvl="1"/>
                <a:r>
                  <a:rPr b="1"/>
                  <a:t>Forward pass</a:t>
                </a:r>
                <a:r>
                  <a:rPr/>
                  <a:t>: compute predictions and loss</a:t>
                </a:r>
                <a:br/>
              </a:p>
              <a:p>
                <a:pPr lvl="1"/>
                <a:r>
                  <a:rPr b="1"/>
                  <a:t>Backward pass</a:t>
                </a:r>
                <a:r>
                  <a:rPr/>
                  <a:t>: compute gradients layer by layer</a:t>
                </a:r>
                <a:br/>
              </a:p>
              <a:p>
                <a:pPr lvl="0"/>
                <a:r>
                  <a:rPr/>
                  <a:t>Enables efficient training even for networks with millions of parameters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Why it works</a:t>
                </a:r>
              </a:p>
              <a:p>
                <a:pPr lvl="0"/>
                <a:r>
                  <a:rPr/>
                  <a:t>Each layer contributes a small part of the gradient</a:t>
                </a:r>
                <a:br/>
              </a:p>
              <a:p>
                <a:pPr lvl="0"/>
                <a:r>
                  <a:rPr/>
                  <a:t>Chain rule links these contributions together</a:t>
                </a:r>
                <a:br/>
              </a:p>
              <a:p>
                <a:pPr lvl="0"/>
                <a:r>
                  <a:rPr/>
                  <a:t>Gradients tell us how to update weights to reduce loss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Intuition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x</m:t>
                            </m:r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r>
                              <m:t>L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r>
                                  <m:t>L</m:t>
                                </m:r>
                              </m:num>
                              <m:den>
                                <m:r>
                                  <m:t>d</m:t>
                                </m:r>
                                <m:r>
                                  <m:t>x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r>
                                  <m:t>L</m:t>
                                </m:r>
                              </m:num>
                              <m:den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⋅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⋅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⋅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d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t>d</m:t>
                                </m:r>
                                <m:r>
                                  <m:t>x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Backprop = computing this efficiently.</a:t>
                </a:r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Regularization (L1 / L2)</a:t>
            </a:r>
          </a:p>
          <a:p>
            <a:pPr lvl="0" indent="0" marL="0">
              <a:buNone/>
            </a:pPr>
            <a:r>
              <a:rPr/>
              <a:t>Regularization prevents overfitting by discouraging overly complex models. - Neural networks can memorize training data</a:t>
            </a:r>
            <a:br/>
            <a:r>
              <a:rPr/>
              <a:t>- Regularization encourages </a:t>
            </a:r>
            <a:r>
              <a:rPr b="1"/>
              <a:t>simpler</a:t>
            </a:r>
            <a:r>
              <a:rPr/>
              <a:t>, more </a:t>
            </a:r>
            <a:r>
              <a:rPr b="1"/>
              <a:t>generalizable</a:t>
            </a:r>
            <a:r>
              <a:rPr/>
              <a:t> solutions</a:t>
            </a:r>
            <a:br/>
            <a:r>
              <a:rPr/>
              <a:t>- </a:t>
            </a:r>
            <a:r>
              <a:rPr>
                <a:hlinkClick r:id="rId2"/>
              </a:rPr>
              <a:t>Neural Network Playground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L2 Regularization (Weight Decay)</a:t>
                </a:r>
              </a:p>
              <a:p>
                <a:pPr lvl="0"/>
                <a:r>
                  <a:rPr/>
                  <a:t>Adds a penalty proportional to the </a:t>
                </a:r>
                <a:r>
                  <a:rPr b="1"/>
                  <a:t>square</a:t>
                </a:r>
                <a:r>
                  <a:rPr/>
                  <a:t> of weights</a:t>
                </a:r>
                <a:br/>
              </a:p>
              <a:p>
                <a:pPr lvl="0"/>
                <a:r>
                  <a:rPr/>
                  <a:t>Encourages small, smooth weights</a:t>
                </a:r>
                <a:br/>
              </a:p>
              <a:p>
                <a:pPr lvl="0"/>
                <a:r>
                  <a:rPr/>
                  <a:t>Most common in deep learning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  <m:sty m:val="p"/>
                                  </m:rPr>
                                  <m:t>total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  <m:sty m:val="p"/>
                                  </m:rPr>
                                  <m:t>data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λ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n"/>
                              </m:naryPr>
                              <m:sub>
                                <m:r>
                                  <m:t>i</m:t>
                                </m:r>
                              </m:sub>
                              <m:sup>
                                <m:r>
                                  <m:t>​</m:t>
                                </m:r>
                              </m:sup>
                              <m:e>
                                <m:sSubSup>
                                  <m:e>
                                    <m:r>
                                      <m:t>w</m:t>
                                    </m:r>
                                  </m:e>
                                  <m:sub>
                                    <m:r>
                                      <m:t>i</m:t>
                                    </m:r>
                                  </m:sub>
                                  <m:sup>
                                    <m: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Effects: - Smooths the model</a:t>
                </a:r>
                <a:br/>
                <a:r>
                  <a:rPr/>
                  <a:t>- Reduces variance</a:t>
                </a:r>
                <a:br/>
                <a:r>
                  <a:rPr/>
                  <a:t>- Works well with gradient descent</a:t>
                </a:r>
              </a:p>
            </p:txBody>
          </p:sp>
        </mc:Choice>
      </mc:AlternateContent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L1 Regularization</a:t>
                </a:r>
              </a:p>
              <a:p>
                <a:pPr lvl="0"/>
                <a:r>
                  <a:rPr/>
                  <a:t>Adds a penalty proportional to the </a:t>
                </a:r>
                <a:r>
                  <a:rPr b="1"/>
                  <a:t>absolute value</a:t>
                </a:r>
                <a:r>
                  <a:rPr/>
                  <a:t> of weights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  <m:sty m:val="p"/>
                                  </m:rPr>
                                  <m:t>total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sSub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  <m:sty m:val="p"/>
                                  </m:rPr>
                                  <m:t>data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λ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n"/>
                              </m:naryPr>
                              <m:sub>
                                <m:r>
                                  <m:t>i</m:t>
                                </m:r>
                              </m:sub>
                              <m:sup>
                                <m:r>
                                  <m:t>​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m:t>|</m:t>
                                </m:r>
                              </m:e>
                            </m:nary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|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Effects: - Drives many weights to </a:t>
                </a:r>
                <a:r>
                  <a:rPr b="1"/>
                  <a:t>zero</a:t>
                </a:r>
                <a:br/>
                <a:r>
                  <a:rPr/>
                  <a:t>- Produces </a:t>
                </a:r>
                <a:r>
                  <a:rPr b="1"/>
                  <a:t>sparse</a:t>
                </a:r>
                <a:r>
                  <a:rPr/>
                  <a:t> models</a:t>
                </a:r>
                <a:br/>
                <a:r>
                  <a:rPr/>
                  <a:t>- Useful for feature selection</a:t>
                </a:r>
              </a:p>
            </p:txBody>
          </p:sp>
        </mc:Choice>
      </mc:AlternateContent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L1 vs L2: When to use which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308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Smooth, stable weights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Sparse, interpretable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 learning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L2 (default)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High‑dimensional sparse features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From n‑gram Models to Neural Models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n‑gram era</a:t>
                </a:r>
              </a:p>
              <a:p>
                <a:pPr lvl="0"/>
                <a:r>
                  <a:rPr/>
                  <a:t>Predict next word using counts of previous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words</a:t>
                </a:r>
                <a:br/>
              </a:p>
              <a:p>
                <a:pPr lvl="0"/>
                <a:r>
                  <a:rPr/>
                  <a:t>Simple, fast, interpretable</a:t>
                </a:r>
                <a:br/>
              </a:p>
              <a:p>
                <a:pPr lvl="0"/>
                <a:r>
                  <a:rPr/>
                  <a:t>But suffers from:</a:t>
                </a:r>
              </a:p>
              <a:p>
                <a:pPr lvl="1"/>
                <a:r>
                  <a:rPr b="1"/>
                  <a:t>Data sparsity</a:t>
                </a:r>
                <a:br/>
              </a:p>
              <a:p>
                <a:pPr lvl="1"/>
                <a:r>
                  <a:rPr b="1"/>
                  <a:t>No generalization</a:t>
                </a:r>
                <a:br/>
              </a:p>
              <a:p>
                <a:pPr lvl="1"/>
                <a:r>
                  <a:rPr b="1"/>
                  <a:t>No notion of similarity</a:t>
                </a:r>
                <a:br/>
              </a:p>
              <a:p>
                <a:pPr lvl="1"/>
                <a:r>
                  <a:rPr b="1"/>
                  <a:t>Huge parameter tables</a:t>
                </a:r>
              </a:p>
              <a:p>
                <a:pPr lvl="0" indent="0" marL="0">
                  <a:buNone/>
                </a:pPr>
                <a:r>
                  <a:rPr/>
                  <a:t>Example: - “the cat sat on the ___”</a:t>
                </a:r>
                <a:br/>
                <a:r>
                  <a:rPr/>
                  <a:t>- n‑gram model only knows what it has seen before</a:t>
                </a:r>
              </a:p>
            </p:txBody>
          </p:sp>
        </mc:Choice>
      </mc:AlternateContent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n‑grams Fail</a:t>
            </a:r>
          </a:p>
          <a:p>
            <a:pPr lvl="0"/>
            <a:r>
              <a:rPr/>
              <a:t>Cannot handle unseen sequences</a:t>
            </a:r>
            <a:br/>
          </a:p>
          <a:p>
            <a:pPr lvl="0"/>
            <a:r>
              <a:rPr/>
              <a:t>Cannot share statistical strength across similar words</a:t>
            </a:r>
            <a:br/>
          </a:p>
          <a:p>
            <a:pPr lvl="0"/>
            <a:r>
              <a:rPr/>
              <a:t>Cannot capture long‑range dependencies</a:t>
            </a:r>
            <a:br/>
          </a:p>
          <a:p>
            <a:pPr lvl="0"/>
            <a:r>
              <a:rPr/>
              <a:t>Vocabulary explosion</a:t>
            </a:r>
            <a:br/>
          </a:p>
          <a:p>
            <a:pPr lvl="0"/>
            <a:r>
              <a:rPr/>
              <a:t>No continuous representation of meaning</a:t>
            </a:r>
          </a:p>
          <a:p>
            <a:pPr lvl="0" indent="0" marL="0">
              <a:buNone/>
            </a:pPr>
            <a:r>
              <a:rPr/>
              <a:t>This sets the stage for neural models.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Neural Language Models: The Breakthrough</a:t>
                </a:r>
              </a:p>
              <a:p>
                <a:pPr lvl="0" indent="0" marL="0">
                  <a:buNone/>
                </a:pPr>
                <a:r>
                  <a:rPr/>
                  <a:t>Neural language models solve n‑gram limitations by:</a:t>
                </a:r>
              </a:p>
              <a:p>
                <a:pPr lvl="0"/>
                <a:r>
                  <a:rPr/>
                  <a:t>Learning </a:t>
                </a:r>
                <a:r>
                  <a:rPr b="1"/>
                  <a:t>continuous word vectors</a:t>
                </a:r>
                <a:r>
                  <a:rPr/>
                  <a:t> (embeddings)</a:t>
                </a:r>
                <a:br/>
              </a:p>
              <a:p>
                <a:pPr lvl="0"/>
                <a:r>
                  <a:rPr/>
                  <a:t>Using </a:t>
                </a:r>
                <a:r>
                  <a:rPr b="1"/>
                  <a:t>neural networks</a:t>
                </a:r>
                <a:r>
                  <a:rPr/>
                  <a:t> to model context</a:t>
                </a:r>
                <a:br/>
              </a:p>
              <a:p>
                <a:pPr lvl="0"/>
                <a:r>
                  <a:rPr/>
                  <a:t>Sharing parameters across similar words</a:t>
                </a:r>
                <a:br/>
              </a:p>
              <a:p>
                <a:pPr lvl="0"/>
                <a:r>
                  <a:rPr/>
                  <a:t>Capturing longer‑range dependencies</a:t>
                </a:r>
              </a:p>
              <a:p>
                <a:pPr lvl="0" indent="0" marL="0">
                  <a:buNone/>
                </a:pPr>
                <a:r>
                  <a:rPr/>
                  <a:t>General idea: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∣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NeuralNetwork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embeddings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Neural LM Architecture (Classic)</a:t>
            </a:r>
          </a:p>
          <a:p>
            <a:pPr lvl="0" indent="-457200" marL="457200">
              <a:buAutoNum type="arabicPeriod"/>
            </a:pPr>
            <a:r>
              <a:rPr b="1"/>
              <a:t>Embed</a:t>
            </a:r>
            <a:r>
              <a:rPr/>
              <a:t> each input word</a:t>
            </a:r>
            <a:br/>
          </a:p>
          <a:p>
            <a:pPr lvl="0" indent="-457200" marL="457200">
              <a:buAutoNum type="arabicPeriod"/>
            </a:pPr>
            <a:r>
              <a:rPr b="1"/>
              <a:t>Concatenate</a:t>
            </a:r>
            <a:r>
              <a:rPr/>
              <a:t> embeddings</a:t>
            </a:r>
            <a:br/>
          </a:p>
          <a:p>
            <a:pPr lvl="0" indent="-457200" marL="457200">
              <a:buAutoNum type="arabicPeriod"/>
            </a:pPr>
            <a:r>
              <a:rPr/>
              <a:t>Feed into a </a:t>
            </a:r>
            <a:r>
              <a:rPr b="1"/>
              <a:t>hidden layer</a:t>
            </a:r>
            <a:br/>
          </a:p>
          <a:p>
            <a:pPr lvl="0" indent="-457200" marL="457200">
              <a:buAutoNum type="arabicPeriod"/>
            </a:pPr>
            <a:r>
              <a:rPr/>
              <a:t>Output a </a:t>
            </a:r>
            <a:r>
              <a:rPr b="1"/>
              <a:t>softmax distribution</a:t>
            </a:r>
            <a:r>
              <a:rPr/>
              <a:t> over next words</a:t>
            </a:r>
          </a:p>
          <a:p>
            <a:pPr lvl="0" indent="0" marL="0">
              <a:buNone/>
            </a:pPr>
            <a:r>
              <a:rPr/>
              <a:t>This was the architecture in Bengio et al. (2003), the first neural LM.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Neural LMs Work Better</a:t>
            </a:r>
          </a:p>
          <a:p>
            <a:pPr lvl="0"/>
            <a:r>
              <a:rPr/>
              <a:t>Embeddings capture similarity</a:t>
            </a:r>
            <a:br/>
          </a:p>
          <a:p>
            <a:pPr lvl="0"/>
            <a:r>
              <a:rPr/>
              <a:t>Neural networks generalize to unseen sequences</a:t>
            </a:r>
            <a:br/>
          </a:p>
          <a:p>
            <a:pPr lvl="0"/>
            <a:r>
              <a:rPr/>
              <a:t>Smooth probability distributions</a:t>
            </a:r>
            <a:br/>
          </a:p>
          <a:p>
            <a:pPr lvl="0"/>
            <a:r>
              <a:rPr/>
              <a:t>Better perplexity than n‑grams</a:t>
            </a:r>
            <a:br/>
          </a:p>
          <a:p>
            <a:pPr lvl="0"/>
            <a:r>
              <a:rPr/>
              <a:t>Foundation for:</a:t>
            </a:r>
          </a:p>
          <a:p>
            <a:pPr lvl="1"/>
            <a:r>
              <a:rPr/>
              <a:t>word2vec</a:t>
            </a:r>
            <a:br/>
          </a:p>
          <a:p>
            <a:pPr lvl="1"/>
            <a:r>
              <a:rPr/>
              <a:t>GloVe</a:t>
            </a:r>
            <a:br/>
          </a:p>
          <a:p>
            <a:pPr lvl="1"/>
            <a:r>
              <a:rPr/>
              <a:t>RNNs</a:t>
            </a:r>
            <a:br/>
          </a:p>
          <a:p>
            <a:pPr lvl="1"/>
            <a:r>
              <a:rPr/>
              <a:t>LSTMs</a:t>
            </a:r>
            <a:br/>
          </a:p>
          <a:p>
            <a:pPr lvl="1"/>
            <a:r>
              <a:rPr/>
              <a:t>GRUs</a:t>
            </a:r>
            <a:br/>
          </a:p>
          <a:p>
            <a:pPr lvl="1"/>
            <a:r>
              <a:rPr/>
              <a:t>Transformers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Neural LMs to Modern LMs</a:t>
            </a:r>
          </a:p>
          <a:p>
            <a:pPr lvl="0"/>
            <a:r>
              <a:rPr/>
              <a:t>RNNs → capture sequential structure</a:t>
            </a:r>
            <a:br/>
          </a:p>
          <a:p>
            <a:pPr lvl="0"/>
            <a:r>
              <a:rPr/>
              <a:t>LSTMs/GRUs → handle long‑range dependencies</a:t>
            </a:r>
            <a:br/>
          </a:p>
          <a:p>
            <a:pPr lvl="0"/>
            <a:r>
              <a:rPr/>
              <a:t>Transformers → parallelize and scale</a:t>
            </a:r>
            <a:br/>
          </a:p>
          <a:p>
            <a:pPr lvl="0"/>
            <a:r>
              <a:rPr/>
              <a:t>Today’s LLMs (GPT, PaLM, LLaMA) are </a:t>
            </a:r>
            <a:r>
              <a:rPr b="1"/>
              <a:t>giant neural language models</a:t>
            </a:r>
            <a:r>
              <a:rPr/>
              <a:t> trained on massive corpora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Feedforward Neural Language Models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A feedforward neural language model (NNLM) predicts the next word using a </a:t>
            </a:r>
            <a:r>
              <a:rPr sz="2000" b="1"/>
              <a:t>fixed window</a:t>
            </a:r>
            <a:r>
              <a:rPr sz="2000"/>
              <a:t> of previous words.</a:t>
            </a:r>
            <a:br/>
            <a:r>
              <a:rPr sz="2000"/>
              <a:t>This was the breakthrough model introduced by </a:t>
            </a:r>
            <a:r>
              <a:rPr sz="2000" b="1"/>
              <a:t>Bengio et al. (2003)</a:t>
            </a:r>
            <a:r>
              <a:rPr sz="2000"/>
              <a:t>.</a:t>
            </a:r>
          </a:p>
          <a:p>
            <a:pPr lvl="0"/>
            <a:r>
              <a:rPr/>
              <a:t>Introduced </a:t>
            </a:r>
            <a:r>
              <a:rPr b="1"/>
              <a:t>learned word embeddings</a:t>
            </a:r>
            <a:br/>
          </a:p>
          <a:p>
            <a:pPr lvl="0"/>
            <a:r>
              <a:rPr/>
              <a:t>Replaced sparse n‑gram tables with </a:t>
            </a:r>
            <a:r>
              <a:rPr b="1"/>
              <a:t>dense neural representations</a:t>
            </a:r>
            <a:br/>
          </a:p>
          <a:p>
            <a:pPr lvl="0"/>
            <a:r>
              <a:rPr/>
              <a:t>Enabled </a:t>
            </a:r>
            <a:r>
              <a:rPr b="1"/>
              <a:t>generalization</a:t>
            </a:r>
            <a:r>
              <a:rPr/>
              <a:t> to unseen word sequences</a:t>
            </a:r>
            <a:br/>
          </a:p>
          <a:p>
            <a:pPr lvl="0"/>
            <a:r>
              <a:rPr/>
              <a:t>Dramatically reduced perplexity compared to n‑grams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Architecture Overview</a:t>
                </a:r>
              </a:p>
              <a:p>
                <a:pPr lvl="0" indent="0" marL="0">
                  <a:buNone/>
                </a:pPr>
                <a:r>
                  <a:rPr/>
                  <a:t>Given a context of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words: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m:t>+</m:t>
                                </m:r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model:</a:t>
                </a:r>
              </a:p>
              <a:p>
                <a:pPr lvl="0" indent="-457200" marL="457200">
                  <a:buAutoNum type="arabicPeriod"/>
                </a:pPr>
                <a:r>
                  <a:rPr b="1"/>
                  <a:t>Looks up embeddings</a:t>
                </a:r>
                <a:r>
                  <a:rPr/>
                  <a:t> for each word</a:t>
                </a:r>
                <a:br/>
              </a:p>
              <a:p>
                <a:pPr lvl="0" indent="-457200" marL="457200">
                  <a:buAutoNum type="arabicPeriod"/>
                </a:pPr>
                <a:r>
                  <a:rPr b="1"/>
                  <a:t>Concatenates</a:t>
                </a:r>
                <a:r>
                  <a:rPr/>
                  <a:t> them into a single vector</a:t>
                </a:r>
                <a:br/>
              </a:p>
              <a:p>
                <a:pPr lvl="0" indent="-457200" marL="457200">
                  <a:buAutoNum type="arabicPeriod"/>
                </a:pPr>
                <a:r>
                  <a:rPr/>
                  <a:t>Passes through a </a:t>
                </a:r>
                <a:r>
                  <a:rPr b="1"/>
                  <a:t>hidden layer</a:t>
                </a:r>
                <a:r>
                  <a:rPr/>
                  <a:t> with nonlinearity</a:t>
                </a:r>
                <a:br/>
              </a:p>
              <a:p>
                <a:pPr lvl="0" indent="-457200" marL="457200">
                  <a:buAutoNum type="arabicPeriod"/>
                </a:pPr>
                <a:r>
                  <a:rPr/>
                  <a:t>Outputs a </a:t>
                </a:r>
                <a:r>
                  <a:rPr b="1"/>
                  <a:t>softmax distribution</a:t>
                </a:r>
                <a:r>
                  <a:rPr/>
                  <a:t> over the vocabulary</a:t>
                </a:r>
              </a:p>
            </p:txBody>
          </p:sp>
        </mc:Choice>
      </mc:AlternateContent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Computation Graph</a:t>
                </a:r>
              </a:p>
              <a:p>
                <a:pPr lvl="0"/>
                <a:r>
                  <a:rPr b="1"/>
                  <a:t>Embedding matrix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E</m:t>
                    </m:r>
                  </m:oMath>
                </a14:m>
                <a:r>
                  <a:rPr/>
                  <a:t>: learns distributed word representations</a:t>
                </a:r>
                <a:br/>
              </a:p>
              <a:p>
                <a:pPr lvl="0"/>
                <a:r>
                  <a:rPr b="1"/>
                  <a:t>Hidden layer</a:t>
                </a:r>
                <a:r>
                  <a:rPr/>
                  <a:t>: captures interactions between context words</a:t>
                </a:r>
                <a:br/>
              </a:p>
              <a:p>
                <a:pPr lvl="0"/>
                <a:r>
                  <a:rPr b="1"/>
                  <a:t>Softmax layer</a:t>
                </a:r>
                <a:r>
                  <a:rPr/>
                  <a:t>: produces next‑word probabilities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rPr>
                                <m:nor/>
                                <m:sty m:val="p"/>
                              </m:rPr>
                              <m:t>Input words</m:t>
                            </m:r>
                            <m:r>
                              <m:rPr>
                                <m:sty m:val="p"/>
                              </m:rPr>
                              <m:t>→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Embeddings</m:t>
                            </m:r>
                            <m:r>
                              <m:rPr>
                                <m:sty m:val="p"/>
                              </m:rPr>
                              <m:t>→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Hidden layer</m:t>
                            </m:r>
                            <m:r>
                              <m:rPr>
                                <m:sty m:val="p"/>
                              </m:rPr>
                              <m:t>→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Softmax</m:t>
                            </m:r>
                            <m:r>
                              <m:rPr>
                                <m:sty m:val="p"/>
                              </m:rPr>
                              <m:t>→</m:t>
                            </m:r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Strengths</a:t>
            </a:r>
          </a:p>
          <a:p>
            <a:pPr lvl="0"/>
            <a:r>
              <a:rPr/>
              <a:t>Learns </a:t>
            </a:r>
            <a:r>
              <a:rPr b="1"/>
              <a:t>continuous word vectors</a:t>
            </a:r>
            <a:br/>
          </a:p>
          <a:p>
            <a:pPr lvl="0"/>
            <a:r>
              <a:rPr/>
              <a:t>Generalizes beyond memorized n‑grams</a:t>
            </a:r>
            <a:br/>
          </a:p>
          <a:p>
            <a:pPr lvl="0"/>
            <a:r>
              <a:rPr/>
              <a:t>Smooth probability distribution</a:t>
            </a:r>
            <a:br/>
          </a:p>
          <a:p>
            <a:pPr lvl="0"/>
            <a:r>
              <a:rPr/>
              <a:t>Captures semantic similarity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Limitations</a:t>
            </a:r>
          </a:p>
          <a:p>
            <a:pPr lvl="0"/>
            <a:r>
              <a:rPr/>
              <a:t>Fixed context window → cannot model long‑range dependencies</a:t>
            </a:r>
            <a:br/>
          </a:p>
          <a:p>
            <a:pPr lvl="0"/>
            <a:r>
              <a:rPr/>
              <a:t>Concatenation → parameter explosion</a:t>
            </a:r>
            <a:br/>
          </a:p>
          <a:p>
            <a:pPr lvl="0"/>
            <a:r>
              <a:rPr/>
              <a:t>Slow for large vocabularies (softmax bottleneck)</a:t>
            </a:r>
          </a:p>
          <a:p>
            <a:pPr lvl="0" indent="0" marL="0">
              <a:buNone/>
            </a:pPr>
            <a:r>
              <a:rPr/>
              <a:t>These limitations motivated the move to </a:t>
            </a:r>
            <a:r>
              <a:rPr b="1"/>
              <a:t>recurrent</a:t>
            </a:r>
            <a:r>
              <a:rPr/>
              <a:t> models.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Recurrent Neural Networks (RNNs)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Feedforward models treat each context window independently.</a:t>
            </a:r>
            <a:br/>
          </a:p>
          <a:p>
            <a:pPr lvl="0"/>
            <a:r>
              <a:rPr/>
              <a:t>RNNs introduce </a:t>
            </a:r>
            <a:r>
              <a:rPr b="1"/>
              <a:t>recurrence</a:t>
            </a:r>
            <a:r>
              <a:rPr/>
              <a:t>, allowing the model to maintain a </a:t>
            </a:r>
            <a:r>
              <a:rPr b="1"/>
              <a:t>hidden state</a:t>
            </a:r>
            <a:r>
              <a:rPr/>
              <a:t> that summarizes all previous words.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RNN Architecture</a:t>
                </a:r>
              </a:p>
              <a:p>
                <a:pPr lvl="0" indent="0" marL="0">
                  <a:buNone/>
                </a:pPr>
                <a:r>
                  <a:rPr/>
                  <a:t>At each time step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tanh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h</m:t>
                                </m:r>
                              </m:sub>
                            </m:sSub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+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x</m:t>
                                </m:r>
                              </m:sub>
                            </m:sSub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b</m:t>
                            </m:r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∣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m:t>&lt;</m:t>
                                </m:r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softmax</m:t>
                            </m:r>
                            <m:r>
                              <m:rPr>
                                <m:sty m:val="p"/>
                              </m:rPr>
                              <m:t>(</m:t>
                            </m:r>
                            <m:sSub>
                              <m:e>
                                <m:r>
                                  <m:t>W</m:t>
                                </m:r>
                              </m:e>
                              <m:sub>
                                <m:r>
                                  <m:t>o</m:t>
                                </m:r>
                              </m:sub>
                            </m:sSub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 -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= embedding of current word</a:t>
                </a:r>
                <a:br/>
                <a:r>
                  <a:rPr/>
                  <a:t>-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= hidden state (memory)</a:t>
                </a:r>
                <a:br/>
                <a:r>
                  <a:rPr/>
                  <a:t>-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  <a:r>
                  <a:rPr/>
                  <a:t> = learned parameters</a:t>
                </a:r>
              </a:p>
            </p:txBody>
          </p:sp>
        </mc:Choice>
      </mc:AlternateContent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Intuition</a:t>
                </a:r>
              </a:p>
              <a:p>
                <a:pPr lvl="0"/>
                <a:r>
                  <a:rPr/>
                  <a:t>The hidden state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acts as a </a:t>
                </a:r>
                <a:r>
                  <a:rPr b="1"/>
                  <a:t>summary</a:t>
                </a:r>
                <a:r>
                  <a:rPr/>
                  <a:t> of all previous words</a:t>
                </a:r>
                <a:br/>
              </a:p>
              <a:p>
                <a:pPr lvl="0"/>
                <a:r>
                  <a:rPr/>
                  <a:t>The model can, in principle, capture </a:t>
                </a:r>
                <a:r>
                  <a:rPr b="1"/>
                  <a:t>long‑range dependencies</a:t>
                </a:r>
                <a:br/>
              </a:p>
              <a:p>
                <a:pPr lvl="0"/>
                <a:r>
                  <a:rPr/>
                  <a:t>The same parameters are reused at every time step → efficient and elegant</a:t>
                </a:r>
              </a:p>
            </p:txBody>
          </p:sp>
        </mc:Choice>
      </mc:AlternateContent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Strengths of RNNs</a:t>
            </a:r>
          </a:p>
          <a:p>
            <a:pPr lvl="0"/>
            <a:r>
              <a:rPr/>
              <a:t>Variable‑length context</a:t>
            </a:r>
            <a:br/>
          </a:p>
          <a:p>
            <a:pPr lvl="0"/>
            <a:r>
              <a:rPr/>
              <a:t>Parameter sharing across time</a:t>
            </a:r>
            <a:br/>
          </a:p>
          <a:p>
            <a:pPr lvl="0"/>
            <a:r>
              <a:rPr/>
              <a:t>Better modeling of sequential structure</a:t>
            </a:r>
            <a:br/>
          </a:p>
          <a:p>
            <a:pPr lvl="0"/>
            <a:r>
              <a:rPr/>
              <a:t>Foundation for LSTMs, GRUs, and Transformers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Weaknesses</a:t>
            </a:r>
          </a:p>
          <a:p>
            <a:pPr lvl="0"/>
            <a:r>
              <a:rPr/>
              <a:t>Hard to train due to </a:t>
            </a:r>
            <a:r>
              <a:rPr b="1"/>
              <a:t>vanishing/exploding gradients</a:t>
            </a:r>
            <a:br/>
          </a:p>
          <a:p>
            <a:pPr lvl="0"/>
            <a:r>
              <a:rPr/>
              <a:t>Struggles with very long dependencies</a:t>
            </a:r>
            <a:br/>
          </a:p>
          <a:p>
            <a:pPr lvl="0"/>
            <a:r>
              <a:rPr/>
              <a:t>Slow sequential computation</a:t>
            </a:r>
          </a:p>
          <a:p>
            <a:pPr lvl="0" indent="0" marL="0">
              <a:buNone/>
            </a:pPr>
            <a:r>
              <a:rPr/>
              <a:t>These issues led to improved architectures (LSTM, GRU) and eventually Transformers.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Backpropagation Through Time (BPTT)</a:t>
                </a:r>
              </a:p>
              <a:p>
                <a:pPr lvl="0"/>
                <a:r>
                  <a:rPr/>
                  <a:t>RNNs reuse the same parameters at every time step.</a:t>
                </a:r>
                <a:br/>
              </a:p>
              <a:p>
                <a:pPr lvl="0"/>
                <a:r>
                  <a:rPr/>
                  <a:t>To train them, we must compute gradients </a:t>
                </a:r>
                <a:r>
                  <a:rPr b="1"/>
                  <a:t>through the entire sequence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To compute gradients, we “unroll” the RNN across time: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→</m:t>
                            </m:r>
                            <m:r>
                              <m:rPr>
                                <m:sty m:val="p"/>
                              </m:rPr>
                              <m:t>…</m:t>
                            </m:r>
                            <m:r>
                              <m:rPr>
                                <m:sty m:val="p"/>
                              </m:rPr>
                              <m:t>→</m:t>
                            </m:r>
                            <m:sSub>
                              <m:e>
                                <m:r>
                                  <m:t>h</m:t>
                                </m:r>
                              </m:e>
                              <m:sub>
                                <m:r>
                                  <m:t>T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creates a long computation graph.</a:t>
                </a:r>
              </a:p>
            </p:txBody>
          </p:sp>
        </mc:Choice>
      </mc:AlternateContent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339E9-0218-C9F1-C6E6-3BBBCEA72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Applying the Chain Rule</a:t>
                </a:r>
              </a:p>
              <a:p>
                <a:pPr lvl="0" indent="0" marL="0">
                  <a:buNone/>
                </a:pPr>
                <a:r>
                  <a:rPr/>
                  <a:t>The gradient of the loss with respect to parameters (e.g., </a:t>
                </a:r>
                <a14:m>
                  <m:oMath xmlns:m="http://schemas.openxmlformats.org/officeDocument/2006/math">
                    <m:sSub>
                      <m:e>
                        <m:r>
                          <m:t>W</m:t>
                        </m:r>
                      </m:e>
                      <m:sub>
                        <m:r>
                          <m:t>h</m:t>
                        </m:r>
                      </m:sub>
                    </m:sSub>
                  </m:oMath>
                </a14:m>
                <a:r>
                  <a:rPr/>
                  <a:t>) depends on </a:t>
                </a:r>
                <a:r>
                  <a:rPr b="1"/>
                  <a:t>all time steps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r>
                                  <m:t>L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sSub>
                                  <m:e>
                                    <m:r>
                                      <m:t>W</m:t>
                                    </m:r>
                                  </m:e>
                                  <m:sub>
                                    <m:r>
                                      <m:t>h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t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T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m:t>∂</m:t>
                                    </m:r>
                                    <m:r>
                                      <m:t>L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m:t>∂</m:t>
                                    </m:r>
                                    <m:sSub>
                                      <m:e>
                                        <m: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m:t>t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nary>
                            <m:r>
                              <m:rPr>
                                <m:sty m:val="p"/>
                              </m:rPr>
                              <m:t>⋅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sSub>
                                  <m:e>
                                    <m:r>
                                      <m:t>h</m:t>
                                    </m:r>
                                  </m:e>
                                  <m:sub>
                                    <m:r>
                                      <m:t>t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m:t>∂</m:t>
                                </m:r>
                                <m:sSub>
                                  <m:e>
                                    <m:r>
                                      <m:t>W</m:t>
                                    </m:r>
                                  </m:e>
                                  <m:sub>
                                    <m:r>
                                      <m:t>h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where vanishing/exploding gradients arise.</a:t>
                </a:r>
              </a:p>
            </p:txBody>
          </p:sp>
        </mc:Choice>
      </mc:AlternateContent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Vanishing Gradients</a:t>
            </a:r>
          </a:p>
          <a:p>
            <a:pPr lvl="0"/>
            <a:r>
              <a:rPr/>
              <a:t>Repeated multiplication by derivatives &lt; 1</a:t>
            </a:r>
            <a:br/>
          </a:p>
          <a:p>
            <a:pPr lvl="0"/>
            <a:r>
              <a:rPr/>
              <a:t>Gradients shrink exponentially</a:t>
            </a:r>
            <a:br/>
          </a:p>
          <a:p>
            <a:pPr lvl="0"/>
            <a:r>
              <a:rPr/>
              <a:t>Model fails to learn long‑range dependencies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Exploding Gradients</a:t>
            </a:r>
          </a:p>
          <a:p>
            <a:pPr lvl="0"/>
            <a:r>
              <a:rPr/>
              <a:t>Repeated multiplication by derivatives &gt; 1</a:t>
            </a:r>
            <a:br/>
          </a:p>
          <a:p>
            <a:pPr lvl="0"/>
            <a:r>
              <a:rPr/>
              <a:t>Gradients blow up</a:t>
            </a:r>
            <a:br/>
          </a:p>
          <a:p>
            <a:pPr lvl="0"/>
            <a:r>
              <a:rPr/>
              <a:t>Training becomes unstable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Solutions</a:t>
            </a:r>
          </a:p>
          <a:p>
            <a:pPr lvl="0"/>
            <a:r>
              <a:rPr/>
              <a:t>Gradient clipping</a:t>
            </a:r>
            <a:br/>
          </a:p>
          <a:p>
            <a:pPr lvl="0"/>
            <a:r>
              <a:rPr/>
              <a:t>Better architectures (LSTM, GRU)</a:t>
            </a:r>
            <a:br/>
          </a:p>
          <a:p>
            <a:pPr lvl="0"/>
            <a:r>
              <a:rPr/>
              <a:t>Layer normalization</a:t>
            </a:r>
            <a:br/>
          </a:p>
          <a:p>
            <a:pPr lvl="0"/>
            <a:r>
              <a:rPr/>
              <a:t>Residual connections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Putting It All Together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Feedforward NNLM</a:t>
            </a:r>
          </a:p>
          <a:p>
            <a:pPr lvl="0"/>
            <a:r>
              <a:rPr/>
              <a:t>Fixed window</a:t>
            </a:r>
            <a:br/>
          </a:p>
          <a:p>
            <a:pPr lvl="0"/>
            <a:r>
              <a:rPr/>
              <a:t>Learns embeddings</a:t>
            </a:r>
            <a:br/>
          </a:p>
          <a:p>
            <a:pPr lvl="0"/>
            <a:r>
              <a:rPr/>
              <a:t>Limited context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RNN</a:t>
            </a:r>
          </a:p>
          <a:p>
            <a:pPr lvl="0"/>
            <a:r>
              <a:rPr/>
              <a:t>Variable‑length context</a:t>
            </a:r>
            <a:br/>
          </a:p>
          <a:p>
            <a:pPr lvl="0"/>
            <a:r>
              <a:rPr/>
              <a:t>Hidden state carries memory</a:t>
            </a:r>
            <a:br/>
          </a:p>
          <a:p>
            <a:pPr lvl="0"/>
            <a:r>
              <a:rPr/>
              <a:t>Hard to train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BPTT</a:t>
            </a:r>
          </a:p>
          <a:p>
            <a:pPr lvl="0"/>
            <a:r>
              <a:rPr/>
              <a:t>Computes gradients through time</a:t>
            </a:r>
            <a:br/>
          </a:p>
          <a:p>
            <a:pPr lvl="0"/>
            <a:r>
              <a:rPr/>
              <a:t>Suffers from vanishing/exploding gradients</a:t>
            </a:r>
            <a:br/>
          </a:p>
          <a:p>
            <a:pPr lvl="0"/>
            <a:r>
              <a:rPr/>
              <a:t>Motivates LSTMs, GRUs, Transformers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</dc:creator>
  <cp:keywords/>
  <dc:description>Presentation slides for Module 2 on Mathematical Foundations Through Language Modeling.</dc:description>
  <dcterms:created xsi:type="dcterms:W3CDTF">2026-04-30T20:00:41Z</dcterms:created>
  <dcterms:modified xsi:type="dcterms:W3CDTF">2026-04-30T20:00:41Z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ategorie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April 30, 2026</vt:lpwstr>
  </property>
  <property fmtid="{D5CDD505-2E9C-101B-9397-08002B2CF9AE}" pid="14" name="editor">
    <vt:lpwstr/>
  </property>
  <property fmtid="{D5CDD505-2E9C-101B-9397-08002B2CF9AE}" pid="15" name="engines">
    <vt:lpwstr/>
  </property>
  <property fmtid="{D5CDD505-2E9C-101B-9397-08002B2CF9AE}" pid="16" name="execute">
    <vt:lpwstr/>
  </property>
  <property fmtid="{D5CDD505-2E9C-101B-9397-08002B2CF9AE}" pid="17" name="header-includes">
    <vt:lpwstr/>
  </property>
  <property fmtid="{D5CDD505-2E9C-101B-9397-08002B2CF9AE}" pid="18" name="include-after">
    <vt:lpwstr/>
  </property>
  <property fmtid="{D5CDD505-2E9C-101B-9397-08002B2CF9AE}" pid="19" name="include-before">
    <vt:lpwstr/>
  </property>
  <property fmtid="{D5CDD505-2E9C-101B-9397-08002B2CF9AE}" pid="20" name="labels">
    <vt:lpwstr/>
  </property>
  <property fmtid="{D5CDD505-2E9C-101B-9397-08002B2CF9AE}" pid="21" name="logo">
    <vt:lpwstr>../theme/figures/met_signature_toptier_rgb.png</vt:lpwstr>
  </property>
  <property fmtid="{D5CDD505-2E9C-101B-9397-08002B2CF9AE}" pid="22" name="monofont">
    <vt:lpwstr>Roboto</vt:lpwstr>
  </property>
  <property fmtid="{D5CDD505-2E9C-101B-9397-08002B2CF9AE}" pid="23" name="resources">
    <vt:lpwstr/>
  </property>
  <property fmtid="{D5CDD505-2E9C-101B-9397-08002B2CF9AE}" pid="24" name="subtitle">
    <vt:lpwstr>Mathematical Foundations Through Language Modeling</vt:lpwstr>
  </property>
  <property fmtid="{D5CDD505-2E9C-101B-9397-08002B2CF9AE}" pid="25" name="title-slide-attributes">
    <vt:lpwstr/>
  </property>
  <property fmtid="{D5CDD505-2E9C-101B-9397-08002B2CF9AE}" pid="26" name="toc-title">
    <vt:lpwstr>Table of contents</vt:lpwstr>
  </property>
</Properties>
</file>