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news.mit.edu/2023/explained-generative-ai-1109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Generative AI &amp; Business Applications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the breadth of generative AI technologies</a:t>
            </a:r>
          </a:p>
          <a:p>
            <a:pPr lvl="0"/>
            <a:r>
              <a:rPr/>
              <a:t>Explore core generative model architectures</a:t>
            </a:r>
          </a:p>
          <a:p>
            <a:pPr lvl="0"/>
            <a:r>
              <a:rPr/>
              <a:t>Gain insights into practical applications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 systems that can create new content</a:t>
            </a:r>
          </a:p>
          <a:p>
            <a:pPr lvl="0" indent="0" marL="0">
              <a:buNone/>
            </a:pPr>
            <a:r>
              <a:rPr/>
              <a:t>Generative AI can be thought of as a machine-learning model that is trained to create new data, rather than making a prediction about a specific dataset. A generative AI system is one that learns to generate more objects that look like the data it was trained on (Zewe 2023).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Core Characteristics:</a:t>
            </a:r>
          </a:p>
          <a:p>
            <a:pPr lvl="1"/>
            <a:r>
              <a:rPr/>
              <a:t>Learning from existing data</a:t>
            </a:r>
          </a:p>
          <a:p>
            <a:pPr lvl="1"/>
            <a:r>
              <a:rPr/>
              <a:t>Generating novel, contextually relevant outputs</a:t>
            </a:r>
          </a:p>
          <a:p>
            <a:pPr lvl="1"/>
            <a:r>
              <a:rPr/>
              <a:t>Spanning multiple modalities (text, image, code, audio)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Model Landscape: Key Generative Model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Foundation Models and Algorithms</a:t>
            </a:r>
          </a:p>
          <a:p>
            <a:pPr lvl="1"/>
            <a:r>
              <a:rPr/>
              <a:t>Convolutional Neural Networks (CNNs)</a:t>
            </a:r>
          </a:p>
          <a:p>
            <a:pPr lvl="1"/>
            <a:r>
              <a:rPr/>
              <a:t>Recurrent Neural Networks (RNNs)</a:t>
            </a:r>
          </a:p>
          <a:p>
            <a:pPr lvl="1"/>
            <a:r>
              <a:rPr/>
              <a:t>Transformer Architecture</a:t>
            </a:r>
          </a:p>
          <a:p>
            <a:pPr lvl="1"/>
            <a:r>
              <a:rPr/>
              <a:t>Generative Adversarial Networks (GANs)</a:t>
            </a:r>
          </a:p>
          <a:p>
            <a:pPr lvl="0"/>
            <a:r>
              <a:rPr/>
              <a:t>Language Models</a:t>
            </a:r>
          </a:p>
          <a:p>
            <a:pPr lvl="1"/>
            <a:r>
              <a:rPr/>
              <a:t>GPT (Generative Pre-trained Transformer)</a:t>
            </a:r>
          </a:p>
          <a:p>
            <a:pPr lvl="1"/>
            <a:r>
              <a:rPr/>
              <a:t>BERT (Bidirectional Encoder Representations)</a:t>
            </a:r>
          </a:p>
          <a:p>
            <a:pPr lvl="0"/>
            <a:r>
              <a:rPr/>
              <a:t>Image Generation Models</a:t>
            </a:r>
          </a:p>
          <a:p>
            <a:pPr lvl="1"/>
            <a:r>
              <a:rPr/>
              <a:t>DALL-E</a:t>
            </a:r>
          </a:p>
          <a:p>
            <a:pPr lvl="1"/>
            <a:r>
              <a:rPr/>
              <a:t>Stable Diffusion</a:t>
            </a:r>
          </a:p>
          <a:p>
            <a:pPr lvl="1"/>
            <a:r>
              <a:rPr/>
              <a:t>Midjourney</a:t>
            </a:r>
          </a:p>
          <a:p>
            <a:pPr lvl="0"/>
            <a:r>
              <a:rPr/>
              <a:t>Multimodal Models</a:t>
            </a:r>
          </a:p>
          <a:p>
            <a:pPr lvl="1"/>
            <a:r>
              <a:rPr/>
              <a:t>Amazon Nova</a:t>
            </a:r>
          </a:p>
          <a:p>
            <a:pPr lvl="1"/>
            <a:r>
              <a:rPr/>
              <a:t>Meta Llama</a:t>
            </a:r>
          </a:p>
          <a:p>
            <a:pPr lvl="1"/>
            <a:r>
              <a:rPr/>
              <a:t>Gemini</a:t>
            </a:r>
          </a:p>
          <a:p>
            <a:pPr lvl="1"/>
            <a:r>
              <a:rPr/>
              <a:t>GPT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NLP prior to embeddings and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Pre-Embedding NLP Representations: Bag of Words</a:t>
            </a:r>
          </a:p>
          <a:p>
            <a:pPr lvl="0"/>
            <a:r>
              <a:rPr/>
              <a:t>Discrete, non-contextual representation of text</a:t>
            </a:r>
          </a:p>
          <a:p>
            <a:pPr lvl="0"/>
            <a:r>
              <a:rPr/>
              <a:t>Treats documents as unordered collections of words</a:t>
            </a:r>
          </a:p>
          <a:p>
            <a:pPr lvl="0"/>
            <a:r>
              <a:rPr/>
              <a:t>Loses semantic meaning and word order</a:t>
            </a:r>
          </a:p>
          <a:p>
            <a:pPr lvl="0"/>
            <a:r>
              <a:rPr/>
              <a:t>High dimensionality with sparse vectors</a:t>
            </a:r>
          </a:p>
          <a:p>
            <a:pPr lvl="0"/>
            <a:r>
              <a:rPr/>
              <a:t>No understanding of word relationships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Origins of Modern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Word2Vec paper Paper, Explainer video for word embeddings</a:t>
            </a:r>
          </a:p>
          <a:p>
            <a:pPr lvl="0"/>
            <a:r>
              <a:rPr/>
              <a:t>Breakthrough in sequence-to-sequence learning</a:t>
            </a:r>
          </a:p>
          <a:p>
            <a:pPr lvl="0"/>
            <a:r>
              <a:rPr/>
              <a:t>Replaced previous RNN and LSTM architectures</a:t>
            </a:r>
          </a:p>
          <a:p>
            <a:pPr lvl="0"/>
            <a:r>
              <a:rPr/>
              <a:t>Enabled dense, contextual word representations</a:t>
            </a:r>
          </a:p>
          <a:p>
            <a:pPr lvl="0"/>
            <a:r>
              <a:rPr/>
              <a:t>Captured semantic relationships between words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Components of Transformer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Introduced in “Attention Is All You Need” (Google, 2017). Paper, Explainer video and also this video</a:t>
            </a:r>
          </a:p>
          <a:p>
            <a:pPr lvl="0" indent="-457200" marL="457200">
              <a:buAutoNum type="arabicPeriod"/>
            </a:pPr>
            <a:r>
              <a:rPr/>
              <a:t>MUST READ: The Illustrated Transformer</a:t>
            </a:r>
          </a:p>
          <a:p>
            <a:pPr lvl="0" indent="-457200" marL="457200">
              <a:buAutoNum type="arabicPeriod"/>
            </a:pPr>
            <a:r>
              <a:rPr/>
              <a:t>Key Building Blocks</a:t>
            </a:r>
          </a:p>
          <a:p>
            <a:pPr lvl="0" indent="-457200" marL="457200">
              <a:buAutoNum type="arabicPeriod"/>
            </a:pPr>
            <a:r>
              <a:rPr/>
              <a:t>Self-Attention Mechanism</a:t>
            </a:r>
          </a:p>
          <a:p>
            <a:pPr lvl="0"/>
            <a:r>
              <a:rPr/>
              <a:t>Allows model to weigh importance of different parts of input</a:t>
            </a:r>
          </a:p>
          <a:p>
            <a:pPr lvl="0"/>
            <a:r>
              <a:rPr/>
              <a:t>Captures contextual relationships dynamically</a:t>
            </a:r>
          </a:p>
          <a:p>
            <a:pPr lvl="0"/>
            <a:r>
              <a:rPr/>
              <a:t>Enables parallel processing of entire sequences</a:t>
            </a:r>
          </a:p>
          <a:p>
            <a:pPr lvl="0" indent="-457200" marL="457200">
              <a:buAutoNum startAt="2" type="arabicPeriod"/>
            </a:pPr>
            <a:r>
              <a:rPr/>
              <a:t>Positional Encoding</a:t>
            </a:r>
          </a:p>
          <a:p>
            <a:pPr lvl="0"/>
            <a:r>
              <a:rPr/>
              <a:t>Adds location information to input embeddings</a:t>
            </a:r>
          </a:p>
          <a:p>
            <a:pPr lvl="0"/>
            <a:r>
              <a:rPr/>
              <a:t>Crucial for understanding sequence order</a:t>
            </a:r>
          </a:p>
          <a:p>
            <a:pPr lvl="0"/>
            <a:r>
              <a:rPr/>
              <a:t>Enables models to understand context beyond word positioning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Self-Attention Mechanism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Self-Airieniion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Components:</a:t>
            </a:r>
          </a:p>
          <a:p>
            <a:pPr lvl="0"/>
            <a:r>
              <a:rPr/>
              <a:t>Query (Q)</a:t>
            </a:r>
          </a:p>
          <a:p>
            <a:pPr lvl="0"/>
            <a:r>
              <a:rPr/>
              <a:t>Key (K)</a:t>
            </a:r>
          </a:p>
          <a:p>
            <a:pPr lvl="0"/>
            <a:r>
              <a:rPr/>
              <a:t>Value (V)</a:t>
            </a:r>
          </a:p>
          <a:p>
            <a:pPr lvl="0"/>
            <a:r>
              <a:rPr/>
              <a:t>Attention Calculation:</a:t>
            </a:r>
          </a:p>
          <a:p>
            <a:pPr lvl="0" indent="-457200" marL="457200">
              <a:buAutoNum type="arabicPeriod"/>
            </a:pPr>
            <a:r>
              <a:rPr/>
              <a:t>Generate Q, K, V matrices</a:t>
            </a:r>
          </a:p>
          <a:p>
            <a:pPr lvl="0" indent="-457200" marL="457200">
              <a:buAutoNum type="arabicPeriod"/>
            </a:pPr>
            <a:r>
              <a:rPr/>
              <a:t>Compute attention scores</a:t>
            </a:r>
          </a:p>
          <a:p>
            <a:pPr lvl="0" indent="-457200" marL="457200">
              <a:buAutoNum type="arabicPeriod"/>
            </a:pPr>
            <a:r>
              <a:rPr/>
              <a:t>Apply softmax</a:t>
            </a:r>
          </a:p>
          <a:p>
            <a:pPr lvl="0" indent="-457200" marL="457200">
              <a:buAutoNum type="arabicPeriod"/>
            </a:pPr>
            <a:r>
              <a:rPr/>
              <a:t>Create weighted representation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Architecture Visualization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Encoder-Decoder Siruciure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Encoder</a:t>
            </a:r>
          </a:p>
          <a:p>
            <a:pPr lvl="0"/>
            <a:r>
              <a:rPr/>
              <a:t>Processes input sequence</a:t>
            </a:r>
          </a:p>
          <a:p>
            <a:pPr lvl="0"/>
            <a:r>
              <a:rPr/>
              <a:t>Generates contextual representations</a:t>
            </a:r>
          </a:p>
          <a:p>
            <a:pPr lvl="0"/>
            <a:r>
              <a:rPr/>
              <a:t>Decoder</a:t>
            </a:r>
          </a:p>
          <a:p>
            <a:pPr lvl="0"/>
            <a:r>
              <a:rPr/>
              <a:t>Generates output sequence</a:t>
            </a:r>
          </a:p>
          <a:p>
            <a:pPr lvl="0"/>
            <a:r>
              <a:rPr/>
              <a:t>Uses encoder representations</a:t>
            </a:r>
          </a:p>
          <a:p>
            <a:pPr lvl="0"/>
            <a:r>
              <a:rPr/>
              <a:t>Multi-Head Attention</a:t>
            </a:r>
          </a:p>
          <a:p>
            <a:pPr lvl="0"/>
            <a:r>
              <a:rPr/>
              <a:t>Multiple attention mechanisms in parallel</a:t>
            </a:r>
          </a:p>
          <a:p>
            <a:pPr lvl="0"/>
            <a:r>
              <a:rPr/>
              <a:t>Captures different types of dependencies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Advantages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Transformers Changed Everything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Parallel Processing</a:t>
            </a:r>
          </a:p>
          <a:p>
            <a:pPr lvl="0"/>
            <a:r>
              <a:rPr/>
              <a:t>Unlike RNNs, can process entire sequences simultaneously</a:t>
            </a:r>
          </a:p>
          <a:p>
            <a:pPr lvl="0"/>
            <a:r>
              <a:rPr/>
              <a:t>Long-Range Dependencies</a:t>
            </a:r>
          </a:p>
          <a:p>
            <a:pPr lvl="0"/>
            <a:r>
              <a:rPr/>
              <a:t>Effectively capture distant contextual relationships</a:t>
            </a:r>
          </a:p>
          <a:p>
            <a:pPr lvl="0"/>
            <a:r>
              <a:rPr/>
              <a:t>Scalability</a:t>
            </a:r>
          </a:p>
          <a:p>
            <a:pPr lvl="0"/>
            <a:r>
              <a:rPr/>
              <a:t>Easily parallelizable</a:t>
            </a:r>
          </a:p>
          <a:p>
            <a:pPr lvl="0"/>
            <a:r>
              <a:rPr/>
              <a:t>Supports massive model architectures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Challenges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Architecture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Computational Complexity</a:t>
            </a:r>
          </a:p>
          <a:p>
            <a:pPr lvl="0"/>
            <a:r>
              <a:rPr/>
              <a:t>Quadratic complexity with sequence length</a:t>
            </a:r>
          </a:p>
          <a:p>
            <a:pPr lvl="0"/>
            <a:r>
              <a:rPr/>
              <a:t>Memory Requirements</a:t>
            </a:r>
          </a:p>
          <a:p>
            <a:pPr lvl="0"/>
            <a:r>
              <a:rPr/>
              <a:t>Large models need significant computational resources</a:t>
            </a:r>
          </a:p>
          <a:p>
            <a:pPr lvl="0"/>
            <a:r>
              <a:rPr/>
              <a:t>Potential Mitigation Strategies</a:t>
            </a:r>
          </a:p>
          <a:p>
            <a:pPr lvl="0"/>
            <a:r>
              <a:rPr/>
              <a:t>Sparse Attention</a:t>
            </a:r>
          </a:p>
          <a:p>
            <a:pPr lvl="0"/>
            <a:r>
              <a:rPr/>
              <a:t>Efficient Transformer variants</a:t>
            </a:r>
          </a:p>
          <a:p>
            <a:pPr lvl="0"/>
            <a:r>
              <a:rPr/>
              <a:t>Model distillation techniques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Implications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Transformers in 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Natural Language Processing</a:t>
            </a:r>
          </a:p>
          <a:p>
            <a:pPr lvl="0"/>
            <a:r>
              <a:rPr/>
              <a:t>Machine Translation</a:t>
            </a:r>
          </a:p>
          <a:p>
            <a:pPr lvl="0"/>
            <a:r>
              <a:rPr/>
              <a:t>Code Generation</a:t>
            </a:r>
          </a:p>
          <a:p>
            <a:pPr lvl="0"/>
            <a:r>
              <a:rPr/>
              <a:t>Multimodal AI Systems</a:t>
            </a:r>
          </a:p>
          <a:p>
            <a:pPr lvl="0"/>
            <a:r>
              <a:rPr/>
              <a:t>Conversational AI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and Deep Dive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Learning Materials</a:t>
            </a:r>
          </a:p>
          <a:p>
            <a:pPr lvl="0" indent="-457200" marL="457200">
              <a:buAutoNum type="arabicPeriod"/>
            </a:pPr>
            <a:r>
              <a:rPr/>
              <a:t>Foundational Papers</a:t>
            </a:r>
          </a:p>
          <a:p>
            <a:pPr lvl="0"/>
            <a:r>
              <a:rPr/>
              <a:t>“Efficient Estimation of Word Representations in Vector Space” (Mikolov et al., 2013)</a:t>
            </a:r>
          </a:p>
          <a:p>
            <a:pPr lvl="0"/>
            <a:r>
              <a:rPr/>
              <a:t>Word2Vec: Pioneering word embedding techniques</a:t>
            </a:r>
          </a:p>
          <a:p>
            <a:pPr lvl="0"/>
            <a:r>
              <a:rPr/>
              <a:t>“Attention Is All You Need” (Vaswani et al., 2017)</a:t>
            </a:r>
          </a:p>
          <a:p>
            <a:pPr lvl="0"/>
            <a:r>
              <a:rPr/>
              <a:t>Original Transformer architecture paper</a:t>
            </a:r>
          </a:p>
          <a:p>
            <a:pPr lvl="0" indent="-457200" marL="457200">
              <a:buAutoNum startAt="2" type="arabicPeriod"/>
            </a:pPr>
            <a:r>
              <a:rPr/>
              <a:t>Practical Implementation Resources</a:t>
            </a:r>
          </a:p>
          <a:p>
            <a:pPr lvl="0"/>
            <a:r>
              <a:rPr/>
              <a:t>Karpathy’s nanoGPT</a:t>
            </a:r>
          </a:p>
          <a:p>
            <a:pPr lvl="0"/>
            <a:r>
              <a:rPr/>
              <a:t>GitHub: https://github.com/karpathy/nanoGPT</a:t>
            </a:r>
          </a:p>
          <a:p>
            <a:pPr lvl="0"/>
            <a:r>
              <a:rPr/>
              <a:t>Minimalist GPT implementation</a:t>
            </a:r>
          </a:p>
          <a:p>
            <a:pPr lvl="0"/>
            <a:r>
              <a:rPr/>
              <a:t>Educational reference for transformer internals</a:t>
            </a:r>
          </a:p>
          <a:p>
            <a:pPr lvl="0" indent="-457200" marL="457200">
              <a:buAutoNum startAt="3" type="arabicPeriod"/>
            </a:pPr>
            <a:r>
              <a:rPr/>
              <a:t>Video Explanations</a:t>
            </a:r>
          </a:p>
          <a:p>
            <a:pPr lvl="0"/>
            <a:r>
              <a:rPr/>
              <a:t>Andrej Karpathy’s “LLMs in a Hurry”</a:t>
            </a:r>
          </a:p>
          <a:p>
            <a:pPr lvl="0"/>
            <a:r>
              <a:rPr/>
              <a:t>video: Comprehensive overview of LLM internals</a:t>
            </a:r>
          </a:p>
          <a:p>
            <a:pPr lvl="0"/>
            <a:r>
              <a:rPr/>
              <a:t>3Blue1Brown Transformer Visualization</a:t>
            </a:r>
          </a:p>
          <a:p>
            <a:pPr lvl="0"/>
            <a:r>
              <a:rPr/>
              <a:t>video: Intuitive mathematical explanation</a:t>
            </a:r>
          </a:p>
          <a:p>
            <a:pPr lvl="0" indent="-457200" marL="457200">
              <a:buAutoNum startAt="4" type="arabicPeriod"/>
            </a:pPr>
            <a:r>
              <a:rPr/>
              <a:t>Online Resources</a:t>
            </a:r>
          </a:p>
          <a:p>
            <a:pPr lvl="0"/>
            <a:r>
              <a:rPr/>
              <a:t>Hugging Face Transformer Documentation</a:t>
            </a:r>
          </a:p>
          <a:p>
            <a:pPr lvl="0"/>
            <a:r>
              <a:rPr/>
              <a:t>Jay Alammar’s “Illustrated Transformer”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Week Preview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Focus: In-Context’ Learning (ICL)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Few-shot learning mechanisms</a:t>
            </a:r>
          </a:p>
          <a:p>
            <a:pPr lvl="0"/>
            <a:r>
              <a:rPr/>
              <a:t>Practical ICL implementation</a:t>
            </a:r>
          </a:p>
          <a:p>
            <a:pPr lvl="0"/>
            <a:r>
              <a:rPr/>
              <a:t>Advanced prompt engineering techniques</a:t>
            </a:r>
          </a:p>
          <a:p>
            <a:pPr lvl="0" indent="0" marL="0">
              <a:buNone/>
            </a:pPr>
            <a:r>
              <a:rPr/>
              <a:t>Zewe, A. 2023. “Explained: Generative AI,” </a:t>
            </a:r>
            <a:r>
              <a:rPr i="1"/>
              <a:t>MIT News</a:t>
            </a:r>
            <a:r>
              <a:rPr/>
              <a:t>. (</a:t>
            </a:r>
            <a:r>
              <a:rPr>
                <a:hlinkClick r:id="rId2"/>
              </a:rPr>
              <a:t>https://news.mit.edu/2023/explained-generative-ai-1109</a:t>
            </a:r>
            <a:r>
              <a:rPr/>
              <a:t>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Padalkar; Author Two</dc:creator>
  <cp:keywords/>
  <dcterms:created xsi:type="dcterms:W3CDTF">2025-11-20T15:41:37Z</dcterms:created>
  <dcterms:modified xsi:type="dcterms:W3CDTF">2025-11-20T15:41:37Z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November 20, 2025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subtitle">
    <vt:lpwstr>Introduction to Generative AI &amp; Business Applications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