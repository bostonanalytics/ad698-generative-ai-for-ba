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embeddedFontLst>
    <p:embeddedFont>
      <p:font typeface="Merriweather" panose="00000500000000000000" pitchFamily="2" charset="0"/>
      <p:regular r:id="rId25"/>
      <p:bold r:id="rId26"/>
      <p:italic r:id="rId27"/>
      <p:boldItalic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5a157315a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5a157315a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5ba14b399f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5ba14b399f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5ba14b399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5ba14b399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5a157315a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5a157315a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5ba14b399f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5ba14b399f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5ba14b39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5ba14b39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5de65b6e7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5de65b6e7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5de65b6e7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5de65b6e7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5960ad3e4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5960ad3e47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5960ad3e47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5960ad3e47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5960ad3e4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5960ad3e4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5960ad3e4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5960ad3e4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5960ad3e47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5960ad3e47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5960ad3e47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5960ad3e47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5960ad3e47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5960ad3e47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5960ad3e47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5960ad3e47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5960ad3e47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5960ad3e47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5960ad3e47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5960ad3e47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5960ad3e47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5960ad3e47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5960ad3e47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5960ad3e47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ff5fa75ff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ff5fa75ff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online.informs.org/action/doSearch?text1=Zhang%2C+Wei&amp;field1=Contrib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ubsonline.informs.org/action/doSearch?text1=Ahmadi%2C+Reza&amp;field1=Contrib" TargetMode="External"/><Relationship Id="rId4" Type="http://schemas.openxmlformats.org/officeDocument/2006/relationships/hyperlink" Target="https://pubsonline.informs.org/action/doSearch?text1=Dasu%2C+Sriram&amp;field1=Contrib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598100" y="222349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“Higher Prices for Larger Quantities? Nonmonotonic Price–</a:t>
            </a:r>
            <a:endParaRPr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Quantity Relations in B2B Markets”</a:t>
            </a:r>
            <a:endParaRPr i="1"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598088" y="314886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Karan Uppal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98100" y="4478400"/>
            <a:ext cx="78768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i="1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Wei Zhang</a:t>
            </a:r>
            <a:r>
              <a:rPr lang="en" sz="1050" i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 i="1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Sriram Dasu</a:t>
            </a:r>
            <a:r>
              <a:rPr lang="en" sz="1050" i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 i="1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Reza Ahmadi</a:t>
            </a:r>
            <a:r>
              <a:rPr lang="en" sz="1050" i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(2016) Higher Prices for Larger Quantities? Nonmonotonic Price–Quantity Relations in B2B Markets. Management Science 63(7):2108-2126.</a:t>
            </a:r>
            <a:endParaRPr i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311700" y="338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/>
              <a:t>Case Study Significance</a:t>
            </a:r>
            <a:endParaRPr sz="3200" b="1"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311700" y="1100275"/>
            <a:ext cx="51027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 b="1"/>
              <a:t>Conventional wisdom suggests that larger purchase quantities are generally associated with lower prices</a:t>
            </a:r>
            <a:endParaRPr sz="16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 b="1"/>
              <a:t>Nonmonotonic price patterns noticed</a:t>
            </a:r>
            <a:endParaRPr sz="16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 b="1"/>
              <a:t>Managerial implications associated with these pricing patterns</a:t>
            </a:r>
            <a:endParaRPr sz="1600" b="1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7205" y="1017800"/>
            <a:ext cx="3047599" cy="279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311700" y="552788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Data preparation</a:t>
            </a:r>
            <a:endParaRPr b="1"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107" y="3010499"/>
            <a:ext cx="7627781" cy="17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311700" y="1252800"/>
            <a:ext cx="8520600" cy="17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"/>
              <a:buChar char="-"/>
            </a:pPr>
            <a:r>
              <a:rPr lang="en" b="1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ED is an inverse measure of price level to the highest price ever paid for the product. </a:t>
            </a:r>
            <a:endParaRPr b="1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"/>
              <a:buChar char="-"/>
            </a:pPr>
            <a:r>
              <a:rPr lang="en" b="1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DS is the ratio of the total quantity purchased to the market size for that product.</a:t>
            </a:r>
            <a:endParaRPr b="1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"/>
              <a:buChar char="-"/>
            </a:pPr>
            <a:r>
              <a:rPr lang="en" b="1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Cbase measures product’s popularity</a:t>
            </a:r>
            <a:endParaRPr b="1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"/>
              <a:buChar char="-"/>
            </a:pPr>
            <a:r>
              <a:rPr lang="en" b="1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TSQ is the </a:t>
            </a:r>
            <a:r>
              <a:rPr lang="en" b="1" i="1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total sales quantity </a:t>
            </a:r>
            <a:endParaRPr b="1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"/>
              <a:buChar char="-"/>
            </a:pPr>
            <a:r>
              <a:rPr lang="en" b="1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Herf is the Herfindahl index or a measure of the degree of demand concentration for the product</a:t>
            </a:r>
            <a:endParaRPr b="1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251100" y="503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Piecewise Regression Models</a:t>
            </a:r>
            <a:endParaRPr b="1"/>
          </a:p>
        </p:txBody>
      </p:sp>
      <p:sp>
        <p:nvSpPr>
          <p:cNvPr id="107" name="Google Shape;107;p16"/>
          <p:cNvSpPr txBox="1">
            <a:spLocks noGrp="1"/>
          </p:cNvSpPr>
          <p:nvPr>
            <p:ph type="body" idx="2"/>
          </p:nvPr>
        </p:nvSpPr>
        <p:spPr>
          <a:xfrm>
            <a:off x="4896300" y="-4710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“Created model using same data with product life cycle is short, capacity is inflexible, and prices are set through one-shot negotiations.”</a:t>
            </a:r>
            <a:endParaRPr i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550" y="2162500"/>
            <a:ext cx="7048900" cy="27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/>
              <a:t>Interpretations</a:t>
            </a:r>
            <a:endParaRPr sz="3200" b="1"/>
          </a:p>
        </p:txBody>
      </p:sp>
      <p:sp>
        <p:nvSpPr>
          <p:cNvPr id="114" name="Google Shape;114;p17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3921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ct val="100000"/>
              <a:buFont typeface="Merriweather"/>
              <a:buChar char="-"/>
            </a:pPr>
            <a:r>
              <a:rPr lang="en" sz="4000" b="1">
                <a:latin typeface="Merriweather"/>
                <a:ea typeface="Merriweather"/>
                <a:cs typeface="Merriweather"/>
                <a:sym typeface="Merriweather"/>
              </a:rPr>
              <a:t>The nonmonotonic price–quantity relation is rooted in how the seller values her capacity when negotiating with a buyer.</a:t>
            </a:r>
            <a:endParaRPr sz="4000" b="1"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4000" b="1"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SzPct val="100000"/>
              <a:buFont typeface="Merriweather"/>
              <a:buChar char="-"/>
            </a:pPr>
            <a:r>
              <a:rPr lang="en" sz="4000" b="1">
                <a:latin typeface="Merriweather"/>
                <a:ea typeface="Merriweather"/>
                <a:cs typeface="Merriweather"/>
                <a:sym typeface="Merriweather"/>
              </a:rPr>
              <a:t>Large buyers accelerate the selling process while small buyers are helpful in consuming the residual capacity. </a:t>
            </a:r>
            <a:endParaRPr sz="4000" b="1"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4000" b="1"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SzPct val="100000"/>
              <a:buFont typeface="Merriweather"/>
              <a:buChar char="-"/>
            </a:pPr>
            <a:r>
              <a:rPr lang="en" sz="4000" b="1">
                <a:latin typeface="Merriweather"/>
                <a:ea typeface="Merriweather"/>
                <a:cs typeface="Merriweather"/>
                <a:sym typeface="Merriweather"/>
              </a:rPr>
              <a:t>However, satisfying midsized buyers may be costly because residual capacity can’t be sold.</a:t>
            </a:r>
            <a:endParaRPr sz="4000" b="1"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4000" b="1"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SzPct val="100000"/>
              <a:buFont typeface="Merriweather"/>
              <a:buChar char="-"/>
            </a:pPr>
            <a:r>
              <a:rPr lang="en" sz="4000" b="1">
                <a:latin typeface="Merriweather"/>
                <a:ea typeface="Merriweather"/>
                <a:cs typeface="Merriweather"/>
                <a:sym typeface="Merriweather"/>
              </a:rPr>
              <a:t>Analysis shows that it is important for the seller to control the capacity allocated to each buyer before price negotiations, if possible.</a:t>
            </a:r>
            <a:endParaRPr sz="4000" b="1"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4400" y="1229875"/>
            <a:ext cx="4657201" cy="2192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000" y="-209250"/>
            <a:ext cx="7416000" cy="55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995700" y="1801200"/>
            <a:ext cx="7152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7200" b="1">
                <a:solidFill>
                  <a:srgbClr val="000000"/>
                </a:solidFill>
                <a:highlight>
                  <a:srgbClr val="FAFAFA"/>
                </a:highlight>
                <a:latin typeface="Merriweather"/>
                <a:ea typeface="Merriweather"/>
                <a:cs typeface="Merriweather"/>
                <a:sym typeface="Merriweather"/>
              </a:rPr>
              <a:t> How is this relevant?  </a:t>
            </a:r>
            <a:endParaRPr sz="7200" b="1">
              <a:solidFill>
                <a:srgbClr val="000000"/>
              </a:solidFill>
              <a:highlight>
                <a:srgbClr val="FAFAFA"/>
              </a:highlight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>
            <a:spLocks noGrp="1"/>
          </p:cNvSpPr>
          <p:nvPr>
            <p:ph type="body" idx="1"/>
          </p:nvPr>
        </p:nvSpPr>
        <p:spPr>
          <a:xfrm>
            <a:off x="311700" y="198900"/>
            <a:ext cx="8947500" cy="514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9117"/>
              <a:buFont typeface="Arial"/>
              <a:buNone/>
            </a:pPr>
            <a:r>
              <a:rPr lang="en" sz="3400" b="1">
                <a:solidFill>
                  <a:schemeClr val="dk1"/>
                </a:solidFill>
              </a:rPr>
              <a:t>Limitations of study</a:t>
            </a:r>
            <a:endParaRPr sz="3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Merriweather"/>
              <a:buChar char="-"/>
            </a:pPr>
            <a:r>
              <a:rPr lang="en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Selected only 2346 data entries(24.3% of data) due to…</a:t>
            </a:r>
            <a:endParaRPr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-Effects of truncation from old processors sold(data before January 1, 2009)</a:t>
            </a:r>
            <a:endParaRPr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-Eliminate single purchases from buyer</a:t>
            </a:r>
            <a:endParaRPr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-Products only with more than three buyers(to avoid single product bias)</a:t>
            </a:r>
            <a:endParaRPr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Merriweather"/>
              <a:buChar char="-"/>
            </a:pPr>
            <a:r>
              <a:rPr lang="en" sz="20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Variables omitted (net cost of switching to an alternative product and contract terms other than price and quantity for a buyer).</a:t>
            </a:r>
            <a:endParaRPr sz="20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79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>
                <a:solidFill>
                  <a:schemeClr val="dk1"/>
                </a:solidFill>
              </a:rPr>
              <a:t>Applications and Conclusions</a:t>
            </a:r>
            <a:endParaRPr sz="3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79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3963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Merriweather"/>
              <a:buChar char="-"/>
            </a:pPr>
            <a:r>
              <a:rPr lang="en" sz="2057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Regression analysis is inconsistent with conventional </a:t>
            </a:r>
            <a:endParaRPr sz="2057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57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wisdom</a:t>
            </a:r>
            <a:endParaRPr sz="2057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7292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1"/>
              <a:t>Nonlinear Neural Network Based Forecasting Model for Predicting COVID‑19 Cases</a:t>
            </a:r>
            <a:endParaRPr sz="220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		</a:t>
            </a:r>
            <a:r>
              <a:rPr lang="en" sz="1800"/>
              <a:t>Zeju Li</a:t>
            </a:r>
            <a:endParaRPr sz="180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132" name="Google Shape;132;p20"/>
          <p:cNvSpPr txBox="1"/>
          <p:nvPr/>
        </p:nvSpPr>
        <p:spPr>
          <a:xfrm>
            <a:off x="548275" y="3933750"/>
            <a:ext cx="6849300" cy="7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556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Namasudra, S., Dhamodharavadhani, S., &amp; Rathipriya, R. (2021, April 1). </a:t>
            </a:r>
            <a:r>
              <a:rPr lang="en" sz="1100" i="1">
                <a:solidFill>
                  <a:schemeClr val="lt1"/>
                </a:solidFill>
              </a:rPr>
              <a:t>Nonlinear Neural Network based forecasting model for predicting COVID-19 cases - neural processing letters</a:t>
            </a:r>
            <a:r>
              <a:rPr lang="en" sz="1100">
                <a:solidFill>
                  <a:schemeClr val="lt1"/>
                </a:solidFill>
              </a:rPr>
              <a:t>. SpringerLink. Retrieved September 29, 2022, from https://link.springer.com/article/10.1007/s11063-021-10495-w </a:t>
            </a:r>
            <a:endParaRPr sz="11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body" idx="1"/>
          </p:nvPr>
        </p:nvSpPr>
        <p:spPr>
          <a:xfrm>
            <a:off x="311700" y="930675"/>
            <a:ext cx="8520600" cy="36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Covid-19</a:t>
            </a:r>
            <a:endParaRPr sz="1600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Raised exponentially</a:t>
            </a:r>
            <a:endParaRPr sz="1600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Low accuracy for single prediction model</a:t>
            </a:r>
            <a:endParaRPr sz="1600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Traditional models — fail to support long-term prediction</a:t>
            </a:r>
            <a:endParaRPr sz="16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Neural Networks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Existing models</a:t>
            </a:r>
            <a:endParaRPr sz="1500"/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Random forest model (AdaBoost calculation)</a:t>
            </a:r>
            <a:endParaRPr sz="1500"/>
          </a:p>
          <a:p>
            <a:pPr marL="1371600" lvl="2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Convolutional neural network</a:t>
            </a:r>
            <a:endParaRPr sz="1500"/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NAR-NNTS: Nonlinear Autoregressive - Neural Network Time Series</a:t>
            </a:r>
            <a:endParaRPr sz="15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9" name="Google Shape;1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9468" y="202175"/>
            <a:ext cx="2981299" cy="1677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NAR-NNTS</a:t>
            </a:r>
            <a:endParaRPr/>
          </a:p>
        </p:txBody>
      </p:sp>
      <p:pic>
        <p:nvPicPr>
          <p:cNvPr id="145" name="Google Shape;14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925" y="878175"/>
            <a:ext cx="7480248" cy="263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425" y="3515475"/>
            <a:ext cx="5638800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training algorithm</a:t>
            </a:r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27183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LM algorithm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Nonlinear data and optimization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Nonlinear least-square minimization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3" name="Google Shape;1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25" y="3442675"/>
            <a:ext cx="2718300" cy="80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3"/>
          <p:cNvSpPr txBox="1"/>
          <p:nvPr/>
        </p:nvSpPr>
        <p:spPr>
          <a:xfrm>
            <a:off x="3138175" y="1229875"/>
            <a:ext cx="2718300" cy="23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BR  algorithm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Update of LM’s Weight and bias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Reduce squared error and weights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5" name="Google Shape;15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1475" y="3611650"/>
            <a:ext cx="2171700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3"/>
          <p:cNvSpPr txBox="1"/>
          <p:nvPr/>
        </p:nvSpPr>
        <p:spPr>
          <a:xfrm>
            <a:off x="6019350" y="1229875"/>
            <a:ext cx="2718300" cy="21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SCG algorithm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automated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7" name="Google Shape;15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7375" y="2556475"/>
            <a:ext cx="217170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Qualitative Performance Measures</a:t>
            </a:r>
            <a:endParaRPr/>
          </a:p>
        </p:txBody>
      </p:sp>
      <p:sp>
        <p:nvSpPr>
          <p:cNvPr id="163" name="Google Shape;163;p2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RMSE (Root mean square error)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MSE(Mean square error)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R-value(correlation coefficient value)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4" name="Google Shape;1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8025" y="1017800"/>
            <a:ext cx="3679250" cy="11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8963" y="2478300"/>
            <a:ext cx="286702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4975" y="3383288"/>
            <a:ext cx="386715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1899" y="-85025"/>
            <a:ext cx="576022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Analysis -MSE </a:t>
            </a:r>
            <a:endParaRPr/>
          </a:p>
        </p:txBody>
      </p:sp>
      <p:sp>
        <p:nvSpPr>
          <p:cNvPr id="173" name="Google Shape;173;p25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4" name="Google Shape;17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950" y="902250"/>
            <a:ext cx="8214100" cy="253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00" y="3436200"/>
            <a:ext cx="7840475" cy="166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Analysis – R value </a:t>
            </a:r>
            <a:endParaRPr/>
          </a:p>
        </p:txBody>
      </p:sp>
      <p:sp>
        <p:nvSpPr>
          <p:cNvPr id="181" name="Google Shape;181;p26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2" name="Google Shape;18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800"/>
            <a:ext cx="7840249" cy="40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Analysis – RMSE</a:t>
            </a:r>
            <a:endParaRPr/>
          </a:p>
        </p:txBody>
      </p:sp>
      <p:sp>
        <p:nvSpPr>
          <p:cNvPr id="188" name="Google Shape;188;p27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9" name="Google Shape;18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200" y="1020775"/>
            <a:ext cx="8367600" cy="360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Series Response – Confirmed Cases</a:t>
            </a:r>
            <a:endParaRPr/>
          </a:p>
        </p:txBody>
      </p:sp>
      <p:sp>
        <p:nvSpPr>
          <p:cNvPr id="195" name="Google Shape;195;p28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6" name="Google Shape;19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350" y="1017800"/>
            <a:ext cx="7875001" cy="38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Series Response – Recovered Cases</a:t>
            </a:r>
            <a:endParaRPr/>
          </a:p>
        </p:txBody>
      </p:sp>
      <p:sp>
        <p:nvSpPr>
          <p:cNvPr id="202" name="Google Shape;202;p29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03" name="Google Shape;20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225" y="937225"/>
            <a:ext cx="7971551" cy="39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Series Response – Death Cases</a:t>
            </a:r>
            <a:endParaRPr/>
          </a:p>
        </p:txBody>
      </p:sp>
      <p:sp>
        <p:nvSpPr>
          <p:cNvPr id="209" name="Google Shape;209;p30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10" name="Google Shape;21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876" y="1017800"/>
            <a:ext cx="8157774" cy="37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plot</a:t>
            </a:r>
            <a:endParaRPr/>
          </a:p>
        </p:txBody>
      </p:sp>
      <p:sp>
        <p:nvSpPr>
          <p:cNvPr id="216" name="Google Shape;216;p3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17" name="Google Shape;21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925" y="1107050"/>
            <a:ext cx="7296150" cy="386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3925" y="1229875"/>
            <a:ext cx="7296150" cy="386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3925" y="1107051"/>
            <a:ext cx="7524750" cy="386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plot (with R value)</a:t>
            </a:r>
            <a:endParaRPr/>
          </a:p>
        </p:txBody>
      </p:sp>
      <p:sp>
        <p:nvSpPr>
          <p:cNvPr id="225" name="Google Shape;225;p32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26" name="Google Shape;22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92675"/>
            <a:ext cx="5136600" cy="368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950" y="976150"/>
            <a:ext cx="5136600" cy="3913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950" y="1092675"/>
            <a:ext cx="5049699" cy="368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3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</a:t>
            </a:r>
            <a:endParaRPr/>
          </a:p>
        </p:txBody>
      </p:sp>
      <p:sp>
        <p:nvSpPr>
          <p:cNvPr id="234" name="Google Shape;234;p33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35" name="Google Shape;23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7798"/>
            <a:ext cx="9143999" cy="38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241" name="Google Shape;241;p3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 consumption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Single Algorithm → combinations of different algorithms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</Words>
  <Application>Microsoft Office PowerPoint</Application>
  <PresentationFormat>On-screen Show (16:9)</PresentationFormat>
  <Paragraphs>91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Merriweather</vt:lpstr>
      <vt:lpstr>Arial</vt:lpstr>
      <vt:lpstr>Roboto</vt:lpstr>
      <vt:lpstr>Geometric</vt:lpstr>
      <vt:lpstr>“Higher Prices for Larger Quantities? Nonmonotonic Price– Quantity Relations in B2B Markets”</vt:lpstr>
      <vt:lpstr>Case Study Significance</vt:lpstr>
      <vt:lpstr>Data preparation</vt:lpstr>
      <vt:lpstr>Piecewise Regression Models</vt:lpstr>
      <vt:lpstr>Interpretations</vt:lpstr>
      <vt:lpstr> How is this relevant?  </vt:lpstr>
      <vt:lpstr>PowerPoint Presentation</vt:lpstr>
      <vt:lpstr>Nonlinear Neural Network Based Forecasting Model for Predicting COVID‑19 Cases   Zeju Li   </vt:lpstr>
      <vt:lpstr>Introduction</vt:lpstr>
      <vt:lpstr>NAR-NNTS</vt:lpstr>
      <vt:lpstr>Optimal training algorithm</vt:lpstr>
      <vt:lpstr>Qualitative Performance Measures</vt:lpstr>
      <vt:lpstr>Performance Analysis -MSE </vt:lpstr>
      <vt:lpstr>Performance Analysis – R value </vt:lpstr>
      <vt:lpstr>Performance Analysis – RMSE</vt:lpstr>
      <vt:lpstr>Time Series Response – Confirmed Cases</vt:lpstr>
      <vt:lpstr>Time Series Response – Recovered Cases</vt:lpstr>
      <vt:lpstr>Time Series Response – Death Cases</vt:lpstr>
      <vt:lpstr>Correlation plot</vt:lpstr>
      <vt:lpstr>Regression plot (with R value)</vt:lpstr>
      <vt:lpstr>Prediction</vt:lpstr>
      <vt:lpstr>Limitations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nakul</dc:creator>
  <cp:lastModifiedBy>Nakul Padalkar</cp:lastModifiedBy>
  <cp:revision>1</cp:revision>
  <dcterms:modified xsi:type="dcterms:W3CDTF">2026-02-08T23:54:32Z</dcterms:modified>
</cp:coreProperties>
</file>