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5620"/>
    <p:restoredTop sz="94660"/>
  </p:normalViewPr>
  <p:slideViewPr>
    <p:cSldViewPr snapToGrid="0">
      <p:cViewPr varScale="1">
        <p:scale>
          <a:sx d="100" n="87"/>
          <a:sy d="100" n="87"/>
        </p:scale>
        <p:origin x="384" y="72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7" Type="http://schemas.openxmlformats.org/officeDocument/2006/relationships/tableStyles" Target="tableStyles.xml" /><Relationship Id="rId26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25" Type="http://schemas.openxmlformats.org/officeDocument/2006/relationships/viewProps" Target="viewProps.xml" /><Relationship Id="rId24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41D81-A8D4-E293-8BE5-C77E344E44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646A98-9843-1672-53BD-52DF183FEF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2C9A2-E612-B72C-7008-EE9B265F8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4CA91F-7BA5-C0EB-F0E7-671EF77E9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28D7E7-96C2-EA98-5CCC-B43274E42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57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D8E18C-9698-0B1C-32D6-D00534B50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01A8A8-18AA-E309-BBBF-ADF899547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8C9A9-DE19-498F-D414-0DAB4823D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900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8C826-B192-8566-FA0F-8917992F1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E9B690-E2E9-2F3E-15D3-BBD15BCD7B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F1D22-D975-851F-2B8F-D8675D164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710542-6047-78D6-51D8-E2C25AA6B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DE4BB-8AC4-98F4-5B65-D97C695FD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655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8EDC0-E356-84E3-D1A0-CB3FEE1EC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063D6-309C-6044-E7F3-B0FAEA37F8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502399-0D40-0F1A-A770-6D3B06F653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CD09DC-44A3-F7F4-2C2A-4A87B75C4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83CC0E-1DBD-1E37-CAEF-2C3E53291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C59C24-6840-1606-934C-D0F85A333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148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3AB56-8CD1-20AD-7F41-D2359C469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D21AA7-1865-2AE9-0012-512FE36BF6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BA8275-F8D3-F29E-6C64-94671346CF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A5AD60-9148-E9A7-3F6B-DF76A20838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219CA0-0D5D-C6C9-AC0D-2AD322F245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9D0A9E-58E0-AD7C-832D-666F0331C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8D782E-EAC7-5EC8-E342-7786EB3D7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A5C0ED-7820-62DB-F17A-7BDA0542A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919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C2CE0-5040-0A33-C14C-2137A06EB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A90265-B49C-90FA-BB33-302D063BD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0293D5-F9F7-9556-47AE-7EF33815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2ABE5A-1615-1E58-6B04-545C84246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601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6FB9E7-6D00-B906-95F1-BED78B2F4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A80D94-FDFD-6A9D-CF2D-161418333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A0434E-D9EF-F897-D66D-C0A37DE4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385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8C0B0-BBFF-D266-F6CB-C0F9CB82E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9E927-AB12-1E59-90ED-6839F5357C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F88397-2BCC-3DCA-BE8B-B9B0AFAC1E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A326D9-5E8D-09C1-A9C2-C8F48F439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8F8E6B-D22C-98FB-198C-1BB554D53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3F39BA-97EF-2C84-8B25-95108D04F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598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74914-FAF0-2D41-27D2-ACEEBCAFD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163E3D-B2EA-73D8-F8BD-4FC6CFE9F2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460945-1A23-C88B-02B1-FFE35A654C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B01162-C90D-62D4-B1FE-6ED1CC412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CCE0DB-431B-1663-6E56-FACE12F67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7E0E3-58EB-A96B-0DC5-4C38F790A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258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BD8B3-BF98-9170-B5E2-AB324C190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A0CF88-F56C-9B83-A911-CD1BE263D4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2220D-2D18-9924-A1FF-F615EE13A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F606C5-2E91-950E-6217-C2FFF7C0F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A31CD6-A18E-FC5E-733D-9C3339F2E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173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6519DF-9D34-5391-8746-EC512C3526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160643-0E91-7673-E36A-B41441E8AA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916EB6-0BAD-C04E-CCEF-DCB8848E7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BA6A13-3660-187A-E0CE-B4EDE98C0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A83B47-2423-4DA4-61B2-0AE56FB2D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859626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C6EC8C-ECCF-C0A3-FC0A-2563865B3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B754C2-B7E9-ABF6-FA3F-D6E2E255A473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2E8DE5-BF1B-A82F-89A6-D45E288D7ED3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DBCAFD-7F89-6E4D-3B08-A1E78396CF3A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9B5DEB-9294-F5ED-21D5-974F52B9344E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747376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41D81-A8D4-E293-8BE5-C77E344E44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Name of the Course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646A98-9843-1672-53BD-52DF183FEF52}"/>
              </a:ext>
            </a:extLst>
          </p:cNvPr>
          <p:cNvSpPr>
            <a:spLocks noGrp="1"/>
          </p:cNvSpPr>
          <p:nvPr>
            <p:ph idx="1" type="subTitle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pPr lvl="0" indent="0" marL="0">
              <a:buNone/>
            </a:pPr>
            <a:r>
              <a:rPr/>
              <a:t>Title of the First Class</a:t>
            </a:r>
            <a:br/>
            <a:br/>
            <a:r>
              <a:rPr/>
              <a:t>Nakul R. Padalkar</a:t>
            </a:r>
            <a:br/>
            <a:r>
              <a:rPr/>
              <a:t>Author Two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2C9A2-E612-B72C-7008-EE9B265F83E5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March 12, 2024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Course Welcome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Key Objectives:</a:t>
            </a:r>
          </a:p>
          <a:p>
            <a:pPr lvl="1"/>
            <a:r>
              <a:rPr/>
              <a:t>Understand the breadth of generative AI technologies</a:t>
            </a:r>
          </a:p>
          <a:p>
            <a:pPr lvl="1"/>
            <a:r>
              <a:rPr/>
              <a:t>Explore core generative model architectures</a:t>
            </a:r>
          </a:p>
          <a:p>
            <a:pPr lvl="1"/>
            <a:r>
              <a:rPr/>
              <a:t>Gain insights into practical applications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is Generative AI?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Definition: AI systems that can create new content</a:t>
            </a:r>
          </a:p>
          <a:p>
            <a:pPr lvl="0" indent="0" marL="0">
              <a:buNone/>
            </a:pPr>
            <a:r>
              <a:rPr/>
              <a:t>Generative Al can be thought of as a machine-learning model that is trained to create new data, rather than making a prediction about a specific dataset. A generative AI system is one that learns to generate more objects that look like the data it was trained on.</a:t>
            </a:r>
          </a:p>
          <a:p>
            <a:pPr lvl="0" indent="0" marL="0">
              <a:buNone/>
            </a:pPr>
            <a:r>
              <a:rPr/>
              <a:t>Source: https://news.mit.edu/2023/explained-generative-ai-7109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is Generative Al (contd.)?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Core Characteristics:</a:t>
            </a:r>
          </a:p>
          <a:p>
            <a:pPr lvl="0"/>
            <a:r>
              <a:rPr/>
              <a:t>Learning from existing data</a:t>
            </a:r>
          </a:p>
          <a:p>
            <a:pPr lvl="0"/>
            <a:r>
              <a:rPr/>
              <a:t>Generating novel, contextually relevant outputs</a:t>
            </a:r>
          </a:p>
          <a:p>
            <a:pPr lvl="0"/>
            <a:r>
              <a:rPr/>
              <a:t>Spanning multiple modalities (text, image, code, audio)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Generative Model Landscape: Key Generative Model Architectures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Language Models</a:t>
            </a:r>
          </a:p>
          <a:p>
            <a:pPr lvl="0"/>
            <a:r>
              <a:rPr/>
              <a:t>GPT (Generative Pre-trained Transformer)</a:t>
            </a:r>
          </a:p>
          <a:p>
            <a:pPr lvl="0"/>
            <a:r>
              <a:rPr/>
              <a:t>BERT (Bidirectional Encoder Representations)</a:t>
            </a:r>
          </a:p>
          <a:p>
            <a:pPr lvl="0" indent="-457200" marL="457200">
              <a:buAutoNum startAt="2" type="arabicPeriod"/>
            </a:pPr>
            <a:r>
              <a:rPr/>
              <a:t>Image Generation Models</a:t>
            </a:r>
          </a:p>
          <a:p>
            <a:pPr lvl="0"/>
            <a:r>
              <a:rPr/>
              <a:t>DALL-E</a:t>
            </a:r>
          </a:p>
          <a:p>
            <a:pPr lvl="0"/>
            <a:r>
              <a:rPr/>
              <a:t>Stable Diffusion</a:t>
            </a:r>
          </a:p>
          <a:p>
            <a:pPr lvl="0"/>
            <a:r>
              <a:rPr/>
              <a:t>Midjourney</a:t>
            </a:r>
          </a:p>
          <a:p>
            <a:pPr lvl="0" indent="-457200" marL="457200">
              <a:buAutoNum startAt="3" type="arabicPeriod"/>
            </a:pPr>
            <a:r>
              <a:rPr/>
              <a:t>Multimodal Models</a:t>
            </a:r>
          </a:p>
          <a:p>
            <a:pPr lvl="0"/>
            <a:r>
              <a:rPr/>
              <a:t>Amazon Nova</a:t>
            </a:r>
          </a:p>
          <a:p>
            <a:pPr lvl="0"/>
            <a:r>
              <a:rPr/>
              <a:t>Meta Llama 3.2 and 3.3</a:t>
            </a:r>
          </a:p>
          <a:p>
            <a:pPr lvl="0"/>
            <a:r>
              <a:rPr/>
              <a:t>Gemini</a:t>
            </a:r>
          </a:p>
          <a:p>
            <a:pPr lvl="0"/>
            <a:r>
              <a:rPr/>
              <a:t>GPT-4</a:t>
            </a:r>
          </a:p>
          <a:p>
            <a:pPr lvl="0" indent="0" marL="0">
              <a:buNone/>
            </a:pPr>
            <a:r>
              <a:rPr/>
              <a:t>Transformer Architecture - Fundamental Concepts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NLP prior to embeddings and transformers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Pre-Embedding NLP Representations: Bag of Words</a:t>
            </a:r>
          </a:p>
          <a:p>
            <a:pPr lvl="0"/>
            <a:r>
              <a:rPr/>
              <a:t>Discrete, non-contextual representation of text</a:t>
            </a:r>
          </a:p>
          <a:p>
            <a:pPr lvl="0"/>
            <a:r>
              <a:rPr/>
              <a:t>Treats documents as unordered collections of words</a:t>
            </a:r>
          </a:p>
          <a:p>
            <a:pPr lvl="0"/>
            <a:r>
              <a:rPr/>
              <a:t>Loses semantic meaning and word order</a:t>
            </a:r>
          </a:p>
          <a:p>
            <a:pPr lvl="0"/>
            <a:r>
              <a:rPr/>
              <a:t>High dimensionality with sparse vectors</a:t>
            </a:r>
          </a:p>
          <a:p>
            <a:pPr lvl="0"/>
            <a:r>
              <a:rPr/>
              <a:t>No understanding of word relationships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Origins of Modern Embeddings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Word2Vec paper Paper, Explainer video for word embeddings</a:t>
            </a:r>
          </a:p>
          <a:p>
            <a:pPr lvl="0"/>
            <a:r>
              <a:rPr/>
              <a:t>Breakthrough in sequence-to-sequence learning</a:t>
            </a:r>
          </a:p>
          <a:p>
            <a:pPr lvl="0"/>
            <a:r>
              <a:rPr/>
              <a:t>Replaced previous RNN and LSTM architectures</a:t>
            </a:r>
          </a:p>
          <a:p>
            <a:pPr lvl="0"/>
            <a:r>
              <a:rPr/>
              <a:t>Enabled dense, contextual word representations</a:t>
            </a:r>
          </a:p>
          <a:p>
            <a:pPr lvl="0"/>
            <a:r>
              <a:rPr/>
              <a:t>Captured semantic relationships between words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Core Components of Transformer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Introduced in “Attention Is All You Need” (Google, 2017). Paper, Explainer video and also this video</a:t>
            </a:r>
          </a:p>
          <a:p>
            <a:pPr lvl="0" indent="-457200" marL="457200">
              <a:buAutoNum type="arabicPeriod"/>
            </a:pPr>
            <a:r>
              <a:rPr/>
              <a:t>MUST READ: The Illustrated Transformer</a:t>
            </a:r>
          </a:p>
          <a:p>
            <a:pPr lvl="0" indent="-457200" marL="457200">
              <a:buAutoNum type="arabicPeriod"/>
            </a:pPr>
            <a:r>
              <a:rPr/>
              <a:t>Key Building Blocks</a:t>
            </a:r>
          </a:p>
          <a:p>
            <a:pPr lvl="0" indent="-457200" marL="457200">
              <a:buAutoNum type="arabicPeriod"/>
            </a:pPr>
            <a:r>
              <a:rPr/>
              <a:t>Self-Attention Mechanism</a:t>
            </a:r>
          </a:p>
          <a:p>
            <a:pPr lvl="0"/>
            <a:r>
              <a:rPr/>
              <a:t>Allows model to weigh importance of different parts of input</a:t>
            </a:r>
          </a:p>
          <a:p>
            <a:pPr lvl="0"/>
            <a:r>
              <a:rPr/>
              <a:t>Captures contextual relationships dynamically</a:t>
            </a:r>
          </a:p>
          <a:p>
            <a:pPr lvl="0"/>
            <a:r>
              <a:rPr/>
              <a:t>Enables parallel processing of entire sequences</a:t>
            </a:r>
          </a:p>
          <a:p>
            <a:pPr lvl="0" indent="-457200" marL="457200">
              <a:buAutoNum startAt="2" type="arabicPeriod"/>
            </a:pPr>
            <a:r>
              <a:rPr/>
              <a:t>Positional Encoding</a:t>
            </a:r>
          </a:p>
          <a:p>
            <a:pPr lvl="0"/>
            <a:r>
              <a:rPr/>
              <a:t>Adds location information to input embeddings</a:t>
            </a:r>
          </a:p>
          <a:p>
            <a:pPr lvl="0"/>
            <a:r>
              <a:rPr/>
              <a:t>Crucial for understanding sequence order</a:t>
            </a:r>
          </a:p>
          <a:p>
            <a:pPr lvl="0"/>
            <a:r>
              <a:rPr/>
              <a:t>Enables models to understand context beyond word positioning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Detailed Self-Attention Mechanism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Self-Aitenion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Key Components:</a:t>
            </a:r>
          </a:p>
          <a:p>
            <a:pPr lvl="0"/>
            <a:r>
              <a:rPr/>
              <a:t>Query (Q)</a:t>
            </a:r>
          </a:p>
          <a:p>
            <a:pPr lvl="0"/>
            <a:r>
              <a:rPr/>
              <a:t>Key (K)</a:t>
            </a:r>
          </a:p>
          <a:p>
            <a:pPr lvl="0"/>
            <a:r>
              <a:rPr/>
              <a:t>Value (V)</a:t>
            </a:r>
          </a:p>
          <a:p>
            <a:pPr lvl="0"/>
            <a:r>
              <a:rPr/>
              <a:t>Attention Calculation:</a:t>
            </a:r>
          </a:p>
          <a:p>
            <a:pPr lvl="0" indent="-457200" marL="457200">
              <a:buAutoNum type="arabicPeriod"/>
            </a:pPr>
            <a:r>
              <a:rPr/>
              <a:t>Generate Q, K, V matrices</a:t>
            </a:r>
          </a:p>
          <a:p>
            <a:pPr lvl="0" indent="-457200" marL="457200">
              <a:buAutoNum type="arabicPeriod"/>
            </a:pPr>
            <a:r>
              <a:rPr/>
              <a:t>Compute attention scores</a:t>
            </a:r>
          </a:p>
          <a:p>
            <a:pPr lvl="0" indent="-457200" marL="457200">
              <a:buAutoNum type="arabicPeriod"/>
            </a:pPr>
            <a:r>
              <a:rPr/>
              <a:t>Apply softmax</a:t>
            </a:r>
          </a:p>
          <a:p>
            <a:pPr lvl="0" indent="-457200" marL="457200">
              <a:buAutoNum type="arabicPeriod"/>
            </a:pPr>
            <a:r>
              <a:rPr/>
              <a:t>Create weighted representation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Transformer Architecture Visualization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Encoder-Decoder Siruciure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Encoder</a:t>
            </a:r>
          </a:p>
          <a:p>
            <a:pPr lvl="0"/>
            <a:r>
              <a:rPr/>
              <a:t>Processes input sequence</a:t>
            </a:r>
          </a:p>
          <a:p>
            <a:pPr lvl="0"/>
            <a:r>
              <a:rPr/>
              <a:t>Generates contextual representations</a:t>
            </a:r>
          </a:p>
          <a:p>
            <a:pPr lvl="0"/>
            <a:r>
              <a:rPr/>
              <a:t>Decoder</a:t>
            </a:r>
          </a:p>
          <a:p>
            <a:pPr lvl="0"/>
            <a:r>
              <a:rPr/>
              <a:t>Generates output sequence</a:t>
            </a:r>
          </a:p>
          <a:p>
            <a:pPr lvl="0"/>
            <a:r>
              <a:rPr/>
              <a:t>Uses encoder representations</a:t>
            </a:r>
          </a:p>
          <a:p>
            <a:pPr lvl="0"/>
            <a:r>
              <a:rPr/>
              <a:t>Multi-Head Attention</a:t>
            </a:r>
          </a:p>
          <a:p>
            <a:pPr lvl="0"/>
            <a:r>
              <a:rPr/>
              <a:t>Multiple attention mechanisms in parallel</a:t>
            </a:r>
          </a:p>
          <a:p>
            <a:pPr lvl="0"/>
            <a:r>
              <a:rPr/>
              <a:t>Captures different types of dependencies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Transformer Advantages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Transformers Changed Everything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Parallel Processing</a:t>
            </a:r>
          </a:p>
          <a:p>
            <a:pPr lvl="0"/>
            <a:r>
              <a:rPr/>
              <a:t>Unlike RNNs, can process entire sequences simultaneously</a:t>
            </a:r>
          </a:p>
          <a:p>
            <a:pPr lvl="0"/>
            <a:r>
              <a:rPr/>
              <a:t>Long-Range Dependencies</a:t>
            </a:r>
          </a:p>
          <a:p>
            <a:pPr lvl="0"/>
            <a:r>
              <a:rPr/>
              <a:t>Effectively capture distant contextual relationships</a:t>
            </a:r>
          </a:p>
          <a:p>
            <a:pPr lvl="0"/>
            <a:r>
              <a:rPr/>
              <a:t>Scalability</a:t>
            </a:r>
          </a:p>
          <a:p>
            <a:pPr lvl="0"/>
            <a:r>
              <a:rPr/>
              <a:t>Easily parallelizable</a:t>
            </a:r>
          </a:p>
          <a:p>
            <a:pPr lvl="0"/>
            <a:r>
              <a:rPr/>
              <a:t>Supports massive model architectures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Limitations and Challenges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Transformer Architecture Considerations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Computational Complexity</a:t>
            </a:r>
          </a:p>
          <a:p>
            <a:pPr lvl="0"/>
            <a:r>
              <a:rPr/>
              <a:t>Quadratic complexity with sequence length</a:t>
            </a:r>
          </a:p>
          <a:p>
            <a:pPr lvl="0"/>
            <a:r>
              <a:rPr/>
              <a:t>Memory Requirements</a:t>
            </a:r>
          </a:p>
          <a:p>
            <a:pPr lvl="0"/>
            <a:r>
              <a:rPr/>
              <a:t>Large models need significant computational resources</a:t>
            </a:r>
          </a:p>
          <a:p>
            <a:pPr lvl="0"/>
            <a:r>
              <a:rPr/>
              <a:t>Potential Mitigation Strategies</a:t>
            </a:r>
          </a:p>
          <a:p>
            <a:pPr lvl="0"/>
            <a:r>
              <a:rPr/>
              <a:t>Sparse Attention</a:t>
            </a:r>
          </a:p>
          <a:p>
            <a:pPr lvl="0"/>
            <a:r>
              <a:rPr/>
              <a:t>Efficient Transformer variants</a:t>
            </a:r>
          </a:p>
          <a:p>
            <a:pPr lvl="0"/>
            <a:r>
              <a:rPr/>
              <a:t>Model distillation techniques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Practical Implications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Transformers in Real-World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Natural Language Processing</a:t>
            </a:r>
          </a:p>
          <a:p>
            <a:pPr lvl="0"/>
            <a:r>
              <a:rPr/>
              <a:t>Machine Translation</a:t>
            </a:r>
          </a:p>
          <a:p>
            <a:pPr lvl="0"/>
            <a:r>
              <a:rPr/>
              <a:t>Code Generation</a:t>
            </a:r>
          </a:p>
          <a:p>
            <a:pPr lvl="0"/>
            <a:r>
              <a:rPr/>
              <a:t>Multimodal Al Systems</a:t>
            </a:r>
          </a:p>
          <a:p>
            <a:pPr lvl="0"/>
            <a:r>
              <a:rPr/>
              <a:t>Conversational Al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References and Deep Dive Resources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Recommended Learning Materials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Foundational Papers</a:t>
            </a:r>
          </a:p>
          <a:p>
            <a:pPr lvl="0"/>
            <a:r>
              <a:rPr/>
              <a:t>“Efficient Estimation of Word Representations in Vector Space” (Mikolov et al., 2013)</a:t>
            </a:r>
          </a:p>
          <a:p>
            <a:pPr lvl="0"/>
            <a:r>
              <a:rPr/>
              <a:t>Word2Vec: Pioneering word embedding techniques</a:t>
            </a:r>
          </a:p>
          <a:p>
            <a:pPr lvl="0"/>
            <a:r>
              <a:rPr/>
              <a:t>“Attention Is All You Need” (Vaswani et al., 2017)</a:t>
            </a:r>
          </a:p>
          <a:p>
            <a:pPr lvl="0"/>
            <a:r>
              <a:rPr/>
              <a:t>Original Transformer architecture paper</a:t>
            </a:r>
          </a:p>
          <a:p>
            <a:pPr lvl="0" indent="-457200" marL="457200">
              <a:buAutoNum startAt="2" type="arabicPeriod"/>
            </a:pPr>
            <a:r>
              <a:rPr/>
              <a:t>Practical Implementation Resources</a:t>
            </a:r>
          </a:p>
          <a:p>
            <a:pPr lvl="0"/>
            <a:r>
              <a:rPr/>
              <a:t>Karpathy’s nanoGPT</a:t>
            </a:r>
          </a:p>
          <a:p>
            <a:pPr lvl="0"/>
            <a:r>
              <a:rPr/>
              <a:t>GitHub: https://github.com/karpathy/nanoGPT</a:t>
            </a:r>
          </a:p>
          <a:p>
            <a:pPr lvl="0"/>
            <a:r>
              <a:rPr/>
              <a:t>Minimalist GPT implementation</a:t>
            </a:r>
          </a:p>
          <a:p>
            <a:pPr lvl="0"/>
            <a:r>
              <a:rPr/>
              <a:t>Educational reference for transformer internals</a:t>
            </a:r>
          </a:p>
          <a:p>
            <a:pPr lvl="0" indent="-457200" marL="457200">
              <a:buAutoNum startAt="3" type="arabicPeriod"/>
            </a:pPr>
            <a:r>
              <a:rPr/>
              <a:t>Video Explanations</a:t>
            </a:r>
          </a:p>
          <a:p>
            <a:pPr lvl="0"/>
            <a:r>
              <a:rPr/>
              <a:t>Andrej Karpathy’s “LLMs in a Hurry”</a:t>
            </a:r>
          </a:p>
          <a:p>
            <a:pPr lvl="0"/>
            <a:r>
              <a:rPr/>
              <a:t>video: Comprehensive overview of LLM internals</a:t>
            </a:r>
          </a:p>
          <a:p>
            <a:pPr lvl="0"/>
            <a:r>
              <a:rPr/>
              <a:t>3BluelBrown Transformer Visualization</a:t>
            </a:r>
          </a:p>
          <a:p>
            <a:pPr lvl="0"/>
            <a:r>
              <a:rPr/>
              <a:t>video: Intuitive mathematical explanation</a:t>
            </a:r>
          </a:p>
          <a:p>
            <a:pPr lvl="0" indent="-457200" marL="457200">
              <a:buAutoNum startAt="4" type="arabicPeriod"/>
            </a:pPr>
            <a:r>
              <a:rPr/>
              <a:t>Online Resources</a:t>
            </a:r>
          </a:p>
          <a:p>
            <a:pPr lvl="0"/>
            <a:r>
              <a:rPr/>
              <a:t>Hugging Face Transformer Documentation</a:t>
            </a:r>
          </a:p>
          <a:p>
            <a:pPr lvl="0"/>
            <a:r>
              <a:rPr/>
              <a:t>Jay Alammar’s “Illustrated Transformer”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Next Week Preview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Week 2 Focus: In-Coniexi Learning (ICL)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Few-shot learning mechanisms</a:t>
            </a:r>
          </a:p>
          <a:p>
            <a:pPr lvl="0"/>
            <a:r>
              <a:rPr/>
              <a:t>Practical ICL implementation</a:t>
            </a:r>
          </a:p>
          <a:p>
            <a:pPr lvl="0"/>
            <a:r>
              <a:rPr/>
              <a:t>Advanced prompt engineering techniques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Name of the Course</dc:title>
  <dc:creator>Nakul R. Padalkar; Author Two</dc:creator>
  <cp:keywords/>
  <dcterms:created xsi:type="dcterms:W3CDTF">2025-11-20T16:13:42Z</dcterms:created>
  <dcterms:modified xsi:type="dcterms:W3CDTF">2025-11-20T16:13:42Z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ibliography">
    <vt:lpwstr>../references.bib</vt:lpwstr>
  </property>
  <property fmtid="{D5CDD505-2E9C-101B-9397-08002B2CF9AE}" pid="6" name="by-affiliation">
    <vt:lpwstr/>
  </property>
  <property fmtid="{D5CDD505-2E9C-101B-9397-08002B2CF9AE}" pid="7" name="by-author">
    <vt:lpwstr/>
  </property>
  <property fmtid="{D5CDD505-2E9C-101B-9397-08002B2CF9AE}" pid="8" name="comments">
    <vt:lpwstr/>
  </property>
  <property fmtid="{D5CDD505-2E9C-101B-9397-08002B2CF9AE}" pid="9" name="crossref">
    <vt:lpwstr/>
  </property>
  <property fmtid="{D5CDD505-2E9C-101B-9397-08002B2CF9AE}" pid="10" name="csl">
    <vt:lpwstr>../mis-quarterly.csl</vt:lpwstr>
  </property>
  <property fmtid="{D5CDD505-2E9C-101B-9397-08002B2CF9AE}" pid="11" name="date">
    <vt:lpwstr>March 12, 2024</vt:lpwstr>
  </property>
  <property fmtid="{D5CDD505-2E9C-101B-9397-08002B2CF9AE}" pid="12" name="date-format">
    <vt:lpwstr>long</vt:lpwstr>
  </property>
  <property fmtid="{D5CDD505-2E9C-101B-9397-08002B2CF9AE}" pid="13" name="date-modified">
    <vt:lpwstr>November 20, 2025</vt:lpwstr>
  </property>
  <property fmtid="{D5CDD505-2E9C-101B-9397-08002B2CF9AE}" pid="14" name="editor">
    <vt:lpwstr/>
  </property>
  <property fmtid="{D5CDD505-2E9C-101B-9397-08002B2CF9AE}" pid="15" name="execute">
    <vt:lpwstr/>
  </property>
  <property fmtid="{D5CDD505-2E9C-101B-9397-08002B2CF9AE}" pid="16" name="header-includes">
    <vt:lpwstr/>
  </property>
  <property fmtid="{D5CDD505-2E9C-101B-9397-08002B2CF9AE}" pid="17" name="include-after">
    <vt:lpwstr/>
  </property>
  <property fmtid="{D5CDD505-2E9C-101B-9397-08002B2CF9AE}" pid="18" name="include-before">
    <vt:lpwstr/>
  </property>
  <property fmtid="{D5CDD505-2E9C-101B-9397-08002B2CF9AE}" pid="19" name="labels">
    <vt:lpwstr/>
  </property>
  <property fmtid="{D5CDD505-2E9C-101B-9397-08002B2CF9AE}" pid="20" name="logo">
    <vt:lpwstr>../theme/figures/met_signature_toptier_rgb.png</vt:lpwstr>
  </property>
  <property fmtid="{D5CDD505-2E9C-101B-9397-08002B2CF9AE}" pid="21" name="monofont">
    <vt:lpwstr>Roboto</vt:lpwstr>
  </property>
  <property fmtid="{D5CDD505-2E9C-101B-9397-08002B2CF9AE}" pid="22" name="subtitle">
    <vt:lpwstr>Title of the First Class</vt:lpwstr>
  </property>
  <property fmtid="{D5CDD505-2E9C-101B-9397-08002B2CF9AE}" pid="23" name="title-slide-attributes">
    <vt:lpwstr/>
  </property>
  <property fmtid="{D5CDD505-2E9C-101B-9397-08002B2CF9AE}" pid="24" name="toc-title">
    <vt:lpwstr>Table of contents</vt:lpwstr>
  </property>
</Properties>
</file>