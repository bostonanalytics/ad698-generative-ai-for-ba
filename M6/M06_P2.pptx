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40" Type="http://schemas.openxmlformats.org/officeDocument/2006/relationships/viewProps" Target="viewProps.xml" /><Relationship Id="rId39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M06 Presentation 02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Agentic AI: A Practical Walkthrough</a:t>
            </a: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print Revealjs slides</a:t>
            </a:r>
          </a:p>
        </p:txBody>
      </p:sp>
      <p:pic>
        <p:nvPicPr>
          <p:cNvPr descr="../syllabus-images/Printing_Revealjs_Slid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81600" y="2235200"/>
            <a:ext cx="6172200" cy="234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Documents to Agents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From Documents to Agents</a:t>
            </a:r>
          </a:p>
          <a:p>
            <a:pPr lvl="0"/>
            <a:r>
              <a:rPr/>
              <a:t>Traditional AI pipelines often stop at </a:t>
            </a:r>
            <a:r>
              <a:rPr b="1"/>
              <a:t>data extraction or summarization</a:t>
            </a:r>
            <a:r>
              <a:rPr/>
              <a:t>.</a:t>
            </a:r>
          </a:p>
          <a:p>
            <a:pPr lvl="0"/>
            <a:r>
              <a:rPr/>
              <a:t>Modern agentic systems go further by </a:t>
            </a:r>
            <a:r>
              <a:rPr b="1"/>
              <a:t>planning, retrieving, reasoning, and acting</a:t>
            </a:r>
            <a:r>
              <a:rPr/>
              <a:t>.</a:t>
            </a:r>
          </a:p>
          <a:p>
            <a:pPr lvl="0"/>
            <a:r>
              <a:rPr/>
              <a:t>SEC 10-K filings provide an ideal testbed because they are:</a:t>
            </a:r>
          </a:p>
          <a:p>
            <a:pPr lvl="1"/>
            <a:r>
              <a:rPr/>
              <a:t>long and messy,</a:t>
            </a:r>
          </a:p>
          <a:p>
            <a:pPr lvl="1"/>
            <a:r>
              <a:rPr/>
              <a:t>financially meaningful,</a:t>
            </a:r>
          </a:p>
          <a:p>
            <a:pPr lvl="1"/>
            <a:r>
              <a:rPr/>
              <a:t>semi-structured,</a:t>
            </a:r>
          </a:p>
          <a:p>
            <a:pPr lvl="1"/>
            <a:r>
              <a:rPr/>
              <a:t>and rich enough to support real analysis.</a:t>
            </a:r>
          </a:p>
          <a:p>
            <a:pPr lvl="0"/>
            <a:r>
              <a:rPr/>
              <a:t>In this presentation, we move from a simple </a:t>
            </a:r>
            <a:r>
              <a:rPr b="1"/>
              <a:t>SEC downloader</a:t>
            </a:r>
            <a:r>
              <a:rPr/>
              <a:t> to a full </a:t>
            </a:r>
            <a:r>
              <a:rPr b="1"/>
              <a:t>financial agent</a:t>
            </a:r>
            <a:r>
              <a:rPr/>
              <a:t>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Build on SEC Filings?</a:t>
            </a:r>
          </a:p>
          <a:p>
            <a:pPr lvl="0"/>
            <a:r>
              <a:rPr/>
              <a:t>SEC filings are not toy data; they are </a:t>
            </a:r>
            <a:r>
              <a:rPr b="1"/>
              <a:t>enterprise-grade financial documents</a:t>
            </a:r>
            <a:r>
              <a:rPr/>
              <a:t>.</a:t>
            </a:r>
          </a:p>
          <a:p>
            <a:pPr lvl="0"/>
            <a:r>
              <a:rPr/>
              <a:t>They contain critical information on:</a:t>
            </a:r>
          </a:p>
          <a:p>
            <a:pPr lvl="1"/>
            <a:r>
              <a:rPr/>
              <a:t>business models,</a:t>
            </a:r>
          </a:p>
          <a:p>
            <a:pPr lvl="1"/>
            <a:r>
              <a:rPr/>
              <a:t>risk factors,</a:t>
            </a:r>
          </a:p>
          <a:p>
            <a:pPr lvl="1"/>
            <a:r>
              <a:rPr/>
              <a:t>cybersecurity disclosures,</a:t>
            </a:r>
          </a:p>
          <a:p>
            <a:pPr lvl="1"/>
            <a:r>
              <a:rPr/>
              <a:t>financial performance,</a:t>
            </a:r>
          </a:p>
          <a:p>
            <a:pPr lvl="1"/>
            <a:r>
              <a:rPr/>
              <a:t>and strategic direction.</a:t>
            </a:r>
          </a:p>
          <a:p>
            <a:pPr lvl="0"/>
            <a:r>
              <a:rPr/>
              <a:t>A useful financial agent should do more than summarize text.</a:t>
            </a:r>
          </a:p>
          <a:p>
            <a:pPr lvl="0"/>
            <a:r>
              <a:rPr/>
              <a:t>It should be able to:</a:t>
            </a:r>
          </a:p>
          <a:p>
            <a:pPr lvl="1"/>
            <a:r>
              <a:rPr/>
              <a:t>find the right filing,</a:t>
            </a:r>
          </a:p>
          <a:p>
            <a:pPr lvl="1"/>
            <a:r>
              <a:rPr/>
              <a:t>extract the right sections,</a:t>
            </a:r>
          </a:p>
          <a:p>
            <a:pPr lvl="1"/>
            <a:r>
              <a:rPr/>
              <a:t>retrieve supporting evidence,</a:t>
            </a:r>
          </a:p>
          <a:p>
            <a:pPr lvl="1"/>
            <a:r>
              <a:rPr/>
              <a:t>and generate a grounded financial interpretation.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Central Question</a:t>
            </a:r>
          </a:p>
          <a:p>
            <a:pPr lvl="0"/>
            <a:r>
              <a:rPr/>
              <a:t>The goal is not just:</a:t>
            </a:r>
          </a:p>
          <a:p>
            <a:pPr lvl="1"/>
            <a:r>
              <a:rPr/>
              <a:t>“Can an LLM summarize a filing?”</a:t>
            </a:r>
          </a:p>
          <a:p>
            <a:pPr lvl="0"/>
            <a:r>
              <a:rPr/>
              <a:t>The real goal is:</a:t>
            </a:r>
          </a:p>
          <a:p>
            <a:pPr lvl="1"/>
            <a:r>
              <a:rPr/>
              <a:t>“Can we design a system that knows how to </a:t>
            </a:r>
            <a:r>
              <a:rPr b="1"/>
              <a:t>find, parse, retrieve, and reason</a:t>
            </a:r>
            <a:r>
              <a:rPr/>
              <a:t> over filings?”</a:t>
            </a:r>
          </a:p>
          <a:p>
            <a:pPr lvl="0"/>
            <a:r>
              <a:rPr/>
              <a:t>That shift turns the project from a simple LLM demo into an </a:t>
            </a:r>
            <a:r>
              <a:rPr b="1"/>
              <a:t>agentic AI system</a:t>
            </a:r>
            <a:r>
              <a:rPr/>
              <a:t>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Narrative of the System</a:t>
            </a:r>
          </a:p>
          <a:p>
            <a:pPr lvl="0"/>
            <a:r>
              <a:rPr/>
              <a:t>We start with a user question such as:</a:t>
            </a:r>
          </a:p>
          <a:p>
            <a:pPr lvl="1"/>
            <a:r>
              <a:rPr/>
              <a:t>“Compare AI-related risk disclosures in the latest semiconductor 10-K filings.”</a:t>
            </a:r>
          </a:p>
          <a:p>
            <a:pPr lvl="0"/>
            <a:r>
              <a:rPr/>
              <a:t>The system then proceeds through a series of stages:</a:t>
            </a:r>
          </a:p>
          <a:p>
            <a:pPr lvl="1"/>
            <a:r>
              <a:rPr/>
              <a:t>identify relevant firms,</a:t>
            </a:r>
          </a:p>
          <a:p>
            <a:pPr lvl="1"/>
            <a:r>
              <a:rPr/>
              <a:t>download the correct filings,</a:t>
            </a:r>
          </a:p>
          <a:p>
            <a:pPr lvl="1"/>
            <a:r>
              <a:rPr/>
              <a:t>isolate the right SEC sections,</a:t>
            </a:r>
          </a:p>
          <a:p>
            <a:pPr lvl="1"/>
            <a:r>
              <a:rPr/>
              <a:t>index the material,</a:t>
            </a:r>
          </a:p>
          <a:p>
            <a:pPr lvl="1"/>
            <a:r>
              <a:rPr/>
              <a:t>retrieve relevant evidence,</a:t>
            </a:r>
          </a:p>
          <a:p>
            <a:pPr lvl="1"/>
            <a:r>
              <a:rPr/>
              <a:t>synthesize a response,</a:t>
            </a:r>
          </a:p>
          <a:p>
            <a:pPr lvl="1"/>
            <a:r>
              <a:rPr/>
              <a:t>and review the result before returning it.</a:t>
            </a:r>
          </a:p>
          <a:p>
            <a:pPr lvl="0"/>
            <a:r>
              <a:rPr/>
              <a:t>This is a workflow, not a one-shot prompt.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Makes This an Agent?</a:t>
            </a:r>
          </a:p>
          <a:p>
            <a:pPr lvl="0"/>
            <a:r>
              <a:rPr/>
              <a:t>A normal LLM call produces one answer from one prompt.</a:t>
            </a:r>
          </a:p>
          <a:p>
            <a:pPr lvl="0"/>
            <a:r>
              <a:rPr/>
              <a:t>A financial agent instead:</a:t>
            </a:r>
          </a:p>
          <a:p>
            <a:pPr lvl="1"/>
            <a:r>
              <a:rPr/>
              <a:t>maintains task context,</a:t>
            </a:r>
          </a:p>
          <a:p>
            <a:pPr lvl="1"/>
            <a:r>
              <a:rPr/>
              <a:t>selects tools,</a:t>
            </a:r>
          </a:p>
          <a:p>
            <a:pPr lvl="1"/>
            <a:r>
              <a:rPr/>
              <a:t>executes multiple steps,</a:t>
            </a:r>
          </a:p>
          <a:p>
            <a:pPr lvl="1"/>
            <a:r>
              <a:rPr/>
              <a:t>retrieves external evidence,</a:t>
            </a:r>
          </a:p>
          <a:p>
            <a:pPr lvl="1"/>
            <a:r>
              <a:rPr/>
              <a:t>and optionally critiques its own output.</a:t>
            </a:r>
          </a:p>
          <a:p>
            <a:pPr lvl="0"/>
            <a:r>
              <a:rPr/>
              <a:t>In other words, the system exhibits </a:t>
            </a:r>
            <a:r>
              <a:rPr b="1"/>
              <a:t>agency through orchestration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High-Level Architecture</a:t>
            </a:r>
          </a:p>
          <a:p>
            <a:pPr lvl="0"/>
            <a:r>
              <a:rPr/>
              <a:t>The system is best understood as a layered stack.</a:t>
            </a:r>
          </a:p>
          <a:p>
            <a:pPr lvl="0"/>
            <a:r>
              <a:rPr/>
              <a:t>At the bottom is the </a:t>
            </a:r>
            <a:r>
              <a:rPr b="1"/>
              <a:t>data layer</a:t>
            </a:r>
            <a:r>
              <a:rPr/>
              <a:t>, which acquires and stores SEC filings.</a:t>
            </a:r>
          </a:p>
          <a:p>
            <a:pPr lvl="0"/>
            <a:r>
              <a:rPr/>
              <a:t>Above that is the </a:t>
            </a:r>
            <a:r>
              <a:rPr b="1"/>
              <a:t>parsing and indexing layer</a:t>
            </a:r>
            <a:r>
              <a:rPr/>
              <a:t>, which converts raw filings into structured and retrievable content.</a:t>
            </a:r>
          </a:p>
          <a:p>
            <a:pPr lvl="0"/>
            <a:r>
              <a:rPr/>
              <a:t>Above that is the </a:t>
            </a:r>
            <a:r>
              <a:rPr b="1"/>
              <a:t>agent layer</a:t>
            </a:r>
            <a:r>
              <a:rPr/>
              <a:t>, which plans, selects tools, retrieves evidence, and composes responses.</a:t>
            </a:r>
          </a:p>
          <a:p>
            <a:pPr lvl="0"/>
            <a:r>
              <a:rPr/>
              <a:t>At the top is the </a:t>
            </a:r>
            <a:r>
              <a:rPr b="1"/>
              <a:t>user-facing application layer</a:t>
            </a:r>
            <a:r>
              <a:rPr/>
              <a:t>, where a researcher or analyst poses questions.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Role of OpenAI, Hugging Face, and LangChain</a:t>
            </a:r>
          </a:p>
          <a:p>
            <a:pPr lvl="0"/>
            <a:r>
              <a:rPr/>
              <a:t>Each part of the stack serves a different purpose.</a:t>
            </a:r>
          </a:p>
          <a:p>
            <a:pPr lvl="0"/>
            <a:r>
              <a:rPr b="1"/>
              <a:t>OpenAI</a:t>
            </a:r>
            <a:r>
              <a:rPr/>
              <a:t> provides strong reasoning, structured extraction, synthesis, and reflection.</a:t>
            </a:r>
          </a:p>
          <a:p>
            <a:pPr lvl="0"/>
            <a:r>
              <a:rPr b="1"/>
              <a:t>Hugging Face</a:t>
            </a:r>
            <a:r>
              <a:rPr/>
              <a:t> provides embeddings, rerankers, and open-model flexibility for retrieval and experimentation.</a:t>
            </a:r>
          </a:p>
          <a:p>
            <a:pPr lvl="0"/>
            <a:r>
              <a:rPr b="1"/>
              <a:t>LangChain</a:t>
            </a:r>
            <a:r>
              <a:rPr/>
              <a:t> provides the abstraction layer for prompts, tools, chains, retrievers, and output parsing.</a:t>
            </a:r>
          </a:p>
          <a:p>
            <a:pPr lvl="0"/>
            <a:r>
              <a:rPr b="1"/>
              <a:t>LangGraph</a:t>
            </a:r>
            <a:r>
              <a:rPr/>
              <a:t> extends this into a true agent runtime with state, loops, branching, and multi-agent coordination.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Practical Stack Design</a:t>
            </a:r>
          </a:p>
          <a:p>
            <a:pPr lvl="0"/>
            <a:r>
              <a:rPr/>
              <a:t>Use </a:t>
            </a:r>
            <a:r>
              <a:rPr b="1"/>
              <a:t>OpenAI</a:t>
            </a:r>
            <a:r>
              <a:rPr/>
              <a:t> when the task demands:</a:t>
            </a:r>
          </a:p>
          <a:p>
            <a:pPr lvl="1"/>
            <a:r>
              <a:rPr/>
              <a:t>planning,</a:t>
            </a:r>
          </a:p>
          <a:p>
            <a:pPr lvl="1"/>
            <a:r>
              <a:rPr/>
              <a:t>structured output,</a:t>
            </a:r>
          </a:p>
          <a:p>
            <a:pPr lvl="1"/>
            <a:r>
              <a:rPr/>
              <a:t>summarization,</a:t>
            </a:r>
          </a:p>
          <a:p>
            <a:pPr lvl="1"/>
            <a:r>
              <a:rPr/>
              <a:t>comparison,</a:t>
            </a:r>
          </a:p>
          <a:p>
            <a:pPr lvl="1"/>
            <a:r>
              <a:rPr/>
              <a:t>critique,</a:t>
            </a:r>
          </a:p>
          <a:p>
            <a:pPr lvl="1"/>
            <a:r>
              <a:rPr/>
              <a:t>and final synthesis.</a:t>
            </a:r>
          </a:p>
          <a:p>
            <a:pPr lvl="0"/>
            <a:r>
              <a:rPr/>
              <a:t>Use </a:t>
            </a:r>
            <a:r>
              <a:rPr b="1"/>
              <a:t>Hugging Face</a:t>
            </a:r>
            <a:r>
              <a:rPr/>
              <a:t> when the task demands:</a:t>
            </a:r>
          </a:p>
          <a:p>
            <a:pPr lvl="1"/>
            <a:r>
              <a:rPr/>
              <a:t>embeddings,</a:t>
            </a:r>
          </a:p>
          <a:p>
            <a:pPr lvl="1"/>
            <a:r>
              <a:rPr/>
              <a:t>local retrieval infrastructure,</a:t>
            </a:r>
          </a:p>
          <a:p>
            <a:pPr lvl="1"/>
            <a:r>
              <a:rPr/>
              <a:t>optional reranking,</a:t>
            </a:r>
          </a:p>
          <a:p>
            <a:pPr lvl="1"/>
            <a:r>
              <a:rPr/>
              <a:t>or experimentation with open models.</a:t>
            </a:r>
          </a:p>
          <a:p>
            <a:pPr lvl="0"/>
            <a:r>
              <a:rPr/>
              <a:t>Use </a:t>
            </a:r>
            <a:r>
              <a:rPr b="1"/>
              <a:t>LangChain/LangGraph</a:t>
            </a:r>
            <a:r>
              <a:rPr/>
              <a:t> when the task demands:</a:t>
            </a:r>
          </a:p>
          <a:p>
            <a:pPr lvl="1"/>
            <a:r>
              <a:rPr/>
              <a:t>tool calling,</a:t>
            </a:r>
          </a:p>
          <a:p>
            <a:pPr lvl="1"/>
            <a:r>
              <a:rPr/>
              <a:t>routing,</a:t>
            </a:r>
          </a:p>
          <a:p>
            <a:pPr lvl="1"/>
            <a:r>
              <a:rPr/>
              <a:t>memory,</a:t>
            </a:r>
          </a:p>
          <a:p>
            <a:pPr lvl="1"/>
            <a:r>
              <a:rPr/>
              <a:t>stateful workflows,</a:t>
            </a:r>
          </a:p>
          <a:p>
            <a:pPr lvl="1"/>
            <a:r>
              <a:rPr/>
              <a:t>and multi-step execution.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End-to-End Workflow</a:t>
            </a:r>
          </a:p>
          <a:p>
            <a:pPr lvl="0"/>
            <a:r>
              <a:rPr/>
              <a:t>The financial agent follows six major stages.</a:t>
            </a:r>
          </a:p>
          <a:p>
            <a:pPr lvl="0"/>
            <a:r>
              <a:rPr/>
              <a:t>It begins by identifying the target company, vertical, or topic.</a:t>
            </a:r>
          </a:p>
          <a:p>
            <a:pPr lvl="0"/>
            <a:r>
              <a:rPr/>
              <a:t>It then downloads or loads the filing using an SEC tool.</a:t>
            </a:r>
          </a:p>
          <a:p>
            <a:pPr lvl="0"/>
            <a:r>
              <a:rPr/>
              <a:t>It parses the filing into meaningful sections such as Item 1A or Item 7.</a:t>
            </a:r>
          </a:p>
          <a:p>
            <a:pPr lvl="0"/>
            <a:r>
              <a:rPr/>
              <a:t>It stores the results in both relational and vector form.</a:t>
            </a:r>
          </a:p>
          <a:p>
            <a:pPr lvl="0"/>
            <a:r>
              <a:rPr/>
              <a:t>It retrieves evidence relevant to the question.</a:t>
            </a:r>
          </a:p>
          <a:p>
            <a:pPr lvl="0"/>
            <a:r>
              <a:rPr/>
              <a:t>Finally, it synthesizes and reviews the answer.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Stage 1: Environment and Setup</a:t>
            </a:r>
          </a:p>
          <a:p>
            <a:pPr lvl="0"/>
            <a:r>
              <a:rPr/>
              <a:t>A serious agentic system needs a reproducible environment.</a:t>
            </a:r>
          </a:p>
          <a:p>
            <a:pPr lvl="0"/>
            <a:r>
              <a:rPr/>
              <a:t>The environment should clearly separate:</a:t>
            </a:r>
          </a:p>
          <a:p>
            <a:pPr lvl="1"/>
            <a:r>
              <a:rPr/>
              <a:t>model libraries,</a:t>
            </a:r>
          </a:p>
          <a:p>
            <a:pPr lvl="1"/>
            <a:r>
              <a:rPr/>
              <a:t>data engineering dependencies,</a:t>
            </a:r>
          </a:p>
          <a:p>
            <a:pPr lvl="1"/>
            <a:r>
              <a:rPr/>
              <a:t>vector infrastructure,</a:t>
            </a:r>
          </a:p>
          <a:p>
            <a:pPr lvl="1"/>
            <a:r>
              <a:rPr/>
              <a:t>and database integration.</a:t>
            </a:r>
          </a:p>
          <a:p>
            <a:pPr lvl="0"/>
            <a:r>
              <a:rPr/>
              <a:t>A lightweight environment manager such as </a:t>
            </a:r>
            <a:r>
              <a:rPr>
                <a:latin typeface="Roboto"/>
              </a:rPr>
              <a:t>uv</a:t>
            </a:r>
            <a:r>
              <a:rPr/>
              <a:t> is a strong choice for repeatability.</a:t>
            </a:r>
          </a:p>
          <a:p>
            <a:pPr lvl="0"/>
            <a:r>
              <a:rPr/>
              <a:t>The environment should also load API keys securely through </a:t>
            </a:r>
            <a:r>
              <a:rPr>
                <a:latin typeface="Roboto"/>
              </a:rPr>
              <a:t>.env</a:t>
            </a:r>
            <a:r>
              <a:rPr/>
              <a:t> files rather than hardcoding secrets.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Roboto"/>
              </a:rPr>
              <a:t>uv venv</a:t>
            </a:r>
            <a:br/>
            <a:r>
              <a:rPr>
                <a:solidFill>
                  <a:srgbClr val="003B4F"/>
                </a:solidFill>
                <a:latin typeface="Roboto"/>
              </a:rPr>
              <a:t>uv pip install langchain langchain-openai pydantic beautifulsoup4 requests </a:t>
            </a:r>
            <a:r>
              <a:rPr>
                <a:solidFill>
                  <a:srgbClr val="AD0000"/>
                </a:solidFill>
                <a:latin typeface="Roboto"/>
              </a:rPr>
              <a:t>\</a:t>
            </a:r>
            <a:br/>
            <a:r>
              <a:rPr>
                <a:solidFill>
                  <a:srgbClr val="003B4F"/>
                </a:solidFill>
                <a:latin typeface="Roboto"/>
              </a:rPr>
              <a:t>  sec-edgar-downloader python-dotenv psycopg2-binary chromadb </a:t>
            </a:r>
            <a:r>
              <a:rPr>
                <a:solidFill>
                  <a:srgbClr val="AD0000"/>
                </a:solidFill>
                <a:latin typeface="Roboto"/>
              </a:rPr>
              <a:t>\</a:t>
            </a:r>
            <a:br/>
            <a:r>
              <a:rPr>
                <a:solidFill>
                  <a:srgbClr val="003B4F"/>
                </a:solidFill>
                <a:latin typeface="Roboto"/>
              </a:rPr>
              <a:t>  sentence-transformers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the Environment Matters</a:t>
            </a:r>
          </a:p>
          <a:p>
            <a:pPr lvl="0"/>
            <a:r>
              <a:rPr/>
              <a:t>Agentic systems fail easily when environments are inconsistent.</a:t>
            </a:r>
          </a:p>
          <a:p>
            <a:pPr lvl="0"/>
            <a:r>
              <a:rPr/>
              <a:t>A broken dependency can interrupt:</a:t>
            </a:r>
          </a:p>
          <a:p>
            <a:pPr lvl="1"/>
            <a:r>
              <a:rPr/>
              <a:t>tool calling,</a:t>
            </a:r>
          </a:p>
          <a:p>
            <a:pPr lvl="1"/>
            <a:r>
              <a:rPr/>
              <a:t>SEC downloads,</a:t>
            </a:r>
          </a:p>
          <a:p>
            <a:pPr lvl="1"/>
            <a:r>
              <a:rPr/>
              <a:t>vector indexing,</a:t>
            </a:r>
          </a:p>
          <a:p>
            <a:pPr lvl="1"/>
            <a:r>
              <a:rPr/>
              <a:t>or database writes.</a:t>
            </a:r>
          </a:p>
          <a:p>
            <a:pPr lvl="0"/>
            <a:r>
              <a:rPr/>
              <a:t>Reproducibility is especially important when the project spans multiple notebooks and multiple architectural stages.</a:t>
            </a:r>
          </a:p>
          <a:p>
            <a:pPr lvl="0"/>
            <a:r>
              <a:rPr/>
              <a:t>Good agent design begins with good engineering hygiene.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Stage 2: Data Modeling</a:t>
            </a:r>
          </a:p>
          <a:p>
            <a:pPr lvl="0"/>
            <a:r>
              <a:rPr/>
              <a:t>Before we let the model generate anything important, we should define what valid output looks like.</a:t>
            </a:r>
          </a:p>
          <a:p>
            <a:pPr lvl="0"/>
            <a:r>
              <a:rPr/>
              <a:t>This is where </a:t>
            </a:r>
            <a:r>
              <a:rPr>
                <a:latin typeface="Roboto"/>
              </a:rPr>
              <a:t>pydantic</a:t>
            </a:r>
            <a:r>
              <a:rPr/>
              <a:t> becomes essential.</a:t>
            </a:r>
          </a:p>
          <a:p>
            <a:pPr lvl="0"/>
            <a:r>
              <a:rPr/>
              <a:t>Structured schemas reduce hallucination by requiring the model to conform to expected fields and types.</a:t>
            </a:r>
          </a:p>
          <a:p>
            <a:pPr lvl="0"/>
            <a:r>
              <a:rPr/>
              <a:t>They also make downstream storage and validation much easier.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Roboto"/>
              </a:rPr>
              <a:t>from</a:t>
            </a:r>
            <a:r>
              <a:rPr>
                <a:solidFill>
                  <a:srgbClr val="003B4F"/>
                </a:solidFill>
                <a:latin typeface="Roboto"/>
              </a:rPr>
              <a:t> pydantic </a:t>
            </a:r>
            <a:r>
              <a:rPr>
                <a:solidFill>
                  <a:srgbClr val="00769E"/>
                </a:solidFill>
                <a:latin typeface="Roboto"/>
              </a:rPr>
              <a:t>import</a:t>
            </a:r>
            <a:r>
              <a:rPr>
                <a:solidFill>
                  <a:srgbClr val="003B4F"/>
                </a:solidFill>
                <a:latin typeface="Roboto"/>
              </a:rPr>
              <a:t> BaseModel, Field</a:t>
            </a:r>
            <a:br/>
            <a:r>
              <a:rPr>
                <a:solidFill>
                  <a:srgbClr val="00769E"/>
                </a:solidFill>
                <a:latin typeface="Roboto"/>
              </a:rPr>
              <a:t>from</a:t>
            </a:r>
            <a:r>
              <a:rPr>
                <a:solidFill>
                  <a:srgbClr val="003B4F"/>
                </a:solidFill>
                <a:latin typeface="Roboto"/>
              </a:rPr>
              <a:t> typing </a:t>
            </a:r>
            <a:r>
              <a:rPr>
                <a:solidFill>
                  <a:srgbClr val="00769E"/>
                </a:solidFill>
                <a:latin typeface="Roboto"/>
              </a:rPr>
              <a:t>import</a:t>
            </a:r>
            <a:r>
              <a:rPr>
                <a:solidFill>
                  <a:srgbClr val="003B4F"/>
                </a:solidFill>
                <a:latin typeface="Roboto"/>
              </a:rPr>
              <a:t> List</a:t>
            </a:r>
            <a:br/>
            <a:br/>
            <a:r>
              <a:rPr b="1">
                <a:solidFill>
                  <a:srgbClr val="003B4F"/>
                </a:solidFill>
                <a:latin typeface="Roboto"/>
              </a:rPr>
              <a:t>class</a:t>
            </a:r>
            <a:r>
              <a:rPr>
                <a:solidFill>
                  <a:srgbClr val="003B4F"/>
                </a:solidFill>
                <a:latin typeface="Roboto"/>
              </a:rPr>
              <a:t> TopCompaniesOutput(BaseModel):</a:t>
            </a:r>
            <a:br/>
            <a:r>
              <a:rPr>
                <a:solidFill>
                  <a:srgbClr val="003B4F"/>
                </a:solidFill>
                <a:latin typeface="Roboto"/>
              </a:rPr>
              <a:t>    companies: List[str] </a:t>
            </a:r>
            <a:r>
              <a:rPr>
                <a:solidFill>
                  <a:srgbClr val="5E5E5E"/>
                </a:solidFill>
                <a:latin typeface="Roboto"/>
              </a:rPr>
              <a:t>=</a:t>
            </a:r>
            <a:r>
              <a:rPr>
                <a:solidFill>
                  <a:srgbClr val="003B4F"/>
                </a:solidFill>
                <a:latin typeface="Roboto"/>
              </a:rPr>
              <a:t> Field(</a:t>
            </a:r>
            <a:br/>
            <a:r>
              <a:rPr>
                <a:solidFill>
                  <a:srgbClr val="003B4F"/>
                </a:solidFill>
                <a:latin typeface="Roboto"/>
              </a:rPr>
              <a:t>        description</a:t>
            </a:r>
            <a:r>
              <a:rPr>
                <a:solidFill>
                  <a:srgbClr val="5E5E5E"/>
                </a:solidFill>
                <a:latin typeface="Roboto"/>
              </a:rPr>
              <a:t>=</a:t>
            </a:r>
            <a:r>
              <a:rPr>
                <a:solidFill>
                  <a:srgbClr val="20794D"/>
                </a:solidFill>
                <a:latin typeface="Roboto"/>
              </a:rPr>
              <a:t>"List of exactly 5 company tickers in the requested vertical"</a:t>
            </a:r>
            <a:br/>
            <a:r>
              <a:rPr>
                <a:solidFill>
                  <a:srgbClr val="003B4F"/>
                </a:solidFill>
                <a:latin typeface="Roboto"/>
              </a:rPr>
              <a:t>    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Structured Output Matters</a:t>
            </a:r>
          </a:p>
          <a:p>
            <a:pPr lvl="0"/>
            <a:r>
              <a:rPr/>
              <a:t>Financial tasks are not tolerant of vague output.</a:t>
            </a:r>
          </a:p>
          <a:p>
            <a:pPr lvl="0"/>
            <a:r>
              <a:rPr/>
              <a:t>If the model returns prose when we need a list, the pipeline becomes brittle.</a:t>
            </a:r>
          </a:p>
          <a:p>
            <a:pPr lvl="0"/>
            <a:r>
              <a:rPr/>
              <a:t>If the model returns the wrong shape, later tools may fail.</a:t>
            </a:r>
          </a:p>
          <a:p>
            <a:pPr lvl="0"/>
            <a:r>
              <a:rPr/>
              <a:t>Schema enforcement lets us turn stochastic text generation into something operationally useful.</a:t>
            </a:r>
          </a:p>
          <a:p>
            <a:pPr lvl="0"/>
            <a:r>
              <a:rPr/>
              <a:t>In practice, structure is one of the main ways we keep agents reliable.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Stage 3: SEC Data Acquisition</a:t>
            </a:r>
          </a:p>
          <a:p>
            <a:pPr lvl="0"/>
            <a:r>
              <a:rPr/>
              <a:t>The agent’s first real tool is the ability to obtain the filing.</a:t>
            </a:r>
          </a:p>
          <a:p>
            <a:pPr lvl="0"/>
            <a:r>
              <a:rPr/>
              <a:t>This step should be deterministic and tool-driven.</a:t>
            </a:r>
          </a:p>
          <a:p>
            <a:pPr lvl="0"/>
            <a:r>
              <a:rPr/>
              <a:t>The filing manager should:</a:t>
            </a:r>
          </a:p>
          <a:p>
            <a:pPr lvl="1"/>
            <a:r>
              <a:rPr/>
              <a:t>resolve tickers or CIKs,</a:t>
            </a:r>
          </a:p>
          <a:p>
            <a:pPr lvl="1"/>
            <a:r>
              <a:rPr/>
              <a:t>check the local cache,</a:t>
            </a:r>
          </a:p>
          <a:p>
            <a:pPr lvl="1"/>
            <a:r>
              <a:rPr/>
              <a:t>download missing filings,</a:t>
            </a:r>
          </a:p>
          <a:p>
            <a:pPr lvl="1"/>
            <a:r>
              <a:rPr/>
              <a:t>and return a path or confirmation.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Roboto"/>
              </a:rPr>
              <a:t>def</a:t>
            </a:r>
            <a:r>
              <a:rPr>
                <a:solidFill>
                  <a:srgbClr val="003B4F"/>
                </a:solidFill>
                <a:latin typeface="Roboto"/>
              </a:rPr>
              <a:t> get_10k_filing(</a:t>
            </a:r>
            <a:r>
              <a:rPr>
                <a:solidFill>
                  <a:srgbClr val="111111"/>
                </a:solidFill>
                <a:latin typeface="Roboto"/>
              </a:rPr>
              <a:t>self</a:t>
            </a:r>
            <a:r>
              <a:rPr>
                <a:solidFill>
                  <a:srgbClr val="003B4F"/>
                </a:solidFill>
                <a:latin typeface="Roboto"/>
              </a:rPr>
              <a:t>, ticker: str, year: int) </a:t>
            </a:r>
            <a:r>
              <a:rPr>
                <a:solidFill>
                  <a:srgbClr val="5E5E5E"/>
                </a:solidFill>
                <a:latin typeface="Roboto"/>
              </a:rPr>
              <a:t>-&gt;</a:t>
            </a:r>
            <a:r>
              <a:rPr>
                <a:solidFill>
                  <a:srgbClr val="003B4F"/>
                </a:solidFill>
                <a:latin typeface="Roboto"/>
              </a:rPr>
              <a:t> str:</a:t>
            </a:r>
            <a:br/>
            <a:r>
              <a:rPr>
                <a:solidFill>
                  <a:srgbClr val="003B4F"/>
                </a:solidFill>
                <a:latin typeface="Roboto"/>
              </a:rPr>
              <a:t>    cik </a:t>
            </a:r>
            <a:r>
              <a:rPr>
                <a:solidFill>
                  <a:srgbClr val="5E5E5E"/>
                </a:solidFill>
                <a:latin typeface="Roboto"/>
              </a:rPr>
              <a:t>=</a:t>
            </a:r>
            <a:r>
              <a:rPr>
                <a:solidFill>
                  <a:srgbClr val="003B4F"/>
                </a:solidFill>
                <a:latin typeface="Roboto"/>
              </a:rPr>
              <a:t> </a:t>
            </a:r>
            <a:r>
              <a:rPr>
                <a:solidFill>
                  <a:srgbClr val="111111"/>
                </a:solidFill>
                <a:latin typeface="Roboto"/>
              </a:rPr>
              <a:t>self</a:t>
            </a:r>
            <a:r>
              <a:rPr>
                <a:solidFill>
                  <a:srgbClr val="003B4F"/>
                </a:solidFill>
                <a:latin typeface="Roboto"/>
              </a:rPr>
              <a:t>._get_cik(ticker)</a:t>
            </a:r>
            <a:br/>
            <a:r>
              <a:rPr>
                <a:solidFill>
                  <a:srgbClr val="003B4F"/>
                </a:solidFill>
                <a:latin typeface="Roboto"/>
              </a:rPr>
              <a:t>    local_path </a:t>
            </a:r>
            <a:r>
              <a:rPr>
                <a:solidFill>
                  <a:srgbClr val="5E5E5E"/>
                </a:solidFill>
                <a:latin typeface="Roboto"/>
              </a:rPr>
              <a:t>=</a:t>
            </a:r>
            <a:r>
              <a:rPr>
                <a:solidFill>
                  <a:srgbClr val="003B4F"/>
                </a:solidFill>
                <a:latin typeface="Roboto"/>
              </a:rPr>
              <a:t> os.path.join(</a:t>
            </a:r>
            <a:r>
              <a:rPr>
                <a:solidFill>
                  <a:srgbClr val="111111"/>
                </a:solidFill>
                <a:latin typeface="Roboto"/>
              </a:rPr>
              <a:t>self</a:t>
            </a:r>
            <a:r>
              <a:rPr>
                <a:solidFill>
                  <a:srgbClr val="003B4F"/>
                </a:solidFill>
                <a:latin typeface="Roboto"/>
              </a:rPr>
              <a:t>.local_data_dir, str(year), </a:t>
            </a:r>
            <a:r>
              <a:rPr>
                <a:solidFill>
                  <a:srgbClr val="20794D"/>
                </a:solidFill>
                <a:latin typeface="Roboto"/>
              </a:rPr>
              <a:t>f"</a:t>
            </a:r>
            <a:r>
              <a:rPr>
                <a:solidFill>
                  <a:srgbClr val="5E5E5E"/>
                </a:solidFill>
                <a:latin typeface="Roboto"/>
              </a:rPr>
              <a:t>{</a:t>
            </a:r>
            <a:r>
              <a:rPr>
                <a:solidFill>
                  <a:srgbClr val="003B4F"/>
                </a:solidFill>
                <a:latin typeface="Roboto"/>
              </a:rPr>
              <a:t>cik</a:t>
            </a:r>
            <a:r>
              <a:rPr>
                <a:solidFill>
                  <a:srgbClr val="5E5E5E"/>
                </a:solidFill>
                <a:latin typeface="Roboto"/>
              </a:rPr>
              <a:t>}</a:t>
            </a:r>
            <a:r>
              <a:rPr>
                <a:solidFill>
                  <a:srgbClr val="20794D"/>
                </a:solidFill>
                <a:latin typeface="Roboto"/>
              </a:rPr>
              <a:t>.html"</a:t>
            </a:r>
            <a:r>
              <a:rPr>
                <a:solidFill>
                  <a:srgbClr val="003B4F"/>
                </a:solidFill>
                <a:latin typeface="Roboto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Roboto"/>
              </a:rPr>
              <a:t>    </a:t>
            </a:r>
            <a:r>
              <a:rPr b="1">
                <a:solidFill>
                  <a:srgbClr val="003B4F"/>
                </a:solidFill>
                <a:latin typeface="Roboto"/>
              </a:rPr>
              <a:t>if</a:t>
            </a:r>
            <a:r>
              <a:rPr>
                <a:solidFill>
                  <a:srgbClr val="003B4F"/>
                </a:solidFill>
                <a:latin typeface="Roboto"/>
              </a:rPr>
              <a:t> os.path.exists(local_path):</a:t>
            </a:r>
            <a:br/>
            <a:r>
              <a:rPr>
                <a:solidFill>
                  <a:srgbClr val="003B4F"/>
                </a:solidFill>
                <a:latin typeface="Roboto"/>
              </a:rPr>
              <a:t>        </a:t>
            </a:r>
            <a:r>
              <a:rPr b="1">
                <a:solidFill>
                  <a:srgbClr val="003B4F"/>
                </a:solidFill>
                <a:latin typeface="Roboto"/>
              </a:rPr>
              <a:t>return</a:t>
            </a:r>
            <a:r>
              <a:rPr>
                <a:solidFill>
                  <a:srgbClr val="003B4F"/>
                </a:solidFill>
                <a:latin typeface="Roboto"/>
              </a:rPr>
              <a:t> </a:t>
            </a:r>
            <a:r>
              <a:rPr>
                <a:solidFill>
                  <a:srgbClr val="20794D"/>
                </a:solidFill>
                <a:latin typeface="Roboto"/>
              </a:rPr>
              <a:t>f"Found local file at </a:t>
            </a:r>
            <a:r>
              <a:rPr>
                <a:solidFill>
                  <a:srgbClr val="5E5E5E"/>
                </a:solidFill>
                <a:latin typeface="Roboto"/>
              </a:rPr>
              <a:t>{</a:t>
            </a:r>
            <a:r>
              <a:rPr>
                <a:solidFill>
                  <a:srgbClr val="003B4F"/>
                </a:solidFill>
                <a:latin typeface="Roboto"/>
              </a:rPr>
              <a:t>local_path</a:t>
            </a:r>
            <a:r>
              <a:rPr>
                <a:solidFill>
                  <a:srgbClr val="5E5E5E"/>
                </a:solidFill>
                <a:latin typeface="Roboto"/>
              </a:rPr>
              <a:t>}</a:t>
            </a:r>
            <a:r>
              <a:rPr>
                <a:solidFill>
                  <a:srgbClr val="20794D"/>
                </a:solidFill>
                <a:latin typeface="Roboto"/>
              </a:rPr>
              <a:t>"</a:t>
            </a:r>
            <a:br/>
            <a:br/>
            <a:r>
              <a:rPr>
                <a:solidFill>
                  <a:srgbClr val="003B4F"/>
                </a:solidFill>
                <a:latin typeface="Roboto"/>
              </a:rPr>
              <a:t>    </a:t>
            </a:r>
            <a:r>
              <a:rPr>
                <a:solidFill>
                  <a:srgbClr val="111111"/>
                </a:solidFill>
                <a:latin typeface="Roboto"/>
              </a:rPr>
              <a:t>self</a:t>
            </a:r>
            <a:r>
              <a:rPr>
                <a:solidFill>
                  <a:srgbClr val="003B4F"/>
                </a:solidFill>
                <a:latin typeface="Roboto"/>
              </a:rPr>
              <a:t>.downloader.get(</a:t>
            </a:r>
            <a:r>
              <a:rPr>
                <a:solidFill>
                  <a:srgbClr val="20794D"/>
                </a:solidFill>
                <a:latin typeface="Roboto"/>
              </a:rPr>
              <a:t>"10-K"</a:t>
            </a:r>
            <a:r>
              <a:rPr>
                <a:solidFill>
                  <a:srgbClr val="003B4F"/>
                </a:solidFill>
                <a:latin typeface="Roboto"/>
              </a:rPr>
              <a:t>, ticker, amount</a:t>
            </a:r>
            <a:r>
              <a:rPr>
                <a:solidFill>
                  <a:srgbClr val="5E5E5E"/>
                </a:solidFill>
                <a:latin typeface="Roboto"/>
              </a:rPr>
              <a:t>=</a:t>
            </a:r>
            <a:r>
              <a:rPr>
                <a:solidFill>
                  <a:srgbClr val="AD0000"/>
                </a:solidFill>
                <a:latin typeface="Roboto"/>
              </a:rPr>
              <a:t>1</a:t>
            </a:r>
            <a:r>
              <a:rPr>
                <a:solidFill>
                  <a:srgbClr val="003B4F"/>
                </a:solidFill>
                <a:latin typeface="Roboto"/>
              </a:rPr>
              <a:t>)</a:t>
            </a:r>
            <a:br/>
            <a:r>
              <a:rPr>
                <a:solidFill>
                  <a:srgbClr val="003B4F"/>
                </a:solidFill>
                <a:latin typeface="Roboto"/>
              </a:rPr>
              <a:t>    </a:t>
            </a:r>
            <a:r>
              <a:rPr b="1">
                <a:solidFill>
                  <a:srgbClr val="003B4F"/>
                </a:solidFill>
                <a:latin typeface="Roboto"/>
              </a:rPr>
              <a:t>return</a:t>
            </a:r>
            <a:r>
              <a:rPr>
                <a:solidFill>
                  <a:srgbClr val="003B4F"/>
                </a:solidFill>
                <a:latin typeface="Roboto"/>
              </a:rPr>
              <a:t> </a:t>
            </a:r>
            <a:r>
              <a:rPr>
                <a:solidFill>
                  <a:srgbClr val="20794D"/>
                </a:solidFill>
                <a:latin typeface="Roboto"/>
              </a:rPr>
              <a:t>"Download complete."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This Step Should Stay Deterministic</a:t>
            </a:r>
          </a:p>
          <a:p>
            <a:pPr lvl="0"/>
            <a:r>
              <a:rPr/>
              <a:t>We do not want the model hallucinating a filing path.</a:t>
            </a:r>
          </a:p>
          <a:p>
            <a:pPr lvl="0"/>
            <a:r>
              <a:rPr/>
              <a:t>We do not want it guessing whether a file exists.</a:t>
            </a:r>
          </a:p>
          <a:p>
            <a:pPr lvl="0"/>
            <a:r>
              <a:rPr/>
              <a:t>The LLM should decide </a:t>
            </a:r>
            <a:r>
              <a:rPr b="1"/>
              <a:t>when</a:t>
            </a:r>
            <a:r>
              <a:rPr/>
              <a:t> to call the tool, but the tool itself should behave deterministically.</a:t>
            </a:r>
          </a:p>
          <a:p>
            <a:pPr lvl="0"/>
            <a:r>
              <a:rPr/>
              <a:t>This is a core design principle:</a:t>
            </a:r>
          </a:p>
          <a:p>
            <a:pPr lvl="1"/>
            <a:r>
              <a:rPr/>
              <a:t>let the model reason,</a:t>
            </a:r>
          </a:p>
          <a:p>
            <a:pPr lvl="1"/>
            <a:r>
              <a:rPr/>
              <a:t>but let code handle operational truth.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Stage 4: Parsing and Extraction</a:t>
            </a:r>
          </a:p>
          <a:p>
            <a:pPr lvl="0"/>
            <a:r>
              <a:rPr/>
              <a:t>Raw SEC filings are long, noisy HTML documents.</a:t>
            </a:r>
          </a:p>
          <a:p>
            <a:pPr lvl="0"/>
            <a:r>
              <a:rPr/>
              <a:t>They must be cleaned before they become useful to an agent.</a:t>
            </a:r>
          </a:p>
          <a:p>
            <a:pPr lvl="0"/>
            <a:r>
              <a:rPr/>
              <a:t>Parsing should isolate sections that carry financial meaning, such as:</a:t>
            </a:r>
          </a:p>
          <a:p>
            <a:pPr lvl="1"/>
            <a:r>
              <a:rPr/>
              <a:t>Item 1: Business,</a:t>
            </a:r>
          </a:p>
          <a:p>
            <a:pPr lvl="1"/>
            <a:r>
              <a:rPr/>
              <a:t>Item 1A: Risk Factors,</a:t>
            </a:r>
          </a:p>
          <a:p>
            <a:pPr lvl="1"/>
            <a:r>
              <a:rPr/>
              <a:t>Item 1C: Cybersecurity,</a:t>
            </a:r>
          </a:p>
          <a:p>
            <a:pPr lvl="1"/>
            <a:r>
              <a:rPr/>
              <a:t>Item 7: MD&amp;A,</a:t>
            </a:r>
          </a:p>
          <a:p>
            <a:pPr lvl="1"/>
            <a:r>
              <a:rPr/>
              <a:t>Item 8: Financial Statements.</a:t>
            </a:r>
          </a:p>
          <a:p>
            <a:pPr lvl="0"/>
            <a:r>
              <a:rPr/>
              <a:t>This step is where deterministic preprocessing creates better context for the LLM.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Roboto"/>
              </a:rPr>
              <a:t>def</a:t>
            </a:r>
            <a:r>
              <a:rPr>
                <a:solidFill>
                  <a:srgbClr val="003B4F"/>
                </a:solidFill>
                <a:latin typeface="Roboto"/>
              </a:rPr>
              <a:t> parse_text(</a:t>
            </a:r>
            <a:r>
              <a:rPr>
                <a:solidFill>
                  <a:srgbClr val="111111"/>
                </a:solidFill>
                <a:latin typeface="Roboto"/>
              </a:rPr>
              <a:t>self</a:t>
            </a:r>
            <a:r>
              <a:rPr>
                <a:solidFill>
                  <a:srgbClr val="003B4F"/>
                </a:solidFill>
                <a:latin typeface="Roboto"/>
              </a:rPr>
              <a:t>, text: str, required_items: list[str]) </a:t>
            </a:r>
            <a:r>
              <a:rPr>
                <a:solidFill>
                  <a:srgbClr val="5E5E5E"/>
                </a:solidFill>
                <a:latin typeface="Roboto"/>
              </a:rPr>
              <a:t>-&gt;</a:t>
            </a:r>
            <a:r>
              <a:rPr>
                <a:solidFill>
                  <a:srgbClr val="003B4F"/>
                </a:solidFill>
                <a:latin typeface="Roboto"/>
              </a:rPr>
              <a:t> dict[str, str]:</a:t>
            </a:r>
            <a:br/>
            <a:r>
              <a:rPr>
                <a:solidFill>
                  <a:srgbClr val="003B4F"/>
                </a:solidFill>
                <a:latin typeface="Roboto"/>
              </a:rPr>
              <a:t>    extracted </a:t>
            </a:r>
            <a:r>
              <a:rPr>
                <a:solidFill>
                  <a:srgbClr val="5E5E5E"/>
                </a:solidFill>
                <a:latin typeface="Roboto"/>
              </a:rPr>
              <a:t>=</a:t>
            </a:r>
            <a:r>
              <a:rPr>
                <a:solidFill>
                  <a:srgbClr val="003B4F"/>
                </a:solidFill>
                <a:latin typeface="Roboto"/>
              </a:rPr>
              <a:t> {}</a:t>
            </a:r>
            <a:br/>
            <a:r>
              <a:rPr>
                <a:solidFill>
                  <a:srgbClr val="003B4F"/>
                </a:solidFill>
                <a:latin typeface="Roboto"/>
              </a:rPr>
              <a:t>    </a:t>
            </a:r>
            <a:r>
              <a:rPr b="1">
                <a:solidFill>
                  <a:srgbClr val="003B4F"/>
                </a:solidFill>
                <a:latin typeface="Roboto"/>
              </a:rPr>
              <a:t>for</a:t>
            </a:r>
            <a:r>
              <a:rPr>
                <a:solidFill>
                  <a:srgbClr val="003B4F"/>
                </a:solidFill>
                <a:latin typeface="Roboto"/>
              </a:rPr>
              <a:t> item </a:t>
            </a:r>
            <a:r>
              <a:rPr b="1">
                <a:solidFill>
                  <a:srgbClr val="003B4F"/>
                </a:solidFill>
                <a:latin typeface="Roboto"/>
              </a:rPr>
              <a:t>in</a:t>
            </a:r>
            <a:r>
              <a:rPr>
                <a:solidFill>
                  <a:srgbClr val="003B4F"/>
                </a:solidFill>
                <a:latin typeface="Roboto"/>
              </a:rPr>
              <a:t> required_items:</a:t>
            </a:r>
            <a:br/>
            <a:r>
              <a:rPr>
                <a:solidFill>
                  <a:srgbClr val="003B4F"/>
                </a:solidFill>
                <a:latin typeface="Roboto"/>
              </a:rPr>
              <a:t>        pattern </a:t>
            </a:r>
            <a:r>
              <a:rPr>
                <a:solidFill>
                  <a:srgbClr val="5E5E5E"/>
                </a:solidFill>
                <a:latin typeface="Roboto"/>
              </a:rPr>
              <a:t>=</a:t>
            </a:r>
            <a:r>
              <a:rPr>
                <a:solidFill>
                  <a:srgbClr val="003B4F"/>
                </a:solidFill>
                <a:latin typeface="Roboto"/>
              </a:rPr>
              <a:t> re.compile(</a:t>
            </a:r>
            <a:r>
              <a:rPr>
                <a:solidFill>
                  <a:srgbClr val="20794D"/>
                </a:solidFill>
                <a:latin typeface="Roboto"/>
              </a:rPr>
              <a:t>rf'</a:t>
            </a:r>
            <a:r>
              <a:rPr>
                <a:solidFill>
                  <a:srgbClr val="4758AB"/>
                </a:solidFill>
                <a:latin typeface="Roboto"/>
              </a:rPr>
              <a:t>(?i)</a:t>
            </a:r>
            <a:r>
              <a:rPr b="1">
                <a:solidFill>
                  <a:srgbClr val="003B4F"/>
                </a:solidFill>
                <a:latin typeface="Roboto"/>
              </a:rPr>
              <a:t>(</a:t>
            </a:r>
            <a:r>
              <a:rPr>
                <a:solidFill>
                  <a:srgbClr val="5E5E5E"/>
                </a:solidFill>
                <a:latin typeface="Roboto"/>
              </a:rPr>
              <a:t>{</a:t>
            </a:r>
            <a:r>
              <a:rPr>
                <a:solidFill>
                  <a:srgbClr val="003B4F"/>
                </a:solidFill>
                <a:latin typeface="Roboto"/>
              </a:rPr>
              <a:t>item</a:t>
            </a:r>
            <a:r>
              <a:rPr>
                <a:solidFill>
                  <a:srgbClr val="5E5E5E"/>
                </a:solidFill>
                <a:latin typeface="Roboto"/>
              </a:rPr>
              <a:t>}</a:t>
            </a:r>
            <a:r>
              <a:rPr>
                <a:solidFill>
                  <a:srgbClr val="20794D"/>
                </a:solidFill>
                <a:latin typeface="Roboto"/>
              </a:rPr>
              <a:t>\.</a:t>
            </a:r>
            <a:r>
              <a:rPr b="1">
                <a:solidFill>
                  <a:srgbClr val="003B4F"/>
                </a:solidFill>
                <a:latin typeface="Roboto"/>
              </a:rPr>
              <a:t>)</a:t>
            </a:r>
            <a:r>
              <a:rPr>
                <a:solidFill>
                  <a:srgbClr val="AD0000"/>
                </a:solidFill>
                <a:latin typeface="Roboto"/>
              </a:rPr>
              <a:t>.</a:t>
            </a:r>
            <a:r>
              <a:rPr>
                <a:solidFill>
                  <a:srgbClr val="5E5E5E"/>
                </a:solidFill>
                <a:latin typeface="Roboto"/>
              </a:rPr>
              <a:t>*?</a:t>
            </a:r>
            <a:r>
              <a:rPr>
                <a:solidFill>
                  <a:srgbClr val="003B4F"/>
                </a:solidFill>
                <a:latin typeface="Roboto"/>
              </a:rPr>
              <a:t>(</a:t>
            </a:r>
            <a:r>
              <a:rPr>
                <a:solidFill>
                  <a:srgbClr val="4758AB"/>
                </a:solidFill>
                <a:latin typeface="Roboto"/>
              </a:rPr>
              <a:t>?=</a:t>
            </a:r>
            <a:r>
              <a:rPr>
                <a:solidFill>
                  <a:srgbClr val="20794D"/>
                </a:solidFill>
                <a:latin typeface="Roboto"/>
              </a:rPr>
              <a:t>Item</a:t>
            </a:r>
            <a:r>
              <a:rPr>
                <a:solidFill>
                  <a:srgbClr val="AD0000"/>
                </a:solidFill>
                <a:latin typeface="Roboto"/>
              </a:rPr>
              <a:t>\s</a:t>
            </a:r>
            <a:r>
              <a:rPr>
                <a:solidFill>
                  <a:srgbClr val="5E5E5E"/>
                </a:solidFill>
                <a:latin typeface="Roboto"/>
              </a:rPr>
              <a:t>+</a:t>
            </a:r>
            <a:r>
              <a:rPr>
                <a:solidFill>
                  <a:srgbClr val="AD0000"/>
                </a:solidFill>
                <a:latin typeface="Roboto"/>
              </a:rPr>
              <a:t>\d</a:t>
            </a:r>
            <a:r>
              <a:rPr>
                <a:solidFill>
                  <a:srgbClr val="5E5E5E"/>
                </a:solidFill>
                <a:latin typeface="Roboto"/>
              </a:rPr>
              <a:t>+</a:t>
            </a:r>
            <a:r>
              <a:rPr>
                <a:solidFill>
                  <a:srgbClr val="AD0000"/>
                </a:solidFill>
                <a:latin typeface="Roboto"/>
              </a:rPr>
              <a:t>[A-Z]</a:t>
            </a:r>
            <a:r>
              <a:rPr>
                <a:solidFill>
                  <a:srgbClr val="5E5E5E"/>
                </a:solidFill>
                <a:latin typeface="Roboto"/>
              </a:rPr>
              <a:t>?</a:t>
            </a:r>
            <a:r>
              <a:rPr>
                <a:solidFill>
                  <a:srgbClr val="20794D"/>
                </a:solidFill>
                <a:latin typeface="Roboto"/>
              </a:rPr>
              <a:t>\.</a:t>
            </a:r>
            <a:r>
              <a:rPr>
                <a:solidFill>
                  <a:srgbClr val="003B4F"/>
                </a:solidFill>
                <a:latin typeface="Roboto"/>
              </a:rPr>
              <a:t>)</a:t>
            </a:r>
            <a:r>
              <a:rPr>
                <a:solidFill>
                  <a:srgbClr val="20794D"/>
                </a:solidFill>
                <a:latin typeface="Roboto"/>
              </a:rPr>
              <a:t>'</a:t>
            </a:r>
            <a:r>
              <a:rPr>
                <a:solidFill>
                  <a:srgbClr val="003B4F"/>
                </a:solidFill>
                <a:latin typeface="Roboto"/>
              </a:rPr>
              <a:t>, re.DOTALL)</a:t>
            </a:r>
            <a:br/>
            <a:r>
              <a:rPr>
                <a:solidFill>
                  <a:srgbClr val="003B4F"/>
                </a:solidFill>
                <a:latin typeface="Roboto"/>
              </a:rPr>
              <a:t>        match </a:t>
            </a:r>
            <a:r>
              <a:rPr>
                <a:solidFill>
                  <a:srgbClr val="5E5E5E"/>
                </a:solidFill>
                <a:latin typeface="Roboto"/>
              </a:rPr>
              <a:t>=</a:t>
            </a:r>
            <a:r>
              <a:rPr>
                <a:solidFill>
                  <a:srgbClr val="003B4F"/>
                </a:solidFill>
                <a:latin typeface="Roboto"/>
              </a:rPr>
              <a:t> pattern.search(text)</a:t>
            </a:r>
            <a:br/>
            <a:r>
              <a:rPr>
                <a:solidFill>
                  <a:srgbClr val="003B4F"/>
                </a:solidFill>
                <a:latin typeface="Roboto"/>
              </a:rPr>
              <a:t>        extracted[item] </a:t>
            </a:r>
            <a:r>
              <a:rPr>
                <a:solidFill>
                  <a:srgbClr val="5E5E5E"/>
                </a:solidFill>
                <a:latin typeface="Roboto"/>
              </a:rPr>
              <a:t>=</a:t>
            </a:r>
            <a:r>
              <a:rPr>
                <a:solidFill>
                  <a:srgbClr val="003B4F"/>
                </a:solidFill>
                <a:latin typeface="Roboto"/>
              </a:rPr>
              <a:t> match.group(</a:t>
            </a:r>
            <a:r>
              <a:rPr>
                <a:solidFill>
                  <a:srgbClr val="AD0000"/>
                </a:solidFill>
                <a:latin typeface="Roboto"/>
              </a:rPr>
              <a:t>0</a:t>
            </a:r>
            <a:r>
              <a:rPr>
                <a:solidFill>
                  <a:srgbClr val="003B4F"/>
                </a:solidFill>
                <a:latin typeface="Roboto"/>
              </a:rPr>
              <a:t>).strip() </a:t>
            </a:r>
            <a:r>
              <a:rPr b="1">
                <a:solidFill>
                  <a:srgbClr val="003B4F"/>
                </a:solidFill>
                <a:latin typeface="Roboto"/>
              </a:rPr>
              <a:t>if</a:t>
            </a:r>
            <a:r>
              <a:rPr>
                <a:solidFill>
                  <a:srgbClr val="003B4F"/>
                </a:solidFill>
                <a:latin typeface="Roboto"/>
              </a:rPr>
              <a:t> match </a:t>
            </a:r>
            <a:r>
              <a:rPr b="1">
                <a:solidFill>
                  <a:srgbClr val="003B4F"/>
                </a:solidFill>
                <a:latin typeface="Roboto"/>
              </a:rPr>
              <a:t>else</a:t>
            </a:r>
            <a:r>
              <a:rPr>
                <a:solidFill>
                  <a:srgbClr val="003B4F"/>
                </a:solidFill>
                <a:latin typeface="Roboto"/>
              </a:rPr>
              <a:t> </a:t>
            </a:r>
            <a:r>
              <a:rPr>
                <a:solidFill>
                  <a:srgbClr val="20794D"/>
                </a:solidFill>
                <a:latin typeface="Roboto"/>
              </a:rPr>
              <a:t>"Not found."</a:t>
            </a:r>
            <a:br/>
            <a:r>
              <a:rPr>
                <a:solidFill>
                  <a:srgbClr val="003B4F"/>
                </a:solidFill>
                <a:latin typeface="Roboto"/>
              </a:rPr>
              <a:t>    </a:t>
            </a:r>
            <a:r>
              <a:rPr b="1">
                <a:solidFill>
                  <a:srgbClr val="003B4F"/>
                </a:solidFill>
                <a:latin typeface="Roboto"/>
              </a:rPr>
              <a:t>return</a:t>
            </a:r>
            <a:r>
              <a:rPr>
                <a:solidFill>
                  <a:srgbClr val="003B4F"/>
                </a:solidFill>
                <a:latin typeface="Roboto"/>
              </a:rPr>
              <a:t> extracted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Parsing Improves the Agent</a:t>
            </a:r>
          </a:p>
          <a:p>
            <a:pPr lvl="0"/>
            <a:r>
              <a:rPr/>
              <a:t>A raw filing is too large and too noisy to send directly to a model.</a:t>
            </a:r>
          </a:p>
          <a:p>
            <a:pPr lvl="0"/>
            <a:r>
              <a:rPr/>
              <a:t>A parsed filing lets the system:</a:t>
            </a:r>
          </a:p>
          <a:p>
            <a:pPr lvl="1"/>
            <a:r>
              <a:rPr/>
              <a:t>search more precisely,</a:t>
            </a:r>
          </a:p>
          <a:p>
            <a:pPr lvl="1"/>
            <a:r>
              <a:rPr/>
              <a:t>retrieve less irrelevant text,</a:t>
            </a:r>
          </a:p>
          <a:p>
            <a:pPr lvl="1"/>
            <a:r>
              <a:rPr/>
              <a:t>and reduce context-window waste.</a:t>
            </a:r>
          </a:p>
          <a:p>
            <a:pPr lvl="0"/>
            <a:r>
              <a:rPr/>
              <a:t>Good parsing is not just preprocessing.</a:t>
            </a:r>
          </a:p>
          <a:p>
            <a:pPr lvl="0"/>
            <a:r>
              <a:rPr/>
              <a:t>It is the foundation of good retrieval and good reasoning.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Stage 5: Storage Design</a:t>
            </a:r>
          </a:p>
          <a:p>
            <a:pPr lvl="0"/>
            <a:r>
              <a:rPr/>
              <a:t>A strong financial agent should not rely on only one storage mechanism.</a:t>
            </a:r>
          </a:p>
          <a:p>
            <a:pPr lvl="0"/>
            <a:r>
              <a:rPr/>
              <a:t>It needs:</a:t>
            </a:r>
          </a:p>
          <a:p>
            <a:pPr lvl="1"/>
            <a:r>
              <a:rPr b="1"/>
              <a:t>relational storage</a:t>
            </a:r>
            <a:r>
              <a:rPr/>
              <a:t> for structured metadata,</a:t>
            </a:r>
          </a:p>
          <a:p>
            <a:pPr lvl="1"/>
            <a:r>
              <a:rPr/>
              <a:t>and </a:t>
            </a:r>
            <a:r>
              <a:rPr b="1"/>
              <a:t>vector storage</a:t>
            </a:r>
            <a:r>
              <a:rPr/>
              <a:t> for semantic retrieval.</a:t>
            </a:r>
          </a:p>
          <a:p>
            <a:pPr lvl="0"/>
            <a:r>
              <a:rPr/>
              <a:t>PostgreSQL can track:</a:t>
            </a:r>
          </a:p>
          <a:p>
            <a:pPr lvl="1"/>
            <a:r>
              <a:rPr/>
              <a:t>ticker,</a:t>
            </a:r>
          </a:p>
          <a:p>
            <a:pPr lvl="1"/>
            <a:r>
              <a:rPr/>
              <a:t>year,</a:t>
            </a:r>
          </a:p>
          <a:p>
            <a:pPr lvl="1"/>
            <a:r>
              <a:rPr/>
              <a:t>filing status,</a:t>
            </a:r>
          </a:p>
          <a:p>
            <a:pPr lvl="1"/>
            <a:r>
              <a:rPr/>
              <a:t>extraction metadata,</a:t>
            </a:r>
          </a:p>
          <a:p>
            <a:pPr lvl="1"/>
            <a:r>
              <a:rPr/>
              <a:t>and pipeline lineage.</a:t>
            </a:r>
          </a:p>
          <a:p>
            <a:pPr lvl="0"/>
            <a:r>
              <a:rPr/>
              <a:t>ChromaDB or another vector store can hold chunk embeddings for retrieval.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We Need Dual Storage</a:t>
            </a:r>
          </a:p>
          <a:p>
            <a:pPr lvl="0"/>
            <a:r>
              <a:rPr/>
              <a:t>Structured storage gives us reproducibility, filtering, and auditability.</a:t>
            </a:r>
          </a:p>
          <a:p>
            <a:pPr lvl="0"/>
            <a:r>
              <a:rPr/>
              <a:t>Vector storage gives us semantic search over long unstructured text.</a:t>
            </a:r>
          </a:p>
          <a:p>
            <a:pPr lvl="0"/>
            <a:r>
              <a:rPr/>
              <a:t>Financial agents need both because users ask questions at multiple levels:</a:t>
            </a:r>
          </a:p>
          <a:p>
            <a:pPr lvl="1"/>
            <a:r>
              <a:rPr/>
              <a:t>sometimes about exact metadata,</a:t>
            </a:r>
          </a:p>
          <a:p>
            <a:pPr lvl="1"/>
            <a:r>
              <a:rPr/>
              <a:t>and sometimes about concepts hidden inside narrative disclosure.</a:t>
            </a:r>
          </a:p>
          <a:p>
            <a:pPr lvl="0"/>
            <a:r>
              <a:rPr/>
              <a:t>This is why the system is both a database pipeline and a retrieval system.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Chunking for Retrieval</a:t>
            </a:r>
          </a:p>
          <a:p>
            <a:pPr lvl="0"/>
            <a:r>
              <a:rPr/>
              <a:t>Long filings must be split before they can be embedded and retrieved efficiently.</a:t>
            </a:r>
          </a:p>
          <a:p>
            <a:pPr lvl="0"/>
            <a:r>
              <a:rPr/>
              <a:t>A practical starting strategy is recursive chunking with overlap.</a:t>
            </a:r>
          </a:p>
          <a:p>
            <a:pPr lvl="0"/>
            <a:r>
              <a:rPr/>
              <a:t>Overlap matters because financial meaning often spans paragraph boundaries.</a:t>
            </a:r>
          </a:p>
          <a:p>
            <a:pPr lvl="0"/>
            <a:r>
              <a:rPr/>
              <a:t>The chunking step is not trivial; it directly affects retrieval quality.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Roboto"/>
              </a:rPr>
              <a:t>from</a:t>
            </a:r>
            <a:r>
              <a:rPr>
                <a:solidFill>
                  <a:srgbClr val="003B4F"/>
                </a:solidFill>
                <a:latin typeface="Roboto"/>
              </a:rPr>
              <a:t> langchain_text_splitters </a:t>
            </a:r>
            <a:r>
              <a:rPr>
                <a:solidFill>
                  <a:srgbClr val="00769E"/>
                </a:solidFill>
                <a:latin typeface="Roboto"/>
              </a:rPr>
              <a:t>import</a:t>
            </a:r>
            <a:r>
              <a:rPr>
                <a:solidFill>
                  <a:srgbClr val="003B4F"/>
                </a:solidFill>
                <a:latin typeface="Roboto"/>
              </a:rPr>
              <a:t> RecursiveCharacterTextSplitter</a:t>
            </a:r>
            <a:br/>
            <a:br/>
            <a:r>
              <a:rPr>
                <a:solidFill>
                  <a:srgbClr val="003B4F"/>
                </a:solidFill>
                <a:latin typeface="Roboto"/>
              </a:rPr>
              <a:t>text_splitter </a:t>
            </a:r>
            <a:r>
              <a:rPr>
                <a:solidFill>
                  <a:srgbClr val="5E5E5E"/>
                </a:solidFill>
                <a:latin typeface="Roboto"/>
              </a:rPr>
              <a:t>=</a:t>
            </a:r>
            <a:r>
              <a:rPr>
                <a:solidFill>
                  <a:srgbClr val="003B4F"/>
                </a:solidFill>
                <a:latin typeface="Roboto"/>
              </a:rPr>
              <a:t> RecursiveCharacterTextSplitter(</a:t>
            </a:r>
            <a:br/>
            <a:r>
              <a:rPr>
                <a:solidFill>
                  <a:srgbClr val="003B4F"/>
                </a:solidFill>
                <a:latin typeface="Roboto"/>
              </a:rPr>
              <a:t>    chunk_size</a:t>
            </a:r>
            <a:r>
              <a:rPr>
                <a:solidFill>
                  <a:srgbClr val="5E5E5E"/>
                </a:solidFill>
                <a:latin typeface="Roboto"/>
              </a:rPr>
              <a:t>=</a:t>
            </a:r>
            <a:r>
              <a:rPr>
                <a:solidFill>
                  <a:srgbClr val="AD0000"/>
                </a:solidFill>
                <a:latin typeface="Roboto"/>
              </a:rPr>
              <a:t>1000</a:t>
            </a:r>
            <a:r>
              <a:rPr>
                <a:solidFill>
                  <a:srgbClr val="003B4F"/>
                </a:solidFill>
                <a:latin typeface="Roboto"/>
              </a:rPr>
              <a:t>,</a:t>
            </a:r>
            <a:br/>
            <a:r>
              <a:rPr>
                <a:solidFill>
                  <a:srgbClr val="003B4F"/>
                </a:solidFill>
                <a:latin typeface="Roboto"/>
              </a:rPr>
              <a:t>    chunk_overlap</a:t>
            </a:r>
            <a:r>
              <a:rPr>
                <a:solidFill>
                  <a:srgbClr val="5E5E5E"/>
                </a:solidFill>
                <a:latin typeface="Roboto"/>
              </a:rPr>
              <a:t>=</a:t>
            </a:r>
            <a:r>
              <a:rPr>
                <a:solidFill>
                  <a:srgbClr val="AD0000"/>
                </a:solidFill>
                <a:latin typeface="Roboto"/>
              </a:rPr>
              <a:t>200</a:t>
            </a:r>
            <a:br/>
            <a:r>
              <a:rPr>
                <a:solidFill>
                  <a:srgbClr val="003B4F"/>
                </a:solidFill>
                <a:latin typeface="Roboto"/>
              </a:rPr>
              <a:t>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Hugging Face Enters the Pipeline</a:t>
            </a:r>
          </a:p>
          <a:p>
            <a:pPr lvl="0"/>
            <a:r>
              <a:rPr/>
              <a:t>Hugging Face is especially valuable at the retrieval layer.</a:t>
            </a:r>
          </a:p>
          <a:p>
            <a:pPr lvl="0"/>
            <a:r>
              <a:rPr/>
              <a:t>A sentence-transformer model can generate embeddings for chunks.</a:t>
            </a:r>
          </a:p>
          <a:p>
            <a:pPr lvl="0"/>
            <a:r>
              <a:rPr/>
              <a:t>A reranker can improve precision after initial retrieval.</a:t>
            </a:r>
          </a:p>
          <a:p>
            <a:pPr lvl="0"/>
            <a:r>
              <a:rPr/>
              <a:t>This allows the system to ground answers in evidence without relying exclusively on the reasoning model.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Roboto"/>
              </a:rPr>
              <a:t>from</a:t>
            </a:r>
            <a:r>
              <a:rPr>
                <a:solidFill>
                  <a:srgbClr val="003B4F"/>
                </a:solidFill>
                <a:latin typeface="Roboto"/>
              </a:rPr>
              <a:t> sentence_transformers </a:t>
            </a:r>
            <a:r>
              <a:rPr>
                <a:solidFill>
                  <a:srgbClr val="00769E"/>
                </a:solidFill>
                <a:latin typeface="Roboto"/>
              </a:rPr>
              <a:t>import</a:t>
            </a:r>
            <a:r>
              <a:rPr>
                <a:solidFill>
                  <a:srgbClr val="003B4F"/>
                </a:solidFill>
                <a:latin typeface="Roboto"/>
              </a:rPr>
              <a:t> SentenceTransformer</a:t>
            </a:r>
            <a:br/>
            <a:br/>
            <a:r>
              <a:rPr>
                <a:solidFill>
                  <a:srgbClr val="003B4F"/>
                </a:solidFill>
                <a:latin typeface="Roboto"/>
              </a:rPr>
              <a:t>embedding_model </a:t>
            </a:r>
            <a:r>
              <a:rPr>
                <a:solidFill>
                  <a:srgbClr val="5E5E5E"/>
                </a:solidFill>
                <a:latin typeface="Roboto"/>
              </a:rPr>
              <a:t>=</a:t>
            </a:r>
            <a:r>
              <a:rPr>
                <a:solidFill>
                  <a:srgbClr val="003B4F"/>
                </a:solidFill>
                <a:latin typeface="Roboto"/>
              </a:rPr>
              <a:t> SentenceTransformer(</a:t>
            </a:r>
            <a:r>
              <a:rPr>
                <a:solidFill>
                  <a:srgbClr val="20794D"/>
                </a:solidFill>
                <a:latin typeface="Roboto"/>
              </a:rPr>
              <a:t>"sentence-transformers/all-MiniLM-L6-v2"</a:t>
            </a:r>
            <a:r>
              <a:rPr>
                <a:solidFill>
                  <a:srgbClr val="003B4F"/>
                </a:solidFill>
                <a:latin typeface="Roboto"/>
              </a:rPr>
              <a:t>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Retrieval Matters So Much</a:t>
            </a:r>
          </a:p>
          <a:p>
            <a:pPr lvl="0"/>
            <a:r>
              <a:rPr/>
              <a:t>Financial agents should not answer from model memory alone.</a:t>
            </a:r>
          </a:p>
          <a:p>
            <a:pPr lvl="0"/>
            <a:r>
              <a:rPr/>
              <a:t>SEC analysis requires evidence tied to actual filings.</a:t>
            </a:r>
          </a:p>
          <a:p>
            <a:pPr lvl="0"/>
            <a:r>
              <a:rPr/>
              <a:t>Retrieval lets the system:</a:t>
            </a:r>
          </a:p>
          <a:p>
            <a:pPr lvl="1"/>
            <a:r>
              <a:rPr/>
              <a:t>ground claims,</a:t>
            </a:r>
          </a:p>
          <a:p>
            <a:pPr lvl="1"/>
            <a:r>
              <a:rPr/>
              <a:t>cite sections,</a:t>
            </a:r>
          </a:p>
          <a:p>
            <a:pPr lvl="1"/>
            <a:r>
              <a:rPr/>
              <a:t>compare companies consistently,</a:t>
            </a:r>
          </a:p>
          <a:p>
            <a:pPr lvl="1"/>
            <a:r>
              <a:rPr/>
              <a:t>and reduce hallucination.</a:t>
            </a:r>
          </a:p>
          <a:p>
            <a:pPr lvl="0"/>
            <a:r>
              <a:rPr/>
              <a:t>In finance, retrieval is not an enhancement.</a:t>
            </a:r>
          </a:p>
          <a:p>
            <a:pPr lvl="0"/>
            <a:r>
              <a:rPr/>
              <a:t>It is a requirement.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Stage 6: Tooling Pattern</a:t>
            </a:r>
          </a:p>
          <a:p>
            <a:pPr lvl="0"/>
            <a:r>
              <a:rPr/>
              <a:t>Once the core functions exist, we expose them as tools.</a:t>
            </a:r>
          </a:p>
          <a:p>
            <a:pPr lvl="0"/>
            <a:r>
              <a:rPr/>
              <a:t>In LangChain, tools are how the LLM interacts with the environment.</a:t>
            </a:r>
          </a:p>
          <a:p>
            <a:pPr lvl="0"/>
            <a:r>
              <a:rPr/>
              <a:t>A tool can download a filing, retrieve relevant chunks, or query a database.</a:t>
            </a:r>
          </a:p>
          <a:p>
            <a:pPr lvl="0"/>
            <a:r>
              <a:rPr/>
              <a:t>The model uses tool descriptions to decide when each action is appropriate.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Roboto"/>
              </a:rPr>
              <a:t>from</a:t>
            </a:r>
            <a:r>
              <a:rPr>
                <a:solidFill>
                  <a:srgbClr val="003B4F"/>
                </a:solidFill>
                <a:latin typeface="Roboto"/>
              </a:rPr>
              <a:t> langchain_core.tools </a:t>
            </a:r>
            <a:r>
              <a:rPr>
                <a:solidFill>
                  <a:srgbClr val="00769E"/>
                </a:solidFill>
                <a:latin typeface="Roboto"/>
              </a:rPr>
              <a:t>import</a:t>
            </a:r>
            <a:r>
              <a:rPr>
                <a:solidFill>
                  <a:srgbClr val="003B4F"/>
                </a:solidFill>
                <a:latin typeface="Roboto"/>
              </a:rPr>
              <a:t> tool</a:t>
            </a:r>
            <a:br/>
            <a:br/>
            <a:r>
              <a:rPr>
                <a:solidFill>
                  <a:srgbClr val="657422"/>
                </a:solidFill>
                <a:latin typeface="Roboto"/>
              </a:rPr>
              <a:t>@tool</a:t>
            </a:r>
            <a:br/>
            <a:r>
              <a:rPr b="1">
                <a:solidFill>
                  <a:srgbClr val="003B4F"/>
                </a:solidFill>
                <a:latin typeface="Roboto"/>
              </a:rPr>
              <a:t>def</a:t>
            </a:r>
            <a:r>
              <a:rPr>
                <a:solidFill>
                  <a:srgbClr val="003B4F"/>
                </a:solidFill>
                <a:latin typeface="Roboto"/>
              </a:rPr>
              <a:t> download_sec_filing(ticker: str, year: int) </a:t>
            </a:r>
            <a:r>
              <a:rPr>
                <a:solidFill>
                  <a:srgbClr val="5E5E5E"/>
                </a:solidFill>
                <a:latin typeface="Roboto"/>
              </a:rPr>
              <a:t>-&gt;</a:t>
            </a:r>
            <a:r>
              <a:rPr>
                <a:solidFill>
                  <a:srgbClr val="003B4F"/>
                </a:solidFill>
                <a:latin typeface="Roboto"/>
              </a:rPr>
              <a:t> str:</a:t>
            </a:r>
            <a:br/>
            <a:r>
              <a:rPr>
                <a:solidFill>
                  <a:srgbClr val="003B4F"/>
                </a:solidFill>
                <a:latin typeface="Roboto"/>
              </a:rPr>
              <a:t>    </a:t>
            </a:r>
            <a:r>
              <a:rPr>
                <a:solidFill>
                  <a:srgbClr val="5E5E5E"/>
                </a:solidFill>
                <a:latin typeface="Roboto"/>
              </a:rPr>
              <a:t>"""Downloads the SEC 10-K filing for a given ticker and year."""</a:t>
            </a:r>
            <a:br/>
            <a:r>
              <a:rPr>
                <a:solidFill>
                  <a:srgbClr val="003B4F"/>
                </a:solidFill>
                <a:latin typeface="Roboto"/>
              </a:rPr>
              <a:t>    </a:t>
            </a:r>
            <a:r>
              <a:rPr b="1">
                <a:solidFill>
                  <a:srgbClr val="003B4F"/>
                </a:solidFill>
                <a:latin typeface="Roboto"/>
              </a:rPr>
              <a:t>return</a:t>
            </a:r>
            <a:r>
              <a:rPr>
                <a:solidFill>
                  <a:srgbClr val="003B4F"/>
                </a:solidFill>
                <a:latin typeface="Roboto"/>
              </a:rPr>
              <a:t> </a:t>
            </a:r>
            <a:r>
              <a:rPr>
                <a:solidFill>
                  <a:srgbClr val="20794D"/>
                </a:solidFill>
                <a:latin typeface="Roboto"/>
              </a:rPr>
              <a:t>f"Filing text for </a:t>
            </a:r>
            <a:r>
              <a:rPr>
                <a:solidFill>
                  <a:srgbClr val="5E5E5E"/>
                </a:solidFill>
                <a:latin typeface="Roboto"/>
              </a:rPr>
              <a:t>{</a:t>
            </a:r>
            <a:r>
              <a:rPr>
                <a:solidFill>
                  <a:srgbClr val="003B4F"/>
                </a:solidFill>
                <a:latin typeface="Roboto"/>
              </a:rPr>
              <a:t>ticker</a:t>
            </a:r>
            <a:r>
              <a:rPr>
                <a:solidFill>
                  <a:srgbClr val="5E5E5E"/>
                </a:solidFill>
                <a:latin typeface="Roboto"/>
              </a:rPr>
              <a:t>}</a:t>
            </a:r>
            <a:r>
              <a:rPr>
                <a:solidFill>
                  <a:srgbClr val="20794D"/>
                </a:solidFill>
                <a:latin typeface="Roboto"/>
              </a:rPr>
              <a:t> (</a:t>
            </a:r>
            <a:r>
              <a:rPr>
                <a:solidFill>
                  <a:srgbClr val="5E5E5E"/>
                </a:solidFill>
                <a:latin typeface="Roboto"/>
              </a:rPr>
              <a:t>{</a:t>
            </a:r>
            <a:r>
              <a:rPr>
                <a:solidFill>
                  <a:srgbClr val="003B4F"/>
                </a:solidFill>
                <a:latin typeface="Roboto"/>
              </a:rPr>
              <a:t>year</a:t>
            </a:r>
            <a:r>
              <a:rPr>
                <a:solidFill>
                  <a:srgbClr val="5E5E5E"/>
                </a:solidFill>
                <a:latin typeface="Roboto"/>
              </a:rPr>
              <a:t>}</a:t>
            </a:r>
            <a:r>
              <a:rPr>
                <a:solidFill>
                  <a:srgbClr val="20794D"/>
                </a:solidFill>
                <a:latin typeface="Roboto"/>
              </a:rPr>
              <a:t>) saved."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Tools Create Agency</a:t>
            </a:r>
          </a:p>
          <a:p>
            <a:pPr lvl="0"/>
            <a:r>
              <a:rPr/>
              <a:t>A model without tools can only talk.</a:t>
            </a:r>
          </a:p>
          <a:p>
            <a:pPr lvl="0"/>
            <a:r>
              <a:rPr/>
              <a:t>A model with tools can interact with data and systems.</a:t>
            </a:r>
          </a:p>
          <a:p>
            <a:pPr lvl="0"/>
            <a:r>
              <a:rPr/>
              <a:t>The moment the LLM can choose actions like:</a:t>
            </a:r>
          </a:p>
          <a:p>
            <a:pPr lvl="1"/>
            <a:r>
              <a:rPr/>
              <a:t>“download filing,”</a:t>
            </a:r>
          </a:p>
          <a:p>
            <a:pPr lvl="1"/>
            <a:r>
              <a:rPr/>
              <a:t>“retrieve evidence,”</a:t>
            </a:r>
          </a:p>
          <a:p>
            <a:pPr lvl="1"/>
            <a:r>
              <a:rPr/>
              <a:t>or “store output,” it becomes part of an agentic loop.</a:t>
            </a:r>
          </a:p>
          <a:p>
            <a:pPr lvl="0"/>
            <a:r>
              <a:rPr/>
              <a:t>Tool use is one of the clearest distinctions between chatbots and agents.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Stage 7: Planning Pattern</a:t>
            </a:r>
          </a:p>
          <a:p>
            <a:pPr lvl="0"/>
            <a:r>
              <a:rPr/>
              <a:t>Planning is what turns a user goal into a sequence of actionable steps.</a:t>
            </a:r>
          </a:p>
          <a:p>
            <a:pPr lvl="0"/>
            <a:r>
              <a:rPr/>
              <a:t>The planner should interpret a request such as:</a:t>
            </a:r>
          </a:p>
          <a:p>
            <a:pPr lvl="1"/>
            <a:r>
              <a:rPr/>
              <a:t>“Find the top semiconductor companies and compare AI risk disclosures.”</a:t>
            </a:r>
          </a:p>
          <a:p>
            <a:pPr lvl="0"/>
            <a:r>
              <a:rPr/>
              <a:t>It should then infer:</a:t>
            </a:r>
          </a:p>
          <a:p>
            <a:pPr lvl="1"/>
            <a:r>
              <a:rPr/>
              <a:t>which companies to target,</a:t>
            </a:r>
          </a:p>
          <a:p>
            <a:pPr lvl="1"/>
            <a:r>
              <a:rPr/>
              <a:t>which SEC sections matter,</a:t>
            </a:r>
          </a:p>
          <a:p>
            <a:pPr lvl="1"/>
            <a:r>
              <a:rPr/>
              <a:t>and which tools need to be called.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Roboto"/>
              </a:rPr>
              <a:t>prompt </a:t>
            </a:r>
            <a:r>
              <a:rPr>
                <a:solidFill>
                  <a:srgbClr val="5E5E5E"/>
                </a:solidFill>
                <a:latin typeface="Roboto"/>
              </a:rPr>
              <a:t>=</a:t>
            </a:r>
            <a:r>
              <a:rPr>
                <a:solidFill>
                  <a:srgbClr val="003B4F"/>
                </a:solidFill>
                <a:latin typeface="Roboto"/>
              </a:rPr>
              <a:t> PromptTemplate(</a:t>
            </a:r>
            <a:br/>
            <a:r>
              <a:rPr>
                <a:solidFill>
                  <a:srgbClr val="003B4F"/>
                </a:solidFill>
                <a:latin typeface="Roboto"/>
              </a:rPr>
              <a:t>    template</a:t>
            </a:r>
            <a:r>
              <a:rPr>
                <a:solidFill>
                  <a:srgbClr val="5E5E5E"/>
                </a:solidFill>
                <a:latin typeface="Roboto"/>
              </a:rPr>
              <a:t>=</a:t>
            </a:r>
            <a:r>
              <a:rPr>
                <a:solidFill>
                  <a:srgbClr val="20794D"/>
                </a:solidFill>
                <a:latin typeface="Roboto"/>
              </a:rPr>
              <a:t>"List the top 5 company stock tickers in the </a:t>
            </a:r>
            <a:r>
              <a:rPr>
                <a:solidFill>
                  <a:srgbClr val="5E5E5E"/>
                </a:solidFill>
                <a:latin typeface="Roboto"/>
              </a:rPr>
              <a:t>{vertical}</a:t>
            </a:r>
            <a:r>
              <a:rPr>
                <a:solidFill>
                  <a:srgbClr val="20794D"/>
                </a:solidFill>
                <a:latin typeface="Roboto"/>
              </a:rPr>
              <a:t> vertical in the S&amp;P 500.\n</a:t>
            </a:r>
            <a:r>
              <a:rPr>
                <a:solidFill>
                  <a:srgbClr val="5E5E5E"/>
                </a:solidFill>
                <a:latin typeface="Roboto"/>
              </a:rPr>
              <a:t>{format_instructions}</a:t>
            </a:r>
            <a:r>
              <a:rPr>
                <a:solidFill>
                  <a:srgbClr val="20794D"/>
                </a:solidFill>
                <a:latin typeface="Roboto"/>
              </a:rPr>
              <a:t>"</a:t>
            </a:r>
            <a:r>
              <a:rPr>
                <a:solidFill>
                  <a:srgbClr val="003B4F"/>
                </a:solidFill>
                <a:latin typeface="Roboto"/>
              </a:rPr>
              <a:t>,</a:t>
            </a:r>
            <a:br/>
            <a:r>
              <a:rPr>
                <a:solidFill>
                  <a:srgbClr val="003B4F"/>
                </a:solidFill>
                <a:latin typeface="Roboto"/>
              </a:rPr>
              <a:t>    input_variables</a:t>
            </a:r>
            <a:r>
              <a:rPr>
                <a:solidFill>
                  <a:srgbClr val="5E5E5E"/>
                </a:solidFill>
                <a:latin typeface="Roboto"/>
              </a:rPr>
              <a:t>=</a:t>
            </a:r>
            <a:r>
              <a:rPr>
                <a:solidFill>
                  <a:srgbClr val="003B4F"/>
                </a:solidFill>
                <a:latin typeface="Roboto"/>
              </a:rPr>
              <a:t>[</a:t>
            </a:r>
            <a:r>
              <a:rPr>
                <a:solidFill>
                  <a:srgbClr val="20794D"/>
                </a:solidFill>
                <a:latin typeface="Roboto"/>
              </a:rPr>
              <a:t>"vertical"</a:t>
            </a:r>
            <a:r>
              <a:rPr>
                <a:solidFill>
                  <a:srgbClr val="003B4F"/>
                </a:solidFill>
                <a:latin typeface="Roboto"/>
              </a:rPr>
              <a:t>],</a:t>
            </a:r>
            <a:br/>
            <a:r>
              <a:rPr>
                <a:solidFill>
                  <a:srgbClr val="003B4F"/>
                </a:solidFill>
                <a:latin typeface="Roboto"/>
              </a:rPr>
              <a:t>    partial_variables</a:t>
            </a:r>
            <a:r>
              <a:rPr>
                <a:solidFill>
                  <a:srgbClr val="5E5E5E"/>
                </a:solidFill>
                <a:latin typeface="Roboto"/>
              </a:rPr>
              <a:t>=</a:t>
            </a:r>
            <a:r>
              <a:rPr>
                <a:solidFill>
                  <a:srgbClr val="003B4F"/>
                </a:solidFill>
                <a:latin typeface="Roboto"/>
              </a:rPr>
              <a:t>{</a:t>
            </a:r>
            <a:r>
              <a:rPr>
                <a:solidFill>
                  <a:srgbClr val="20794D"/>
                </a:solidFill>
                <a:latin typeface="Roboto"/>
              </a:rPr>
              <a:t>"format_instructions"</a:t>
            </a:r>
            <a:r>
              <a:rPr>
                <a:solidFill>
                  <a:srgbClr val="003B4F"/>
                </a:solidFill>
                <a:latin typeface="Roboto"/>
              </a:rPr>
              <a:t>: parser.get_format_instructions()},</a:t>
            </a:r>
            <a:br/>
            <a:r>
              <a:rPr>
                <a:solidFill>
                  <a:srgbClr val="003B4F"/>
                </a:solidFill>
                <a:latin typeface="Roboto"/>
              </a:rPr>
              <a:t>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Planning Matters</a:t>
            </a:r>
          </a:p>
          <a:p>
            <a:pPr lvl="0"/>
            <a:r>
              <a:rPr/>
              <a:t>Without planning, every workflow must be hard-coded.</a:t>
            </a:r>
          </a:p>
          <a:p>
            <a:pPr lvl="0"/>
            <a:r>
              <a:rPr/>
              <a:t>With planning, the system can generalize across user goals.</a:t>
            </a:r>
          </a:p>
          <a:p>
            <a:pPr lvl="0"/>
            <a:r>
              <a:rPr/>
              <a:t>This means one architecture can support questions about:</a:t>
            </a:r>
          </a:p>
          <a:p>
            <a:pPr lvl="1"/>
            <a:r>
              <a:rPr/>
              <a:t>sector risk,</a:t>
            </a:r>
          </a:p>
          <a:p>
            <a:pPr lvl="1"/>
            <a:r>
              <a:rPr/>
              <a:t>thematic comparison,</a:t>
            </a:r>
          </a:p>
          <a:p>
            <a:pPr lvl="1"/>
            <a:r>
              <a:rPr/>
              <a:t>disclosure quality,</a:t>
            </a:r>
          </a:p>
          <a:p>
            <a:pPr lvl="1"/>
            <a:r>
              <a:rPr/>
              <a:t>or company-level analysis.</a:t>
            </a:r>
          </a:p>
          <a:p>
            <a:pPr lvl="0"/>
            <a:r>
              <a:rPr/>
              <a:t>Planning is what makes the system flexible.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Stage 8: Reflection Pattern</a:t>
            </a:r>
          </a:p>
          <a:p>
            <a:pPr lvl="0"/>
            <a:r>
              <a:rPr/>
              <a:t>Financial outputs should not be accepted at first pass.</a:t>
            </a:r>
          </a:p>
          <a:p>
            <a:pPr lvl="0"/>
            <a:r>
              <a:rPr/>
              <a:t>A reflection step introduces a review process.</a:t>
            </a:r>
          </a:p>
          <a:p>
            <a:pPr lvl="0"/>
            <a:r>
              <a:rPr/>
              <a:t>One prompt generates the analysis.</a:t>
            </a:r>
          </a:p>
          <a:p>
            <a:pPr lvl="0"/>
            <a:r>
              <a:rPr/>
              <a:t>A second prompt critiques it for:</a:t>
            </a:r>
          </a:p>
          <a:p>
            <a:pPr lvl="1"/>
            <a:r>
              <a:rPr/>
              <a:t>unsupported claims,</a:t>
            </a:r>
          </a:p>
          <a:p>
            <a:pPr lvl="1"/>
            <a:r>
              <a:rPr/>
              <a:t>weak evidence,</a:t>
            </a:r>
          </a:p>
          <a:p>
            <a:pPr lvl="1"/>
            <a:r>
              <a:rPr/>
              <a:t>vagueness,</a:t>
            </a:r>
          </a:p>
          <a:p>
            <a:pPr lvl="1"/>
            <a:r>
              <a:rPr/>
              <a:t>or structural errors.</a:t>
            </a:r>
          </a:p>
          <a:p>
            <a:pPr lvl="0"/>
            <a:r>
              <a:rPr/>
              <a:t>If needed, the answer is revised before it is returned.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Reflection Is Important in Finance</a:t>
            </a:r>
          </a:p>
          <a:p>
            <a:pPr lvl="0"/>
            <a:r>
              <a:rPr/>
              <a:t>Financial language can sound plausible even when it is not grounded.</a:t>
            </a:r>
          </a:p>
          <a:p>
            <a:pPr lvl="0"/>
            <a:r>
              <a:rPr/>
              <a:t>Reflection improves trust by forcing the system to ask:</a:t>
            </a:r>
          </a:p>
          <a:p>
            <a:pPr lvl="1"/>
            <a:r>
              <a:rPr/>
              <a:t>“Did I actually support this claim?”</a:t>
            </a:r>
          </a:p>
          <a:p>
            <a:pPr lvl="1"/>
            <a:r>
              <a:rPr/>
              <a:t>“Did I answer the question completely?”</a:t>
            </a:r>
          </a:p>
          <a:p>
            <a:pPr lvl="1"/>
            <a:r>
              <a:rPr/>
              <a:t>“Did I use the correct evidence?”</a:t>
            </a:r>
          </a:p>
          <a:p>
            <a:pPr lvl="0"/>
            <a:r>
              <a:rPr/>
              <a:t>Reflection does not guarantee correctness.</a:t>
            </a:r>
          </a:p>
          <a:p>
            <a:pPr lvl="0"/>
            <a:r>
              <a:rPr/>
              <a:t>But it materially improves reliability in high-stakes domains.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Stage 9: Multi-Agent Orchestration</a:t>
            </a:r>
          </a:p>
          <a:p>
            <a:pPr lvl="0"/>
            <a:r>
              <a:rPr/>
              <a:t>At larger scale, the workflow is easier to manage if we separate roles.</a:t>
            </a:r>
          </a:p>
          <a:p>
            <a:pPr lvl="0"/>
            <a:r>
              <a:rPr/>
              <a:t>Instead of one overloaded model prompt, we can define specialized agents.</a:t>
            </a:r>
          </a:p>
          <a:p>
            <a:pPr lvl="0"/>
            <a:r>
              <a:rPr/>
              <a:t>A simple design might include:</a:t>
            </a:r>
          </a:p>
          <a:p>
            <a:pPr lvl="1"/>
            <a:r>
              <a:rPr/>
              <a:t>a </a:t>
            </a:r>
            <a:r>
              <a:rPr b="1"/>
              <a:t>Planner</a:t>
            </a:r>
            <a:r>
              <a:rPr/>
              <a:t>,</a:t>
            </a:r>
          </a:p>
          <a:p>
            <a:pPr lvl="1"/>
            <a:r>
              <a:rPr/>
              <a:t>a </a:t>
            </a:r>
            <a:r>
              <a:rPr b="1"/>
              <a:t>Researcher</a:t>
            </a:r>
            <a:r>
              <a:rPr/>
              <a:t>,</a:t>
            </a:r>
          </a:p>
          <a:p>
            <a:pPr lvl="1"/>
            <a:r>
              <a:rPr/>
              <a:t>an </a:t>
            </a:r>
            <a:r>
              <a:rPr b="1"/>
              <a:t>Analyst</a:t>
            </a:r>
            <a:r>
              <a:rPr/>
              <a:t>,</a:t>
            </a:r>
          </a:p>
          <a:p>
            <a:pPr lvl="1"/>
            <a:r>
              <a:rPr/>
              <a:t>and a </a:t>
            </a:r>
            <a:r>
              <a:rPr b="1"/>
              <a:t>Critic</a:t>
            </a:r>
            <a:r>
              <a:rPr/>
              <a:t>.</a:t>
            </a:r>
          </a:p>
          <a:p>
            <a:pPr lvl="0"/>
            <a:r>
              <a:rPr/>
              <a:t>LangGraph is particularly well suited for this architecture because it manages state across nodes.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Roboto"/>
              </a:rPr>
              <a:t>class</a:t>
            </a:r>
            <a:r>
              <a:rPr>
                <a:solidFill>
                  <a:srgbClr val="003B4F"/>
                </a:solidFill>
                <a:latin typeface="Roboto"/>
              </a:rPr>
              <a:t> AgentState(TypedDict):</a:t>
            </a:r>
            <a:br/>
            <a:r>
              <a:rPr>
                <a:solidFill>
                  <a:srgbClr val="003B4F"/>
                </a:solidFill>
                <a:latin typeface="Roboto"/>
              </a:rPr>
              <a:t>    messages: Annotated[list, operator.add]</a:t>
            </a:r>
            <a:br/>
            <a:r>
              <a:rPr>
                <a:solidFill>
                  <a:srgbClr val="003B4F"/>
                </a:solidFill>
                <a:latin typeface="Roboto"/>
              </a:rPr>
              <a:t>    current_company: str</a:t>
            </a:r>
            <a:br/>
            <a:r>
              <a:rPr>
                <a:solidFill>
                  <a:srgbClr val="003B4F"/>
                </a:solidFill>
                <a:latin typeface="Roboto"/>
              </a:rPr>
              <a:t>    extracted_data: dict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Separate Roles?</a:t>
            </a:r>
          </a:p>
          <a:p>
            <a:pPr lvl="0"/>
            <a:r>
              <a:rPr/>
              <a:t>A single monolithic prompt often tries to do too much at once.</a:t>
            </a:r>
          </a:p>
          <a:p>
            <a:pPr lvl="0"/>
            <a:r>
              <a:rPr/>
              <a:t>Role separation improves clarity because:</a:t>
            </a:r>
          </a:p>
          <a:p>
            <a:pPr lvl="1"/>
            <a:r>
              <a:rPr/>
              <a:t>the planner focuses on decomposition,</a:t>
            </a:r>
          </a:p>
          <a:p>
            <a:pPr lvl="1"/>
            <a:r>
              <a:rPr/>
              <a:t>the researcher focuses on data access,</a:t>
            </a:r>
          </a:p>
          <a:p>
            <a:pPr lvl="1"/>
            <a:r>
              <a:rPr/>
              <a:t>the analyst focuses on synthesis,</a:t>
            </a:r>
          </a:p>
          <a:p>
            <a:pPr lvl="1"/>
            <a:r>
              <a:rPr/>
              <a:t>and the critic focuses on quality control.</a:t>
            </a:r>
          </a:p>
          <a:p>
            <a:pPr lvl="0"/>
            <a:r>
              <a:rPr/>
              <a:t>This is not multi-agent design for fashion.</a:t>
            </a:r>
          </a:p>
          <a:p>
            <a:pPr lvl="0"/>
            <a:r>
              <a:rPr/>
              <a:t>It is multi-agent design for reliability and modularity.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Good Financial-Agent Query</a:t>
            </a:r>
          </a:p>
          <a:p>
            <a:pPr lvl="0"/>
            <a:r>
              <a:rPr/>
              <a:t>Consider the question:</a:t>
            </a:r>
          </a:p>
          <a:p>
            <a:pPr lvl="1"/>
            <a:r>
              <a:rPr/>
              <a:t>“Compare how top semiconductor firms describe AI-related investment and strategic risk in their latest 10-K filings.”</a:t>
            </a:r>
          </a:p>
          <a:p>
            <a:pPr lvl="0"/>
            <a:r>
              <a:rPr/>
              <a:t>A strong agent should not answer immediately.</a:t>
            </a:r>
          </a:p>
          <a:p>
            <a:pPr lvl="0"/>
            <a:r>
              <a:rPr/>
              <a:t>It should:</a:t>
            </a:r>
          </a:p>
          <a:p>
            <a:pPr lvl="1"/>
            <a:r>
              <a:rPr/>
              <a:t>identify firms,</a:t>
            </a:r>
          </a:p>
          <a:p>
            <a:pPr lvl="1"/>
            <a:r>
              <a:rPr/>
              <a:t>obtain filings,</a:t>
            </a:r>
          </a:p>
          <a:p>
            <a:pPr lvl="1"/>
            <a:r>
              <a:rPr/>
              <a:t>isolate Item 1A and Item 7,</a:t>
            </a:r>
          </a:p>
          <a:p>
            <a:pPr lvl="1"/>
            <a:r>
              <a:rPr/>
              <a:t>retrieve AI-relevant passages,</a:t>
            </a:r>
          </a:p>
          <a:p>
            <a:pPr lvl="1"/>
            <a:r>
              <a:rPr/>
              <a:t>compare disclosures,</a:t>
            </a:r>
          </a:p>
          <a:p>
            <a:pPr lvl="1"/>
            <a:r>
              <a:rPr/>
              <a:t>and then write the answer.</a:t>
            </a:r>
          </a:p>
          <a:p>
            <a:pPr lvl="0"/>
            <a:r>
              <a:rPr/>
              <a:t>That workflow is the heart of the capstone.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Capstone Pipeline</a:t>
            </a:r>
          </a:p>
          <a:p>
            <a:pPr lvl="0"/>
            <a:r>
              <a:rPr/>
              <a:t>The final financial agent integrates all prior pieces into one system.</a:t>
            </a:r>
          </a:p>
          <a:p>
            <a:pPr lvl="0"/>
            <a:r>
              <a:rPr/>
              <a:t>A master agent should:</a:t>
            </a:r>
          </a:p>
          <a:p>
            <a:pPr lvl="1"/>
            <a:r>
              <a:rPr/>
              <a:t>interpret the user’s vertical or topic,</a:t>
            </a:r>
          </a:p>
          <a:p>
            <a:pPr lvl="1"/>
            <a:r>
              <a:rPr/>
              <a:t>identify relevant firms,</a:t>
            </a:r>
          </a:p>
          <a:p>
            <a:pPr lvl="1"/>
            <a:r>
              <a:rPr/>
              <a:t>download missing filings,</a:t>
            </a:r>
          </a:p>
          <a:p>
            <a:pPr lvl="1"/>
            <a:r>
              <a:rPr/>
              <a:t>parse the correct sections,</a:t>
            </a:r>
          </a:p>
          <a:p>
            <a:pPr lvl="1"/>
            <a:r>
              <a:rPr/>
              <a:t>store results in PostgreSQL and Chroma,</a:t>
            </a:r>
          </a:p>
          <a:p>
            <a:pPr lvl="1"/>
            <a:r>
              <a:rPr/>
              <a:t>retrieve relevant evidence,</a:t>
            </a:r>
          </a:p>
          <a:p>
            <a:pPr lvl="1"/>
            <a:r>
              <a:rPr/>
              <a:t>and compose a grounded report.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Roboto"/>
              </a:rPr>
              <a:t>class</a:t>
            </a:r>
            <a:r>
              <a:rPr>
                <a:solidFill>
                  <a:srgbClr val="003B4F"/>
                </a:solidFill>
                <a:latin typeface="Roboto"/>
              </a:rPr>
              <a:t> MasterFinancialAgent:</a:t>
            </a:r>
            <a:br/>
            <a:r>
              <a:rPr>
                <a:solidFill>
                  <a:srgbClr val="003B4F"/>
                </a:solidFill>
                <a:latin typeface="Roboto"/>
              </a:rPr>
              <a:t>    </a:t>
            </a:r>
            <a:r>
              <a:rPr b="1">
                <a:solidFill>
                  <a:srgbClr val="003B4F"/>
                </a:solidFill>
                <a:latin typeface="Roboto"/>
              </a:rPr>
              <a:t>def</a:t>
            </a:r>
            <a:r>
              <a:rPr>
                <a:solidFill>
                  <a:srgbClr val="003B4F"/>
                </a:solidFill>
                <a:latin typeface="Roboto"/>
              </a:rPr>
              <a:t> run(</a:t>
            </a:r>
            <a:r>
              <a:rPr>
                <a:solidFill>
                  <a:srgbClr val="111111"/>
                </a:solidFill>
                <a:latin typeface="Roboto"/>
              </a:rPr>
              <a:t>self</a:t>
            </a:r>
            <a:r>
              <a:rPr>
                <a:solidFill>
                  <a:srgbClr val="003B4F"/>
                </a:solidFill>
                <a:latin typeface="Roboto"/>
              </a:rPr>
              <a:t>, vertical: str, topic: str):</a:t>
            </a:r>
            <a:br/>
            <a:r>
              <a:rPr>
                <a:solidFill>
                  <a:srgbClr val="003B4F"/>
                </a:solidFill>
                <a:latin typeface="Roboto"/>
              </a:rPr>
              <a:t>        companies </a:t>
            </a:r>
            <a:r>
              <a:rPr>
                <a:solidFill>
                  <a:srgbClr val="5E5E5E"/>
                </a:solidFill>
                <a:latin typeface="Roboto"/>
              </a:rPr>
              <a:t>=</a:t>
            </a:r>
            <a:r>
              <a:rPr>
                <a:solidFill>
                  <a:srgbClr val="003B4F"/>
                </a:solidFill>
                <a:latin typeface="Roboto"/>
              </a:rPr>
              <a:t> </a:t>
            </a:r>
            <a:r>
              <a:rPr>
                <a:solidFill>
                  <a:srgbClr val="111111"/>
                </a:solidFill>
                <a:latin typeface="Roboto"/>
              </a:rPr>
              <a:t>self</a:t>
            </a:r>
            <a:r>
              <a:rPr>
                <a:solidFill>
                  <a:srgbClr val="003B4F"/>
                </a:solidFill>
                <a:latin typeface="Roboto"/>
              </a:rPr>
              <a:t>.identify_top_companies(vertical)</a:t>
            </a:r>
            <a:br/>
            <a:br/>
            <a:r>
              <a:rPr>
                <a:solidFill>
                  <a:srgbClr val="003B4F"/>
                </a:solidFill>
                <a:latin typeface="Roboto"/>
              </a:rPr>
              <a:t>        </a:t>
            </a:r>
            <a:r>
              <a:rPr b="1">
                <a:solidFill>
                  <a:srgbClr val="003B4F"/>
                </a:solidFill>
                <a:latin typeface="Roboto"/>
              </a:rPr>
              <a:t>for</a:t>
            </a:r>
            <a:r>
              <a:rPr>
                <a:solidFill>
                  <a:srgbClr val="003B4F"/>
                </a:solidFill>
                <a:latin typeface="Roboto"/>
              </a:rPr>
              <a:t> company </a:t>
            </a:r>
            <a:r>
              <a:rPr b="1">
                <a:solidFill>
                  <a:srgbClr val="003B4F"/>
                </a:solidFill>
                <a:latin typeface="Roboto"/>
              </a:rPr>
              <a:t>in</a:t>
            </a:r>
            <a:r>
              <a:rPr>
                <a:solidFill>
                  <a:srgbClr val="003B4F"/>
                </a:solidFill>
                <a:latin typeface="Roboto"/>
              </a:rPr>
              <a:t> companies:</a:t>
            </a:r>
            <a:br/>
            <a:r>
              <a:rPr>
                <a:solidFill>
                  <a:srgbClr val="003B4F"/>
                </a:solidFill>
                <a:latin typeface="Roboto"/>
              </a:rPr>
              <a:t>            html_path </a:t>
            </a:r>
            <a:r>
              <a:rPr>
                <a:solidFill>
                  <a:srgbClr val="5E5E5E"/>
                </a:solidFill>
                <a:latin typeface="Roboto"/>
              </a:rPr>
              <a:t>=</a:t>
            </a:r>
            <a:r>
              <a:rPr>
                <a:solidFill>
                  <a:srgbClr val="003B4F"/>
                </a:solidFill>
                <a:latin typeface="Roboto"/>
              </a:rPr>
              <a:t> </a:t>
            </a:r>
            <a:r>
              <a:rPr>
                <a:solidFill>
                  <a:srgbClr val="111111"/>
                </a:solidFill>
                <a:latin typeface="Roboto"/>
              </a:rPr>
              <a:t>self</a:t>
            </a:r>
            <a:r>
              <a:rPr>
                <a:solidFill>
                  <a:srgbClr val="003B4F"/>
                </a:solidFill>
                <a:latin typeface="Roboto"/>
              </a:rPr>
              <a:t>.downloader.get_10k_filing(company, </a:t>
            </a:r>
            <a:r>
              <a:rPr>
                <a:solidFill>
                  <a:srgbClr val="111111"/>
                </a:solidFill>
                <a:latin typeface="Roboto"/>
              </a:rPr>
              <a:t>self</a:t>
            </a:r>
            <a:r>
              <a:rPr>
                <a:solidFill>
                  <a:srgbClr val="003B4F"/>
                </a:solidFill>
                <a:latin typeface="Roboto"/>
              </a:rPr>
              <a:t>.year)</a:t>
            </a:r>
            <a:br/>
            <a:r>
              <a:rPr>
                <a:solidFill>
                  <a:srgbClr val="003B4F"/>
                </a:solidFill>
                <a:latin typeface="Roboto"/>
              </a:rPr>
              <a:t>            extracted_items </a:t>
            </a:r>
            <a:r>
              <a:rPr>
                <a:solidFill>
                  <a:srgbClr val="5E5E5E"/>
                </a:solidFill>
                <a:latin typeface="Roboto"/>
              </a:rPr>
              <a:t>=</a:t>
            </a:r>
            <a:r>
              <a:rPr>
                <a:solidFill>
                  <a:srgbClr val="003B4F"/>
                </a:solidFill>
                <a:latin typeface="Roboto"/>
              </a:rPr>
              <a:t> </a:t>
            </a:r>
            <a:r>
              <a:rPr>
                <a:solidFill>
                  <a:srgbClr val="111111"/>
                </a:solidFill>
                <a:latin typeface="Roboto"/>
              </a:rPr>
              <a:t>self</a:t>
            </a:r>
            <a:r>
              <a:rPr>
                <a:solidFill>
                  <a:srgbClr val="003B4F"/>
                </a:solidFill>
                <a:latin typeface="Roboto"/>
              </a:rPr>
              <a:t>.parser.parse_text(html_path, required_items)</a:t>
            </a:r>
            <a:br/>
            <a:r>
              <a:rPr>
                <a:solidFill>
                  <a:srgbClr val="003B4F"/>
                </a:solidFill>
                <a:latin typeface="Roboto"/>
              </a:rPr>
              <a:t>            </a:t>
            </a:r>
            <a:r>
              <a:rPr>
                <a:solidFill>
                  <a:srgbClr val="111111"/>
                </a:solidFill>
                <a:latin typeface="Roboto"/>
              </a:rPr>
              <a:t>self</a:t>
            </a:r>
            <a:r>
              <a:rPr>
                <a:solidFill>
                  <a:srgbClr val="003B4F"/>
                </a:solidFill>
                <a:latin typeface="Roboto"/>
              </a:rPr>
              <a:t>.store_in_postgres_and_chroma(extracted_items)</a:t>
            </a:r>
            <a:br/>
            <a:br/>
            <a:r>
              <a:rPr>
                <a:solidFill>
                  <a:srgbClr val="003B4F"/>
                </a:solidFill>
                <a:latin typeface="Roboto"/>
              </a:rPr>
              <a:t>        </a:t>
            </a:r>
            <a:r>
              <a:rPr b="1">
                <a:solidFill>
                  <a:srgbClr val="003B4F"/>
                </a:solidFill>
                <a:latin typeface="Roboto"/>
              </a:rPr>
              <a:t>return</a:t>
            </a:r>
            <a:r>
              <a:rPr>
                <a:solidFill>
                  <a:srgbClr val="003B4F"/>
                </a:solidFill>
                <a:latin typeface="Roboto"/>
              </a:rPr>
              <a:t> </a:t>
            </a:r>
            <a:r>
              <a:rPr>
                <a:solidFill>
                  <a:srgbClr val="111111"/>
                </a:solidFill>
                <a:latin typeface="Roboto"/>
              </a:rPr>
              <a:t>self</a:t>
            </a:r>
            <a:r>
              <a:rPr>
                <a:solidFill>
                  <a:srgbClr val="003B4F"/>
                </a:solidFill>
                <a:latin typeface="Roboto"/>
              </a:rPr>
              <a:t>.generate_financial_report(vertical, topic)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Final Agent Should Demonstrate</a:t>
            </a:r>
          </a:p>
          <a:p>
            <a:pPr lvl="0"/>
            <a:r>
              <a:rPr/>
              <a:t>The capstone should show more than downloading and summarizing.</a:t>
            </a:r>
          </a:p>
          <a:p>
            <a:pPr lvl="0"/>
            <a:r>
              <a:rPr/>
              <a:t>It should demonstrate that the system can:</a:t>
            </a:r>
          </a:p>
          <a:p>
            <a:pPr lvl="1"/>
            <a:r>
              <a:rPr/>
              <a:t>reason about targets,</a:t>
            </a:r>
          </a:p>
          <a:p>
            <a:pPr lvl="1"/>
            <a:r>
              <a:rPr/>
              <a:t>use tools autonomously,</a:t>
            </a:r>
          </a:p>
          <a:p>
            <a:pPr lvl="1"/>
            <a:r>
              <a:rPr/>
              <a:t>ground outputs in filings,</a:t>
            </a:r>
          </a:p>
          <a:p>
            <a:pPr lvl="1"/>
            <a:r>
              <a:rPr/>
              <a:t>retrieve semantically relevant evidence,</a:t>
            </a:r>
          </a:p>
          <a:p>
            <a:pPr lvl="1"/>
            <a:r>
              <a:rPr/>
              <a:t>and review its own conclusions.</a:t>
            </a:r>
          </a:p>
          <a:p>
            <a:pPr lvl="0"/>
            <a:r>
              <a:rPr/>
              <a:t>That is what makes the system a true financial agent.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Design Principle</a:t>
            </a:r>
          </a:p>
          <a:p>
            <a:pPr lvl="0"/>
            <a:r>
              <a:rPr/>
              <a:t>The most important design principle in this system is simple:</a:t>
            </a:r>
          </a:p>
          <a:p>
            <a:pPr lvl="1"/>
            <a:r>
              <a:rPr/>
              <a:t>keep deterministic steps deterministic,</a:t>
            </a:r>
          </a:p>
          <a:p>
            <a:pPr lvl="1"/>
            <a:r>
              <a:rPr/>
              <a:t>and use the LLM where reasoning adds value.</a:t>
            </a:r>
          </a:p>
          <a:p>
            <a:pPr lvl="0"/>
            <a:r>
              <a:rPr/>
              <a:t>We should not ask the model to do what code can do reliably.</a:t>
            </a:r>
          </a:p>
          <a:p>
            <a:pPr lvl="0"/>
            <a:r>
              <a:rPr/>
              <a:t>We should ask the model to:</a:t>
            </a:r>
          </a:p>
          <a:p>
            <a:pPr lvl="1"/>
            <a:r>
              <a:rPr/>
              <a:t>interpret,</a:t>
            </a:r>
          </a:p>
          <a:p>
            <a:pPr lvl="1"/>
            <a:r>
              <a:rPr/>
              <a:t>plan,</a:t>
            </a:r>
          </a:p>
          <a:p>
            <a:pPr lvl="1"/>
            <a:r>
              <a:rPr/>
              <a:t>synthesize,</a:t>
            </a:r>
          </a:p>
          <a:p>
            <a:pPr lvl="1"/>
            <a:r>
              <a:rPr/>
              <a:t>and critique.</a:t>
            </a:r>
          </a:p>
          <a:p>
            <a:pPr lvl="0"/>
            <a:r>
              <a:rPr/>
              <a:t>Good agent design depends on that separation.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#Final Takeaway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financial agent built on SEC filings is a compelling example of real agentic AI.</a:t>
            </a:r>
          </a:p>
          <a:p>
            <a:pPr lvl="0"/>
            <a:r>
              <a:rPr/>
              <a:t>It works because it combines:</a:t>
            </a:r>
          </a:p>
          <a:p>
            <a:pPr lvl="1"/>
            <a:r>
              <a:rPr/>
              <a:t>solid data engineering,</a:t>
            </a:r>
          </a:p>
          <a:p>
            <a:pPr lvl="1"/>
            <a:r>
              <a:rPr/>
              <a:t>strong retrieval design,</a:t>
            </a:r>
          </a:p>
          <a:p>
            <a:pPr lvl="1"/>
            <a:r>
              <a:rPr/>
              <a:t>structured LLM reasoning,</a:t>
            </a:r>
          </a:p>
          <a:p>
            <a:pPr lvl="1"/>
            <a:r>
              <a:rPr/>
              <a:t>and stateful orchestration.</a:t>
            </a:r>
          </a:p>
          <a:p>
            <a:pPr lvl="0"/>
            <a:r>
              <a:rPr/>
              <a:t>OpenAI gives the system reasoning power.</a:t>
            </a:r>
          </a:p>
          <a:p>
            <a:pPr lvl="0"/>
            <a:r>
              <a:rPr/>
              <a:t>Hugging Face gives it retrieval infrastructure and model flexibility.</a:t>
            </a:r>
          </a:p>
          <a:p>
            <a:pPr lvl="0"/>
            <a:r>
              <a:rPr/>
              <a:t>LangChain and LangGraph give it a workflow architecture.</a:t>
            </a:r>
          </a:p>
          <a:p>
            <a:pPr lvl="0"/>
            <a:r>
              <a:rPr/>
              <a:t>Together, they turn an SEC downloader into an agentic financial intelligence system.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M06 Presentation 02</dc:title>
  <dc:creator>Nakul R. Padalkar; Author Two</dc:creator>
  <cp:keywords/>
  <dcterms:created xsi:type="dcterms:W3CDTF">2026-04-22T19:33:16Z</dcterms:created>
  <dcterms:modified xsi:type="dcterms:W3CDTF">2026-04-22T19:33:16Z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rossref">
    <vt:lpwstr/>
  </property>
  <property fmtid="{D5CDD505-2E9C-101B-9397-08002B2CF9AE}" pid="9" name="csl">
    <vt:lpwstr>../mis-quarterly.csl</vt:lpwstr>
  </property>
  <property fmtid="{D5CDD505-2E9C-101B-9397-08002B2CF9AE}" pid="10" name="date">
    <vt:lpwstr>March 12, 2024</vt:lpwstr>
  </property>
  <property fmtid="{D5CDD505-2E9C-101B-9397-08002B2CF9AE}" pid="11" name="date-format">
    <vt:lpwstr>long</vt:lpwstr>
  </property>
  <property fmtid="{D5CDD505-2E9C-101B-9397-08002B2CF9AE}" pid="12" name="date-modified">
    <vt:lpwstr>April 22, 2026</vt:lpwstr>
  </property>
  <property fmtid="{D5CDD505-2E9C-101B-9397-08002B2CF9AE}" pid="13" name="editor">
    <vt:lpwstr/>
  </property>
  <property fmtid="{D5CDD505-2E9C-101B-9397-08002B2CF9AE}" pid="14" name="engines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resources">
    <vt:lpwstr/>
  </property>
  <property fmtid="{D5CDD505-2E9C-101B-9397-08002B2CF9AE}" pid="23" name="subtitle">
    <vt:lpwstr>Building Agentic AI: A Practical Walkthrough</vt:lpwstr>
  </property>
  <property fmtid="{D5CDD505-2E9C-101B-9397-08002B2CF9AE}" pid="24" name="title-slide-attributes">
    <vt:lpwstr/>
  </property>
  <property fmtid="{D5CDD505-2E9C-101B-9397-08002B2CF9AE}" pid="25" name="toc-title">
    <vt:lpwstr>Table of contents</vt:lpwstr>
  </property>
</Properties>
</file>