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35" Type="http://schemas.openxmlformats.org/officeDocument/2006/relationships/viewProps" Target="viewProps.xml" /><Relationship Id="rId3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sv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sv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sv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rxiv.org/abs/1706.03762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Transformers, Attention, and Context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Attention Mechanism and Transformers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Classic Deep Learning to the Edge of Its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2010s: Deep Learning’s First Boom</a:t>
            </a:r>
          </a:p>
          <a:p>
            <a:pPr lvl="1"/>
            <a:r>
              <a:rPr/>
              <a:t>Breakthroughs driven by </a:t>
            </a:r>
            <a:r>
              <a:rPr b="1"/>
              <a:t>MLPs, CNNs, and RNN/LSTMs</a:t>
            </a:r>
            <a:br/>
          </a:p>
          <a:p>
            <a:pPr lvl="1"/>
            <a:r>
              <a:rPr/>
              <a:t>Architectures changed little from their 1980s–1990s origins</a:t>
            </a:r>
            <a:br/>
          </a:p>
          <a:p>
            <a:pPr lvl="1"/>
            <a:r>
              <a:rPr/>
              <a:t>Gains came mostly from:</a:t>
            </a:r>
          </a:p>
          <a:p>
            <a:pPr lvl="2"/>
            <a:r>
              <a:rPr b="1"/>
              <a:t>GPUs + parallel computing</a:t>
            </a:r>
          </a:p>
          <a:p>
            <a:pPr lvl="2"/>
            <a:r>
              <a:rPr b="1"/>
              <a:t>Massive datasets + cheap storage</a:t>
            </a:r>
          </a:p>
          <a:p>
            <a:pPr lvl="2"/>
            <a:r>
              <a:rPr b="1"/>
              <a:t>Training innovations</a:t>
            </a:r>
            <a:r>
              <a:rPr/>
              <a:t> (ReLU, batch norm, dropout, residuals, Adam)</a:t>
            </a:r>
          </a:p>
          <a:p>
            <a:pPr lvl="0"/>
            <a:r>
              <a:rPr/>
              <a:t>Why These Models Plateaued</a:t>
            </a:r>
          </a:p>
          <a:p>
            <a:pPr lvl="1"/>
            <a:r>
              <a:rPr/>
              <a:t>CNNs dominated vision; LSTMs dominated NLP</a:t>
            </a:r>
            <a:br/>
          </a:p>
          <a:p>
            <a:pPr lvl="1"/>
            <a:r>
              <a:rPr/>
              <a:t>Thousands of alternative architectures proposed, but few displaced the classics</a:t>
            </a:r>
            <a:br/>
          </a:p>
          <a:p>
            <a:pPr lvl="1"/>
            <a:r>
              <a:rPr/>
              <a:t>Progress felt like </a:t>
            </a:r>
            <a:r>
              <a:rPr b="1"/>
              <a:t>scaling</a:t>
            </a:r>
            <a:r>
              <a:rPr/>
              <a:t>, not </a:t>
            </a:r>
            <a:r>
              <a:rPr b="1"/>
              <a:t>rethinking</a:t>
            </a:r>
            <a:br/>
          </a:p>
          <a:p>
            <a:pPr lvl="1"/>
            <a:r>
              <a:rPr/>
              <a:t>By mid‑2010s, the field was primed for a </a:t>
            </a:r>
            <a:r>
              <a:rPr b="1"/>
              <a:t>new architectural paradigm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Transformer 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Originally added to encoder–decoder RNNs for machine translation</a:t>
            </a:r>
            <a:br/>
          </a:p>
          <a:p>
            <a:pPr lvl="0"/>
            <a:r>
              <a:rPr/>
              <a:t>Allowed models to focus selectively on different input tokens</a:t>
            </a:r>
            <a:br/>
          </a:p>
          <a:p>
            <a:pPr lvl="0"/>
            <a:r>
              <a:rPr/>
              <a:t>Replaced the “single compressed vector” bottleneck</a:t>
            </a:r>
            <a:br/>
          </a:p>
          <a:p>
            <a:pPr lvl="0"/>
            <a:r>
              <a:rPr/>
              <a:t>Enabled differentiable, learnable weighting over the entire input sequence</a:t>
            </a:r>
          </a:p>
          <a:p>
            <a:pPr lvl="0"/>
            <a:r>
              <a:rPr/>
              <a:t>Transformers: The Architectural Breakthrough</a:t>
            </a:r>
          </a:p>
          <a:p>
            <a:pPr lvl="1"/>
            <a:r>
              <a:rPr/>
              <a:t>Vaswani et al. (2017): no recurrence, all attention</a:t>
            </a:r>
            <a:br/>
          </a:p>
          <a:p>
            <a:pPr lvl="1"/>
            <a:r>
              <a:rPr/>
              <a:t>Rapidly outperformed RNNs across NLP tasks</a:t>
            </a:r>
            <a:br/>
          </a:p>
          <a:p>
            <a:pPr lvl="1"/>
            <a:r>
              <a:rPr/>
              <a:t>Became the foundation for large-scale pretraining (BERT, RoBERTa, GPT‑2/3)</a:t>
            </a:r>
            <a:br/>
          </a:p>
          <a:p>
            <a:pPr lvl="1"/>
            <a:r>
              <a:rPr/>
              <a:t>Expanded beyond NLP:</a:t>
            </a:r>
          </a:p>
          <a:p>
            <a:pPr lvl="2"/>
            <a:r>
              <a:rPr b="1"/>
              <a:t>Vision Transformers</a:t>
            </a:r>
            <a:r>
              <a:rPr/>
              <a:t> (image recognition, detection, segmentation)</a:t>
            </a:r>
          </a:p>
          <a:p>
            <a:pPr lvl="2"/>
            <a:r>
              <a:rPr b="1"/>
              <a:t>Speech</a:t>
            </a:r>
            <a:r>
              <a:rPr/>
              <a:t>, </a:t>
            </a:r>
            <a:r>
              <a:rPr b="1"/>
              <a:t>reinforcement learning</a:t>
            </a:r>
            <a:r>
              <a:rPr/>
              <a:t>, </a:t>
            </a:r>
            <a:r>
              <a:rPr b="1"/>
              <a:t>graph neural networks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New Landscape</a:t>
            </a:r>
          </a:p>
          <a:p>
            <a:pPr lvl="0"/>
            <a:r>
              <a:rPr/>
              <a:t>Transformers + large-scale pretraining → foundation models</a:t>
            </a:r>
            <a:br/>
          </a:p>
          <a:p>
            <a:pPr lvl="0"/>
            <a:r>
              <a:rPr/>
              <a:t>Default approach: start with a pretrained Transformer, fine‑tune for downstream tasks</a:t>
            </a:r>
            <a:br/>
          </a:p>
          <a:p>
            <a:pPr lvl="0"/>
            <a:r>
              <a:rPr/>
              <a:t>Represents a true architectural shift, not just bigger models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Attention? A Human Translation Story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Attention? A Human Translation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When we translate a sentence, we don’t memorize the entire thNew chating at once.</a:t>
            </a:r>
            <a:br/>
          </a:p>
          <a:p>
            <a:pPr lvl="0"/>
            <a:r>
              <a:rPr/>
              <a:t>We </a:t>
            </a:r>
            <a:r>
              <a:rPr b="1"/>
              <a:t>look back and forth</a:t>
            </a:r>
            <a:r>
              <a:rPr/>
              <a:t>, focusing on the specific words we need at each moment.</a:t>
            </a:r>
            <a:br/>
          </a:p>
          <a:p>
            <a:pPr lvl="0"/>
            <a:r>
              <a:rPr/>
              <a:t>Early sequence‑to‑sequence models (Sutskever et al. 2014) didn’t do this.</a:t>
            </a:r>
            <a:br/>
          </a:p>
          <a:p>
            <a:pPr lvl="0"/>
            <a:r>
              <a:rPr/>
              <a:t>The encoder read the whole sentence </a:t>
            </a:r>
            <a:r>
              <a:rPr b="1"/>
              <a:t>once</a:t>
            </a:r>
            <a:r>
              <a:rPr/>
              <a:t>, compressed it into a single vector, and handed that to the decoder.</a:t>
            </a:r>
            <a:br/>
          </a:p>
          <a:p>
            <a:pPr lvl="0"/>
            <a:r>
              <a:rPr/>
              <a:t>The decoder then tried to generate the entire translation from that one vector.</a:t>
            </a:r>
          </a:p>
        </p:txBody>
      </p:sp>
      <p:pic>
        <p:nvPicPr>
          <p:cNvPr descr="M04_P1_files/figure-pptx/fig-encoder-01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133600"/>
            <a:ext cx="61722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Problem With Single‑Vector Encodings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Compressing a long, information‑rich sentence into one vector is a bottleneck.</a:t>
            </a:r>
            <a:br/>
          </a:p>
          <a:p>
            <a:pPr lvl="0"/>
            <a:r>
              <a:rPr/>
              <a:t>RNNs struggle to retain all details, especially for long sequences.</a:t>
            </a:r>
            <a:br/>
          </a:p>
          <a:p>
            <a:pPr lvl="0"/>
            <a:r>
              <a:rPr/>
              <a:t>Even improved architectures (Kalchbrenner et al., 2014; Yang et al., 2016) only partially help.</a:t>
            </a:r>
            <a:br/>
          </a:p>
          <a:p>
            <a:pPr lvl="0"/>
            <a:r>
              <a:rPr/>
              <a:t>The decoder has no way to “look back” at specific words.</a:t>
            </a:r>
            <a:br/>
          </a:p>
          <a:p>
            <a:pPr lvl="0"/>
            <a:r>
              <a:rPr/>
              <a:t>This mismatch between human translation and RNN translation motivates a new idea.</a:t>
            </a:r>
          </a:p>
        </p:txBody>
      </p:sp>
      <p:pic>
        <p:nvPicPr>
          <p:cNvPr descr="M04_P1_files/figure-pptx/fig-bottleneck-01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133600"/>
            <a:ext cx="61722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 Insight: Focus Selectively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Humans translate by </a:t>
            </a:r>
            <a:r>
              <a:rPr b="1"/>
              <a:t>focusing on different input words at different times</a:t>
            </a:r>
            <a:r>
              <a:rPr/>
              <a:t>.</a:t>
            </a:r>
            <a:br/>
          </a:p>
          <a:p>
            <a:pPr lvl="0"/>
            <a:r>
              <a:rPr/>
              <a:t>At each decoding step, we implicitly form a distribution over the input words:</a:t>
            </a:r>
          </a:p>
          <a:p>
            <a:pPr lvl="1"/>
            <a:r>
              <a:rPr/>
              <a:t>some words matter a lot,</a:t>
            </a:r>
            <a:br/>
          </a:p>
          <a:p>
            <a:pPr lvl="1"/>
            <a:r>
              <a:rPr/>
              <a:t>some matter a little,</a:t>
            </a:r>
            <a:br/>
          </a:p>
          <a:p>
            <a:pPr lvl="1"/>
            <a:r>
              <a:rPr/>
              <a:t>some don’t matter at all.</a:t>
            </a:r>
            <a:br/>
          </a:p>
          <a:p>
            <a:pPr lvl="0"/>
            <a:r>
              <a:rPr/>
              <a:t>Ideally, the decoder should receive only the relevant information for the word it is about to produce.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Human Intuition to a Formal Mechanism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5F88397-2BCC-3DCA-BE8B-B9B0AFAC1E35}"/>
                  </a:ext>
                </a:extLst>
              </p:cNvPr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/>
                <a:r>
                  <a:rPr/>
                  <a:t>Bahdanau et al. (2014) formalized this intuition:</a:t>
                </a:r>
              </a:p>
              <a:p>
                <a:pPr lvl="1"/>
                <a:r>
                  <a:rPr/>
                  <a:t>Treat the encoder outputs as a </a:t>
                </a:r>
                <a:r>
                  <a:rPr b="1"/>
                  <a:t>set of key–value pairs</a:t>
                </a:r>
                <a:br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rPr>
                            <m:sty m:val="b"/>
                          </m:rP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1"/>
                <a:r>
                  <a:rPr/>
                  <a:t>At each decoding step, compute a </a:t>
                </a:r>
                <a:r>
                  <a:rPr b="1"/>
                  <a:t>query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q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1"/>
                <a:r>
                  <a:rPr/>
                  <a:t>Compare the query to each key to produce </a:t>
                </a:r>
                <a:r>
                  <a:rPr b="1"/>
                  <a:t>attention weights</a:t>
                </a:r>
                <a:br/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b"/>
                      </m:rPr>
                      <m:t>q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1"/>
                <a:r>
                  <a:rPr/>
                  <a:t>Use these weights to form a </a:t>
                </a:r>
                <a:r>
                  <a:rPr b="1"/>
                  <a:t>weighted sum of values</a:t>
                </a:r>
                <a:r>
                  <a:rPr/>
                  <a:t>:</a:t>
                </a:r>
                <a:br/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Attention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q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cr m:val="script"/>
                          <m:sty m:val="p"/>
                        </m:rP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α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q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k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v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  <p:pic>
        <p:nvPicPr>
          <p:cNvPr descr="M04_P1_files/figure-pptx/cell-6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701800"/>
            <a:ext cx="6172200" cy="342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Queries, Keys, and Values Work So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mechanism has several powerful properties:</a:t>
            </a:r>
          </a:p>
          <a:p>
            <a:pPr lvl="0"/>
            <a:r>
              <a:rPr/>
              <a:t>Works for </a:t>
            </a:r>
            <a:r>
              <a:rPr b="1"/>
              <a:t>any input length</a:t>
            </a:r>
            <a:r>
              <a:rPr/>
              <a:t> — no architectural changes needed.</a:t>
            </a:r>
            <a:br/>
          </a:p>
          <a:p>
            <a:pPr lvl="0"/>
            <a:r>
              <a:rPr/>
              <a:t>The “program” (the query) is </a:t>
            </a:r>
            <a:r>
              <a:rPr b="1"/>
              <a:t>small</a:t>
            </a:r>
            <a:r>
              <a:rPr/>
              <a:t>, but it operates over a </a:t>
            </a:r>
            <a:r>
              <a:rPr b="1"/>
              <a:t>large state space</a:t>
            </a:r>
            <a:r>
              <a:rPr/>
              <a:t>.</a:t>
            </a:r>
            <a:br/>
          </a:p>
          <a:p>
            <a:pPr lvl="0"/>
            <a:r>
              <a:rPr/>
              <a:t>The model learns </a:t>
            </a:r>
            <a:r>
              <a:rPr b="1"/>
              <a:t>what to retrieve</a:t>
            </a:r>
            <a:r>
              <a:rPr/>
              <a:t> and </a:t>
            </a:r>
            <a:r>
              <a:rPr b="1"/>
              <a:t>how strongly</a:t>
            </a:r>
            <a:r>
              <a:rPr/>
              <a:t>.</a:t>
            </a:r>
            <a:br/>
          </a:p>
          <a:p>
            <a:pPr lvl="0"/>
            <a:r>
              <a:rPr/>
              <a:t>Special cases include:</a:t>
            </a:r>
          </a:p>
          <a:p>
            <a:pPr lvl="1"/>
            <a:r>
              <a:rPr/>
              <a:t>exact lookup (one weight = 1),</a:t>
            </a:r>
            <a:br/>
          </a:p>
          <a:p>
            <a:pPr lvl="1"/>
            <a:r>
              <a:rPr/>
              <a:t>uniform averaging,</a:t>
            </a:r>
            <a:br/>
          </a:p>
          <a:p>
            <a:pPr lvl="1"/>
            <a:r>
              <a:rPr/>
              <a:t>convex combinations (soft attention).</a:t>
            </a:r>
            <a:br/>
          </a:p>
          <a:p>
            <a:pPr lvl="0"/>
            <a:r>
              <a:rPr/>
              <a:t>Softmax normalization ensures weights are nonnegative and sum to 1.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Bridge to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Once we have queries, keys, and values, we can drop recurrence entirely.</a:t>
            </a:r>
            <a:br/>
          </a:p>
          <a:p>
            <a:pPr lvl="0"/>
            <a:r>
              <a:rPr/>
              <a:t>Vaswani et al. (2017) showed that </a:t>
            </a:r>
            <a:r>
              <a:rPr b="1"/>
              <a:t>attention alone</a:t>
            </a:r>
            <a:r>
              <a:rPr/>
              <a:t> can model all relationships in a sequence.</a:t>
            </a:r>
            <a:br/>
          </a:p>
          <a:p>
            <a:pPr lvl="0"/>
            <a:r>
              <a:rPr/>
              <a:t>This leads directly to the Transformer architecture.</a:t>
            </a:r>
            <a:br/>
          </a:p>
          <a:p>
            <a:pPr lvl="0"/>
            <a:r>
              <a:rPr/>
              <a:t>Q/K/V attention becomes the fundamental building block for:</a:t>
            </a:r>
          </a:p>
          <a:p>
            <a:pPr lvl="1"/>
            <a:r>
              <a:rPr/>
              <a:t>machine translation,</a:t>
            </a:r>
            <a:br/>
          </a:p>
          <a:p>
            <a:pPr lvl="1"/>
            <a:r>
              <a:rPr/>
              <a:t>language modeling (GPT‑2/3),</a:t>
            </a:r>
            <a:br/>
          </a:p>
          <a:p>
            <a:pPr lvl="1"/>
            <a:r>
              <a:rPr/>
              <a:t>masked language modeling (BERT),</a:t>
            </a:r>
            <a:br/>
          </a:p>
          <a:p>
            <a:pPr lvl="1"/>
            <a:r>
              <a:rPr/>
              <a:t>vision transformers,</a:t>
            </a:r>
            <a:br/>
          </a:p>
          <a:p>
            <a:pPr lvl="1"/>
            <a:r>
              <a:rPr/>
              <a:t>speech, RL, and graph models.</a:t>
            </a:r>
          </a:p>
        </p:txBody>
      </p:sp>
      <p:pic>
        <p:nvPicPr>
          <p:cNvPr descr="M04_P1_files/figure-pptx/fig-transformer-01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38900" y="1816100"/>
            <a:ext cx="4660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72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Attention Pooling by Similarity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Motivation: Why Attention Pooling?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Before Transformers, attention already existed in classical statistics</a:t>
            </a:r>
            <a:br/>
          </a:p>
          <a:p>
            <a:pPr lvl="0"/>
            <a:r>
              <a:rPr/>
              <a:t>Nadaraya–Watson regression is one of the earliest “attention‑like” mechanisms</a:t>
            </a:r>
            <a:br/>
          </a:p>
          <a:p>
            <a:pPr lvl="0"/>
            <a:r>
              <a:rPr/>
              <a:t>It uses similarity between a query and keys to compute a weighted average of values</a:t>
            </a:r>
            <a:br/>
          </a:p>
          <a:p>
            <a:pPr lvl="0"/>
            <a:r>
              <a:rPr/>
              <a:t>This gives us a clean bridge from classical kernels → modern attention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This is attention pooling in its purest form</a:t>
            </a:r>
            <a:br/>
          </a:p>
          <a:p>
            <a:pPr lvl="0"/>
            <a:r>
              <a:rPr/>
              <a:t>No training, no parameters, no deep nets</a:t>
            </a:r>
            <a:br/>
          </a:p>
          <a:p>
            <a:pPr lvl="0"/>
            <a:r>
              <a:rPr/>
              <a:t>Just:</a:t>
            </a:r>
          </a:p>
          <a:p>
            <a:pPr lvl="1" indent="-457200" marL="914400">
              <a:buAutoNum type="arabicPeriod"/>
            </a:pPr>
            <a:r>
              <a:rPr/>
              <a:t>Compute similarity</a:t>
            </a:r>
            <a:br/>
          </a:p>
          <a:p>
            <a:pPr lvl="1" indent="-457200" marL="914400">
              <a:buAutoNum type="arabicPeriod"/>
            </a:pPr>
            <a:r>
              <a:rPr/>
              <a:t>Normalize</a:t>
            </a:r>
            <a:br/>
          </a:p>
          <a:p>
            <a:pPr lvl="1" indent="-457200" marL="914400">
              <a:buAutoNum type="arabicPeriod"/>
            </a:pPr>
            <a:r>
              <a:rPr/>
              <a:t>Weighted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f>
                        <m:fPr>
                          <m:type m:val="bar"/>
                        </m:fPr>
                        <m:num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k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α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k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Kernels as Similarity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5F88397-2BCC-3DCA-BE8B-B9B0AFAC1E35}"/>
                  </a:ext>
                </a:extLst>
              </p:cNvPr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α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m:t>∥</m:t>
                                </m:r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k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m:t>∥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Gaussian</m:t>
                                </m:r>
                              </m:e>
                            </m:mr>
                            <m:mr>
                              <m:e>
                                <m: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if 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max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Epanechikov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pic>
        <p:nvPicPr>
          <p:cNvPr descr="M04_P1_files/figure-pptx/fig-kernels-01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387600"/>
            <a:ext cx="61722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4</a:t>
            </a:r>
            <a:r>
              <a:rPr b="1"/>
              <a:t>.</a:t>
            </a:r>
            <a:r>
              <a:rPr/>
              <a:t> Common kernels used in Nadaraya–Watson regression.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Generating Synthetic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simple nonlinear function</a:t>
            </a:r>
            <a:br/>
          </a:p>
          <a:p>
            <a:pPr lvl="0"/>
            <a:r>
              <a:rPr/>
              <a:t>Add noise to simulate real data</a:t>
            </a:r>
            <a:br/>
          </a:p>
          <a:p>
            <a:pPr lvl="0"/>
            <a:r>
              <a:rPr/>
              <a:t>We’ll use kernel regression to approximate 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Nadaraya–Watson Attention Pooling</a:t>
            </a:r>
          </a:p>
          <a:p>
            <a:pPr lvl="0"/>
            <a:r>
              <a:rPr/>
              <a:t>Each validation point is a query</a:t>
            </a:r>
            <a:br/>
          </a:p>
          <a:p>
            <a:pPr lvl="0"/>
            <a:r>
              <a:rPr/>
              <a:t>Each training point is a key–value pair</a:t>
            </a:r>
            <a:br/>
          </a:p>
          <a:p>
            <a:pPr lvl="0"/>
            <a:r>
              <a:rPr/>
              <a:t>The normalized kernel weights are attention weights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All kernels except “constant” produce reasonable fits</a:t>
            </a:r>
            <a:br/>
          </a:p>
          <a:p>
            <a:pPr lvl="0"/>
            <a:r>
              <a:rPr/>
              <a:t>Gaussian is smoothest</a:t>
            </a:r>
            <a:br/>
          </a:p>
          <a:p>
            <a:pPr lvl="0"/>
            <a:r>
              <a:rPr/>
              <a:t>Boxcar is sharpest</a:t>
            </a:r>
          </a:p>
        </p:txBody>
      </p:sp>
      <p:pic>
        <p:nvPicPr>
          <p:cNvPr descr="M04_P1_files/figure-pptx/cell-1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476500"/>
            <a:ext cx="61722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Attention Weights as Heatmaps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Each column = a query</a:t>
            </a:r>
            <a:br/>
          </a:p>
          <a:p>
            <a:pPr lvl="0"/>
            <a:r>
              <a:rPr/>
              <a:t>Each row = a training point</a:t>
            </a:r>
            <a:br/>
          </a:p>
          <a:p>
            <a:pPr lvl="0"/>
            <a:r>
              <a:rPr/>
              <a:t>Bright = high attention weight</a:t>
            </a:r>
            <a:br/>
          </a:p>
          <a:p>
            <a:pPr lvl="0"/>
            <a:r>
              <a:rPr/>
              <a:t>Gaussian, Boxcar, Epanechikov → very similar patterns</a:t>
            </a:r>
          </a:p>
        </p:txBody>
      </p:sp>
      <p:pic>
        <p:nvPicPr>
          <p:cNvPr descr="M04_P1_files/figure-pptx/fig-attention-kernels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387600"/>
            <a:ext cx="61722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5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Kernel Width Matters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5F88397-2BCC-3DCA-BE8B-B9B0AFAC1E35}"/>
                  </a:ext>
                </a:extLst>
              </p:cNvPr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/>
                <a:r>
                  <a:rPr/>
                  <a:t>Narrow kernels → sharp, local attention</a:t>
                </a:r>
                <a:br/>
              </a:p>
              <a:p>
                <a:pPr lvl="0"/>
                <a:r>
                  <a:rPr/>
                  <a:t>Wide kernels → smooth, global attention</a:t>
                </a:r>
                <a:br/>
              </a:p>
              <a:p>
                <a:pPr lvl="0"/>
                <a:r>
                  <a:rPr/>
                  <a:t>Small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→ attention collapses to nearest neighbors</a:t>
                </a:r>
                <a:br/>
              </a:p>
              <a:p>
                <a:pPr lvl="0"/>
                <a:r>
                  <a:rPr/>
                  <a:t>Large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→ attention spreads across many points</a:t>
                </a:r>
              </a:p>
            </p:txBody>
          </p:sp>
        </mc:Choice>
      </mc:AlternateContent>
      <p:pic>
        <p:nvPicPr>
          <p:cNvPr descr="M04_P1_files/figure-pptx/fig-attention-sigmas-output-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387600"/>
            <a:ext cx="61722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6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for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Nadaraya–Watson is a </a:t>
            </a:r>
            <a:r>
              <a:rPr b="1"/>
              <a:t>precursor</a:t>
            </a:r>
            <a:r>
              <a:rPr/>
              <a:t> to modern attention</a:t>
            </a:r>
            <a:br/>
          </a:p>
          <a:p>
            <a:pPr lvl="0"/>
            <a:r>
              <a:rPr/>
              <a:t>Same structure:</a:t>
            </a:r>
          </a:p>
          <a:p>
            <a:pPr lvl="1"/>
            <a:r>
              <a:rPr/>
              <a:t>similarity → softmax → weighted sum</a:t>
            </a:r>
            <a:br/>
          </a:p>
          <a:p>
            <a:pPr lvl="0"/>
            <a:r>
              <a:rPr/>
              <a:t>But:</a:t>
            </a:r>
          </a:p>
          <a:p>
            <a:pPr lvl="1"/>
            <a:r>
              <a:rPr/>
              <a:t>kernels are hand‑crafted</a:t>
            </a:r>
            <a:br/>
          </a:p>
          <a:p>
            <a:pPr lvl="1"/>
            <a:r>
              <a:rPr/>
              <a:t>representations are fixed</a:t>
            </a:r>
            <a:br/>
          </a:p>
          <a:p>
            <a:pPr lvl="1"/>
            <a:r>
              <a:rPr/>
              <a:t>no learning</a:t>
            </a:r>
            <a:br/>
          </a:p>
          <a:p>
            <a:pPr lvl="0"/>
            <a:r>
              <a:rPr/>
              <a:t>Transformers replace kernels with </a:t>
            </a:r>
            <a:r>
              <a:rPr b="1"/>
              <a:t>learned Q/K/V projections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 for Attention Scoring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Goal: Understand how we compute the </a:t>
                </a:r>
                <a:r>
                  <a:rPr i="1"/>
                  <a:t>compatibility</a:t>
                </a:r>
                <a:r>
                  <a:rPr/>
                  <a:t> between a query and a set of keys.</a:t>
                </a:r>
              </a:p>
              <a:p>
                <a:pPr lvl="0"/>
                <a:r>
                  <a:rPr/>
                  <a:t>Attention pooling requires a score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q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for each key.</a:t>
                </a:r>
                <a:br/>
              </a:p>
              <a:p>
                <a:pPr lvl="0"/>
                <a:r>
                  <a:rPr/>
                  <a:t>These scores determine how much each value contributes to the output.</a:t>
                </a:r>
                <a:br/>
              </a:p>
              <a:p>
                <a:pPr lvl="0"/>
                <a:r>
                  <a:rPr/>
                  <a:t>We want scoring functions that are:</a:t>
                </a:r>
              </a:p>
              <a:p>
                <a:pPr lvl="1"/>
                <a:r>
                  <a:rPr/>
                  <a:t>computationally efficient</a:t>
                </a:r>
                <a:br/>
              </a:p>
              <a:p>
                <a:pPr lvl="1"/>
                <a:r>
                  <a:rPr/>
                  <a:t>numerically stable</a:t>
                </a:r>
                <a:br/>
              </a:p>
              <a:p>
                <a:pPr lvl="1"/>
                <a:r>
                  <a:rPr/>
                  <a:t>expressive enough to model interactions</a:t>
                </a:r>
                <a:br/>
              </a:p>
              <a:p>
                <a:pPr lvl="0"/>
                <a:r>
                  <a:rPr/>
                  <a:t>Two dominant families:</a:t>
                </a:r>
              </a:p>
              <a:p>
                <a:pPr lvl="1"/>
                <a:r>
                  <a:rPr/>
                  <a:t>Dot‑product attention</a:t>
                </a:r>
              </a:p>
              <a:p>
                <a:pPr lvl="1"/>
                <a:r>
                  <a:rPr/>
                  <a:t>Additive attention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Distance Kernels to Learnable Scoring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Context: Earlier, we used Gaussian kernels to model similarity.</a:t>
                </a:r>
                <a:br/>
              </a:p>
              <a:p>
                <a:pPr lvl="0"/>
                <a:r>
                  <a:rPr/>
                  <a:t>Issue: Distance computations are more expensive than dot products.</a:t>
                </a:r>
              </a:p>
              <a:p>
                <a:pPr lvl="1"/>
                <a:r>
                  <a:rPr/>
                  <a:t>Terms depending only on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cancel out after softmax normalization.</a:t>
                </a:r>
                <a:br/>
              </a:p>
              <a:p>
                <a:pPr lvl="1"/>
                <a:r>
                  <a:rPr/>
                  <a:t>Layer normalization often keeps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∥</m:t>
                    </m:r>
                    <m:sSub>
                      <m:e>
                        <m: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∥</m:t>
                    </m:r>
                  </m:oMath>
                </a14:m>
                <a:r>
                  <a:rPr/>
                  <a:t> roughly constant.</a:t>
                </a:r>
                <a:br/>
              </a:p>
              <a:p>
                <a:pPr lvl="1"/>
                <a:r>
                  <a:rPr/>
                  <a:t>This motivates dropping norm‑dependent terms and focusing on dot products.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Dot‑Product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063D6-309C-6044-E7F3-B0FAEA37F820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Measures alignment between query and key.</a:t>
                </a:r>
                <a:br/>
              </a:p>
              <a:p>
                <a:pPr lvl="0"/>
                <a:r>
                  <a:rPr/>
                  <a:t>Works best when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have similar scale.</a:t>
                </a:r>
              </a:p>
              <a:p>
                <a:pPr lvl="0"/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R</m:t>
                        </m:r>
                      </m:e>
                      <m:sup>
                        <m:r>
                          <m:t>d</m:t>
                        </m:r>
                      </m:sup>
                    </m:sSup>
                  </m:oMath>
                </a14:m>
                <a:r>
                  <a:rPr/>
                  <a:t> with i.i.d. components,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V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sSub>
                      <m:e>
                        <m: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</m:oMath>
                </a14:m>
                <a:r>
                  <a:rPr/>
                  <a:t>.</a:t>
                </a:r>
                <a:br/>
              </a:p>
              <a:p>
                <a:pPr lvl="0"/>
                <a:r>
                  <a:rPr/>
                  <a:t>Large </a:t>
                </a:r>
                <a14:m>
                  <m:oMath xmlns:m="http://schemas.openxmlformats.org/officeDocument/2006/math">
                    <m:r>
                      <m:t>d</m:t>
                    </m:r>
                  </m:oMath>
                </a14:m>
                <a:r>
                  <a:rPr/>
                  <a:t> → large variance → unstable softmax.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Scaled Dot‑Product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063D6-309C-6044-E7F3-B0FAEA37F820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Fix:</a:t>
                </a:r>
                <a:r>
                  <a:rPr/>
                  <a:t> Rescale by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d</m:t>
                        </m:r>
                      </m:e>
                    </m:ra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Keeps logits in a stable range.</a:t>
                </a:r>
                <a:br/>
              </a:p>
              <a:p>
                <a:pPr lvl="0"/>
                <a:r>
                  <a:rPr/>
                  <a:t>Prevents softmax from saturating.</a:t>
                </a:r>
                <a:br/>
              </a:p>
              <a:p>
                <a:pPr lvl="0"/>
                <a:r>
                  <a:rPr/>
                  <a:t>Used in Transformers and nearly all modern architectures.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a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q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k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p>
                                  <m:e>
                                    <m:r>
                                      <m:t>q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⊤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m:t>k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r>
                                      <m:t>d</m:t>
                                    </m:r>
                                  </m:e>
                                </m:rad>
                              </m:den>
                            </m:f>
                          </m:e>
                        </m:mr>
                        <m:mr>
                          <m:e>
                            <m:r>
                              <m:t>α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q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k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s</m:t>
                            </m:r>
                            <m:r>
                              <m:rPr>
                                <m:sty m:val="p"/>
                              </m:rPr>
                              <m:t>o</m:t>
                            </m:r>
                            <m:r>
                              <m:rPr>
                                <m:sty m:val="p"/>
                              </m:rPr>
                              <m:t>f</m:t>
                            </m:r>
                            <m:r>
                              <m:rPr>
                                <m:sty m:val="p"/>
                              </m:rPr>
                              <m:t>t</m:t>
                            </m:r>
                            <m:r>
                              <m:rPr>
                                <m:sty m:val="p"/>
                              </m:rPr>
                              <m:t>m</m:t>
                            </m:r>
                            <m:r>
                              <m:rPr>
                                <m:sty m:val="p"/>
                              </m:rPr>
                              <m:t>a</m:t>
                            </m:r>
                            <m:r>
                              <m:rPr>
                                <m:sty m:val="p"/>
                              </m:rPr>
                              <m:t>x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a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q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k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Batched Scaled Dot‑Product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For queries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R</m:t>
                        </m:r>
                      </m:e>
                      <m:sup>
                        <m:r>
                          <m:t>n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d</m:t>
                        </m:r>
                      </m:sup>
                    </m:sSup>
                  </m:oMath>
                </a14:m>
                <a:r>
                  <a:rPr/>
                  <a:t>, keys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R</m:t>
                        </m:r>
                      </m:e>
                      <m:sup>
                        <m:r>
                          <m:t>m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d</m:t>
                        </m:r>
                      </m:sup>
                    </m:sSup>
                  </m:oMath>
                </a14:m>
                <a:r>
                  <a:rPr/>
                  <a:t>, values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R</m:t>
                        </m:r>
                      </m:e>
                      <m:sup>
                        <m:r>
                          <m:t>m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v</m:t>
                        </m:r>
                      </m:sup>
                    </m:sSup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m:t>A</m:t>
                            </m:r>
                            <m:r>
                              <m:rPr>
                                <m:sty m:val="p"/>
                              </m:rPr>
                              <m:t>t</m:t>
                            </m:r>
                            <m:r>
                              <m:rPr>
                                <m:sty m:val="p"/>
                              </m:rPr>
                              <m:t>t</m:t>
                            </m:r>
                            <m:r>
                              <m:rPr>
                                <m:sty m:val="p"/>
                              </m:rPr>
                              <m:t>e</m:t>
                            </m:r>
                            <m:r>
                              <m:rPr>
                                <m:sty m:val="p"/>
                              </m:rPr>
                              <m:t>n</m:t>
                            </m:r>
                            <m:r>
                              <m:rPr>
                                <m:sty m:val="p"/>
                              </m:rPr>
                              <m:t>t</m:t>
                            </m:r>
                            <m:r>
                              <m:rPr>
                                <m:sty m:val="p"/>
                              </m:rPr>
                              <m:t>i</m:t>
                            </m:r>
                            <m:r>
                              <m:rPr>
                                <m:sty m:val="p"/>
                              </m:rPr>
                              <m:t>o</m:t>
                            </m:r>
                            <m:r>
                              <m:rPr>
                                <m:sty m:val="p"/>
                              </m:rPr>
                              <m:t>n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Q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V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s</m:t>
                            </m:r>
                            <m:r>
                              <m:rPr>
                                <m:sty m:val="p"/>
                              </m:rPr>
                              <m:t>o</m:t>
                            </m:r>
                            <m:r>
                              <m:rPr>
                                <m:sty m:val="p"/>
                              </m:rPr>
                              <m:t>f</m:t>
                            </m:r>
                            <m:r>
                              <m:rPr>
                                <m:sty m:val="p"/>
                              </m:rPr>
                              <m:t>t</m:t>
                            </m:r>
                            <m:r>
                              <m:rPr>
                                <m:sty m:val="p"/>
                              </m:rPr>
                              <m:t>m</m:t>
                            </m:r>
                            <m:r>
                              <m:rPr>
                                <m:sty m:val="p"/>
                              </m:rPr>
                              <m:t>a</m:t>
                            </m:r>
                            <m:r>
                              <m:rPr>
                                <m:sty m:val="p"/>
                              </m:rPr>
                              <m:t>x</m:t>
                            </m:r>
                            <m:r>
                              <m:t>​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Q</m:t>
                                    </m:r>
                                    <m:sSup>
                                      <m:e>
                                        <m:r>
                                          <m:t>K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m:t>⊤</m:t>
                                        </m:r>
                                      </m:sup>
                                    </m:s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</m:radPr>
                                      <m:deg/>
                                      <m:e>
                                        <m:r>
                                          <m:t>d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  <m:r>
                              <m:t>V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Masked Softmax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NLP sequences have variable lengths.</a:t>
                </a:r>
                <a:br/>
              </a:p>
              <a:p>
                <a:pPr lvl="0"/>
                <a:r>
                  <a:rPr/>
                  <a:t>Padding tokens should not contribute to attention.</a:t>
                </a:r>
              </a:p>
              <a:p>
                <a:pPr lvl="0"/>
                <a:r>
                  <a:rPr/>
                  <a:t>Mechanism:</a:t>
                </a:r>
              </a:p>
              <a:p>
                <a:pPr lvl="1"/>
                <a:r>
                  <a:rPr/>
                  <a:t>Replace padded positions with a large negative value (e.g.,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6</m:t>
                        </m:r>
                      </m:sup>
                    </m:sSup>
                  </m:oMath>
                </a14:m>
                <a:r>
                  <a:rPr/>
                  <a:t>).</a:t>
                </a:r>
                <a:br/>
              </a:p>
              <a:p>
                <a:pPr lvl="1"/>
                <a:r>
                  <a:rPr/>
                  <a:t>After softmax, these positions contribute zero.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Additive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Dot‑product attention requires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to have the same dimension.</a:t>
                </a:r>
                <a:br/>
              </a:p>
              <a:p>
                <a:pPr lvl="0"/>
                <a:r>
                  <a:rPr/>
                  <a:t>Additive attention handles mismatched dimensions naturally.</a:t>
                </a:r>
              </a:p>
              <a:p>
                <a:pPr lvl="0"/>
                <a:r>
                  <a:rPr/>
                  <a:t>A small MLP computes compatibility.</a:t>
                </a:r>
                <a:br/>
              </a:p>
              <a:p>
                <a:pPr lvl="0"/>
                <a:r>
                  <a:rPr/>
                  <a:t>Often used in early seq2seq models (Bahdanau attention).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a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q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k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v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tanh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q</m:t>
                                </m:r>
                              </m:sub>
                            </m:sSub>
                            <m:r>
                              <m:t>q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  <m:sSub>
                              <m:e>
                                <m:r>
                                  <m:t>k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Comparing Dot‑Product and Additive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– Dot‑Product Attention - Fast (matrix multiplications)</a:t>
            </a:r>
            <a:br/>
            <a:r>
              <a:rPr/>
              <a:t>- Scales well to large models</a:t>
            </a:r>
            <a:br/>
            <a:r>
              <a:rPr/>
              <a:t>- Standard in Transformers</a:t>
            </a:r>
            <a:br/>
            <a:r>
              <a:rPr/>
              <a:t>- Additive Attention - More flexible with dimensionality</a:t>
            </a:r>
            <a:br/>
            <a:r>
              <a:rPr/>
              <a:t>- Slightly more expensive</a:t>
            </a:r>
            <a:br/>
            <a:r>
              <a:rPr/>
              <a:t>- Historically important in seq2seq models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Use Which Scoring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dot‑product attention when:</a:t>
            </a:r>
          </a:p>
          <a:p>
            <a:pPr lvl="1"/>
            <a:r>
              <a:rPr/>
              <a:t>Query and key dimensions match</a:t>
            </a:r>
            <a:br/>
          </a:p>
          <a:p>
            <a:pPr lvl="1"/>
            <a:r>
              <a:rPr/>
              <a:t>You need speed and scalability</a:t>
            </a:r>
            <a:br/>
          </a:p>
          <a:p>
            <a:pPr lvl="1"/>
            <a:r>
              <a:rPr/>
              <a:t>You’re building Transformer‑style models</a:t>
            </a:r>
            <a:br/>
          </a:p>
          <a:p>
            <a:pPr lvl="0"/>
            <a:r>
              <a:rPr/>
              <a:t>additive attention when:</a:t>
            </a:r>
          </a:p>
          <a:p>
            <a:pPr lvl="1"/>
            <a:r>
              <a:rPr/>
              <a:t>Query and key dimensions differ</a:t>
            </a:r>
            <a:br/>
          </a:p>
          <a:p>
            <a:pPr lvl="1"/>
            <a:r>
              <a:rPr/>
              <a:t>You want a more expressive scoring function</a:t>
            </a:r>
            <a:br/>
          </a:p>
          <a:p>
            <a:pPr lvl="1"/>
            <a:r>
              <a:rPr/>
              <a:t>Model size is small enough that cost is negligible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Attention scoring functions compute compatibility between queries and keys.</a:t>
            </a:r>
            <a:br/>
          </a:p>
          <a:p>
            <a:pPr lvl="0"/>
            <a:r>
              <a:rPr/>
              <a:t>Scaled dot‑product attention is the default in modern architectures.</a:t>
            </a:r>
            <a:br/>
          </a:p>
          <a:p>
            <a:pPr lvl="0"/>
            <a:r>
              <a:rPr/>
              <a:t>Additive attention is more flexible but slower.</a:t>
            </a:r>
            <a:br/>
          </a:p>
          <a:p>
            <a:pPr lvl="0"/>
            <a:r>
              <a:rPr/>
              <a:t>Masked softmax is essential for variable‑length sequences.</a:t>
            </a:r>
            <a:br/>
          </a:p>
          <a:p>
            <a:pPr lvl="0"/>
            <a:r>
              <a:rPr/>
              <a:t>Efficient implementations rely on batch matrix multiplication.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Bahdanau, D., Cho, K., and Bengio, Y. 2014. “Neural Machine Translation by Jointly Learning to Align and Translate,” </a:t>
            </a:r>
            <a:r>
              <a:rPr i="1"/>
              <a:t>ArXiv:1409.0473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Sutskever, I., Vinyals, O., and Le, Q. V. 2014. “Sequence to Sequence Learning with Neural Networks,” in </a:t>
            </a:r>
            <a:r>
              <a:rPr i="1"/>
              <a:t>Advances in Neural Information Processing Systems</a:t>
            </a:r>
            <a:r>
              <a:rPr/>
              <a:t>, pp. 3104–3112.</a:t>
            </a:r>
          </a:p>
          <a:p>
            <a:pPr lvl="0" indent="0" marL="0">
              <a:buNone/>
            </a:pPr>
            <a:r>
              <a:rPr/>
              <a:t>Vaswani, A., Shazeer, N., Parmar, N., and others. 2017. </a:t>
            </a:r>
            <a:r>
              <a:rPr i="1"/>
              <a:t>Attention Is All You Need</a:t>
            </a:r>
            <a:r>
              <a:rPr/>
              <a:t>, (30). (</a:t>
            </a:r>
            <a:r>
              <a:rPr>
                <a:hlinkClick r:id="rId2"/>
              </a:rPr>
              <a:t>https://arxiv.org/abs/1706.03762</a:t>
            </a:r>
            <a:r>
              <a:rPr/>
              <a:t>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:description>Presentation slides for Module 4 on Transformers, Attention, and Context.</dc:description>
  <dcterms:created xsi:type="dcterms:W3CDTF">2026-04-30T20:04:11Z</dcterms:created>
  <dcterms:modified xsi:type="dcterms:W3CDTF">2026-04-30T20:04:11Z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ategorie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April 30, 2026</vt:lpwstr>
  </property>
  <property fmtid="{D5CDD505-2E9C-101B-9397-08002B2CF9AE}" pid="14" name="editor">
    <vt:lpwstr/>
  </property>
  <property fmtid="{D5CDD505-2E9C-101B-9397-08002B2CF9AE}" pid="15" name="engines">
    <vt:lpwstr/>
  </property>
  <property fmtid="{D5CDD505-2E9C-101B-9397-08002B2CF9AE}" pid="16" name="execute">
    <vt:lpwstr/>
  </property>
  <property fmtid="{D5CDD505-2E9C-101B-9397-08002B2CF9AE}" pid="17" name="header-includes">
    <vt:lpwstr/>
  </property>
  <property fmtid="{D5CDD505-2E9C-101B-9397-08002B2CF9AE}" pid="18" name="include-after">
    <vt:lpwstr/>
  </property>
  <property fmtid="{D5CDD505-2E9C-101B-9397-08002B2CF9AE}" pid="19" name="include-before">
    <vt:lpwstr/>
  </property>
  <property fmtid="{D5CDD505-2E9C-101B-9397-08002B2CF9AE}" pid="20" name="labels">
    <vt:lpwstr/>
  </property>
  <property fmtid="{D5CDD505-2E9C-101B-9397-08002B2CF9AE}" pid="21" name="logo">
    <vt:lpwstr>../theme/figures/met_signature_toptier_rgb.png</vt:lpwstr>
  </property>
  <property fmtid="{D5CDD505-2E9C-101B-9397-08002B2CF9AE}" pid="22" name="monofont">
    <vt:lpwstr>Roboto</vt:lpwstr>
  </property>
  <property fmtid="{D5CDD505-2E9C-101B-9397-08002B2CF9AE}" pid="23" name="resources">
    <vt:lpwstr/>
  </property>
  <property fmtid="{D5CDD505-2E9C-101B-9397-08002B2CF9AE}" pid="24" name="subtitle">
    <vt:lpwstr>Transformers, Attention, and Context</vt:lpwstr>
  </property>
  <property fmtid="{D5CDD505-2E9C-101B-9397-08002B2CF9AE}" pid="25" name="title-slide-attributes">
    <vt:lpwstr/>
  </property>
  <property fmtid="{D5CDD505-2E9C-101B-9397-08002B2CF9AE}" pid="26" name="toc-title">
    <vt:lpwstr>Table of contents</vt:lpwstr>
  </property>
</Properties>
</file>