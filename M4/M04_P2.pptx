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Training Paradigms and Fine-Tuning Pipelines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93900"/>
            <a:ext cx="10515600" cy="398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Pretraining to Deployment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Modern AI Development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production AI systems today are built in two stages:</a:t>
            </a:r>
          </a:p>
          <a:p>
            <a:pPr lvl="0" indent="-457200" marL="457200">
              <a:buAutoNum type="arabicPeriod"/>
            </a:pPr>
            <a:r>
              <a:rPr b="1"/>
              <a:t>Pretraining</a:t>
            </a:r>
            <a:r>
              <a:rPr/>
              <a:t> — learn general language representations from a massive corpus</a:t>
            </a:r>
          </a:p>
          <a:p>
            <a:pPr lvl="0" indent="-457200" marL="457200">
              <a:buAutoNum type="arabicPeriod"/>
            </a:pPr>
            <a:r>
              <a:rPr b="1"/>
              <a:t>Adaptation</a:t>
            </a:r>
            <a:r>
              <a:rPr/>
              <a:t> — specialise the pretrained model for a target task or domain</a:t>
            </a:r>
          </a:p>
          <a:p>
            <a:pPr lvl="0" indent="0" marL="0">
              <a:buNone/>
            </a:pPr>
            <a:r>
              <a:rPr/>
              <a:t>The adaptation stage can take many forms: full fine-tuning, instruction tuning, RLHF, or PEFT.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Pretraining Objectives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Masked Language Modeling (MLM)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Encoder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Causal Language Modeling (CLM)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Decoder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Sequence-to-Sequence (Span Corruption)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Encoder-Decoder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T5, BART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objective shapes what the model learns to </a:t>
            </a:r>
            <a:r>
              <a:rPr i="1"/>
              <a:t>do</a:t>
            </a:r>
            <a:r>
              <a:rPr/>
              <a:t>: fill gaps (BERT) vs predict continuations (GPT).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Masked Language Modeling (MLM)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BERT randomly masks 15% of tokens and trains the model to predict the missing words.</a:t>
            </a:r>
          </a:p>
          <a:p>
            <a:pPr lvl="0" indent="0">
              <a:buNone/>
            </a:pPr>
            <a:r>
              <a:rPr>
                <a:latin typeface="Roboto"/>
              </a:rPr>
              <a:t>Input:  "The company reported strong [MASK] growth in Q3."
Target:              ↑ "revenue"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MLM forces </a:t>
            </a:r>
            <a:r>
              <a:rPr sz="2000" b="1"/>
              <a:t>bidirectional</a:t>
            </a:r>
            <a:r>
              <a:rPr sz="2000"/>
              <a:t> context — the model sees tokens on both sides of each mask. This makes BERT excellent for classification, NER, and QA but not text generation.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Causal Language Modeling (CLM)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GPT-style models predict the next token, seeing only past context (autoregressive).</a:t>
            </a:r>
          </a:p>
          <a:p>
            <a:pPr lvl="0" indent="0">
              <a:buNone/>
            </a:pPr>
            <a:r>
              <a:rPr>
                <a:latin typeface="Roboto"/>
              </a:rPr>
              <a:t>Input:   "The company reported strong"
Predict: "revenue" → "growth" → "in" → "Q3"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CLM enables </a:t>
            </a:r>
            <a:r>
              <a:rPr sz="2000" b="1"/>
              <a:t>open-ended text generation</a:t>
            </a:r>
            <a:r>
              <a:rPr sz="2000"/>
              <a:t> but limits direct use of future context during encoding.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Transfer Learning Paradigm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Transfer Learning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Pretraining on large text corpora gives the model:</a:t>
            </a:r>
          </a:p>
          <a:p>
            <a:pPr lvl="0"/>
            <a:r>
              <a:rPr b="1"/>
              <a:t>Syntactic knowledge</a:t>
            </a:r>
            <a:r>
              <a:rPr/>
              <a:t> — sentence structure and grammar</a:t>
            </a:r>
          </a:p>
          <a:p>
            <a:pPr lvl="0"/>
            <a:r>
              <a:rPr b="1"/>
              <a:t>Semantic knowledge</a:t>
            </a:r>
            <a:r>
              <a:rPr/>
              <a:t> — word meaning and relationships</a:t>
            </a:r>
          </a:p>
          <a:p>
            <a:pPr lvl="0"/>
            <a:r>
              <a:rPr b="1"/>
              <a:t>World knowledge</a:t>
            </a:r>
            <a:r>
              <a:rPr/>
              <a:t> — facts encoded in training text</a:t>
            </a:r>
          </a:p>
          <a:p>
            <a:pPr lvl="0"/>
            <a:r>
              <a:rPr b="1"/>
              <a:t>Task-adjacent skills</a:t>
            </a:r>
            <a:r>
              <a:rPr/>
              <a:t> — reading comprehension, reasoning patterns</a:t>
            </a:r>
          </a:p>
          <a:p>
            <a:pPr lvl="0" indent="0" marL="0">
              <a:buNone/>
            </a:pPr>
            <a:r>
              <a:rPr/>
              <a:t>Fine-tuning on a small labelled dataset then </a:t>
            </a:r>
            <a:r>
              <a:rPr i="1"/>
              <a:t>steers</a:t>
            </a:r>
            <a:r>
              <a:rPr/>
              <a:t> this knowledge toward the target task.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Fine-Tuning Spectrum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Roboto"/>
              </a:rPr>
              <a:t>← Less compute                          More compute →
Zero-shot    Few-shot    Prompt     PEFT      Full Fine-Tune
             prompting   Tuning    (LoRA)
← Less data needed                      More data needed →</a:t>
            </a:r>
          </a:p>
          <a:p>
            <a:pPr lvl="0" indent="0" marL="0">
              <a:buNone/>
            </a:pPr>
            <a:r>
              <a:rPr/>
              <a:t>The right approach depends on: data availability, compute budget, and task difficulty.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Full Fine-Tuning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Full Fine-Tuning?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Update </a:t>
            </a:r>
            <a:r>
              <a:rPr b="1"/>
              <a:t>all</a:t>
            </a:r>
            <a:r>
              <a:rPr/>
              <a:t> model parameters on labelled task data.</a:t>
            </a:r>
          </a:p>
          <a:p>
            <a:pPr lvl="0" indent="0" marL="0">
              <a:buNone/>
            </a:pPr>
            <a:r>
              <a:rPr/>
              <a:t>Procedure:</a:t>
            </a:r>
          </a:p>
          <a:p>
            <a:pPr lvl="0" indent="-457200" marL="457200">
              <a:buAutoNum type="arabicPeriod"/>
            </a:pPr>
            <a:r>
              <a:rPr/>
              <a:t>Start from a pretrained checkpoint (e.g., </a:t>
            </a:r>
            <a:r>
              <a:rPr>
                <a:latin typeface="Roboto"/>
              </a:rPr>
              <a:t>bert-base-uncased</a:t>
            </a:r>
            <a:r>
              <a:rPr/>
              <a:t>)</a:t>
            </a:r>
          </a:p>
          <a:p>
            <a:pPr lvl="0" indent="-457200" marL="457200">
              <a:buAutoNum type="arabicPeriod"/>
            </a:pPr>
            <a:r>
              <a:rPr/>
              <a:t>Add a task-specific head (e.g., linear classifier)</a:t>
            </a:r>
          </a:p>
          <a:p>
            <a:pPr lvl="0" indent="-457200" marL="457200">
              <a:buAutoNum type="arabicPeriod"/>
            </a:pPr>
            <a:r>
              <a:rPr/>
              <a:t>Train on labelled data with a small learning rate</a:t>
            </a:r>
          </a:p>
          <a:p>
            <a:pPr lvl="0" indent="-457200" marL="457200">
              <a:buAutoNum type="arabicPeriod"/>
            </a:pPr>
            <a:r>
              <a:rPr/>
              <a:t>Evaluate on held-out test set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PyTorch: Classification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Roboto"/>
              </a:rPr>
              <a:t>import</a:t>
            </a:r>
            <a:r>
              <a:rPr>
                <a:solidFill>
                  <a:srgbClr val="003B4F"/>
                </a:solidFill>
                <a:latin typeface="Roboto"/>
              </a:rPr>
              <a:t> torch.nn </a:t>
            </a:r>
            <a:r>
              <a:rPr>
                <a:solidFill>
                  <a:srgbClr val="00769E"/>
                </a:solidFill>
                <a:latin typeface="Roboto"/>
              </a:rPr>
              <a:t>as</a:t>
            </a:r>
            <a:r>
              <a:rPr>
                <a:solidFill>
                  <a:srgbClr val="003B4F"/>
                </a:solidFill>
                <a:latin typeface="Roboto"/>
              </a:rPr>
              <a:t> nn</a:t>
            </a:r>
            <a:br/>
            <a:br/>
            <a:r>
              <a:rPr b="1">
                <a:solidFill>
                  <a:srgbClr val="003B4F"/>
                </a:solidFill>
                <a:latin typeface="Roboto"/>
              </a:rPr>
              <a:t>class</a:t>
            </a:r>
            <a:r>
              <a:rPr>
                <a:solidFill>
                  <a:srgbClr val="003B4F"/>
                </a:solidFill>
                <a:latin typeface="Roboto"/>
              </a:rPr>
              <a:t> BertClassifier(nn.Module):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</a:t>
            </a:r>
            <a:r>
              <a:rPr b="1">
                <a:solidFill>
                  <a:srgbClr val="003B4F"/>
                </a:solidFill>
                <a:latin typeface="Roboto"/>
              </a:rPr>
              <a:t>def</a:t>
            </a:r>
            <a:r>
              <a:rPr>
                <a:solidFill>
                  <a:srgbClr val="003B4F"/>
                </a:solidFill>
                <a:latin typeface="Roboto"/>
              </a:rPr>
              <a:t> </a:t>
            </a:r>
            <a:r>
              <a:rPr>
                <a:solidFill>
                  <a:srgbClr val="4758AB"/>
                </a:solidFill>
                <a:latin typeface="Roboto"/>
              </a:rPr>
              <a:t>__init__</a:t>
            </a:r>
            <a:r>
              <a:rPr>
                <a:solidFill>
                  <a:srgbClr val="003B4F"/>
                </a:solidFill>
                <a:latin typeface="Roboto"/>
              </a:rPr>
              <a:t>(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, bert_hidden: int </a:t>
            </a:r>
            <a:r>
              <a:rPr>
                <a:solidFill>
                  <a:srgbClr val="5E5E5E"/>
                </a:solidFill>
                <a:latin typeface="Roboto"/>
              </a:rPr>
              <a:t>=</a:t>
            </a:r>
            <a:r>
              <a:rPr>
                <a:solidFill>
                  <a:srgbClr val="003B4F"/>
                </a:solidFill>
                <a:latin typeface="Roboto"/>
              </a:rPr>
              <a:t> </a:t>
            </a:r>
            <a:r>
              <a:rPr>
                <a:solidFill>
                  <a:srgbClr val="AD0000"/>
                </a:solidFill>
                <a:latin typeface="Roboto"/>
              </a:rPr>
              <a:t>768</a:t>
            </a:r>
            <a:r>
              <a:rPr>
                <a:solidFill>
                  <a:srgbClr val="003B4F"/>
                </a:solidFill>
                <a:latin typeface="Roboto"/>
              </a:rPr>
              <a:t>, num_classes: int </a:t>
            </a:r>
            <a:r>
              <a:rPr>
                <a:solidFill>
                  <a:srgbClr val="5E5E5E"/>
                </a:solidFill>
                <a:latin typeface="Roboto"/>
              </a:rPr>
              <a:t>=</a:t>
            </a:r>
            <a:r>
              <a:rPr>
                <a:solidFill>
                  <a:srgbClr val="003B4F"/>
                </a:solidFill>
                <a:latin typeface="Roboto"/>
              </a:rPr>
              <a:t> </a:t>
            </a:r>
            <a:r>
              <a:rPr>
                <a:solidFill>
                  <a:srgbClr val="AD0000"/>
                </a:solidFill>
                <a:latin typeface="Roboto"/>
              </a:rPr>
              <a:t>3</a:t>
            </a:r>
            <a:r>
              <a:rPr>
                <a:solidFill>
                  <a:srgbClr val="003B4F"/>
                </a:solidFill>
                <a:latin typeface="Roboto"/>
              </a:rPr>
              <a:t>):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    super().</a:t>
            </a:r>
            <a:r>
              <a:rPr>
                <a:solidFill>
                  <a:srgbClr val="4758AB"/>
                </a:solidFill>
                <a:latin typeface="Roboto"/>
              </a:rPr>
              <a:t>__init__</a:t>
            </a:r>
            <a:r>
              <a:rPr>
                <a:solidFill>
                  <a:srgbClr val="003B4F"/>
                </a:solidFill>
                <a:latin typeface="Roboto"/>
              </a:rPr>
              <a:t>()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    </a:t>
            </a:r>
            <a:r>
              <a:rPr>
                <a:solidFill>
                  <a:srgbClr val="5E5E5E"/>
                </a:solidFill>
                <a:latin typeface="Roboto"/>
              </a:rPr>
              <a:t># In practice: load from transformers.BertModel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    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.encoder </a:t>
            </a:r>
            <a:r>
              <a:rPr>
                <a:solidFill>
                  <a:srgbClr val="5E5E5E"/>
                </a:solidFill>
                <a:latin typeface="Roboto"/>
              </a:rPr>
              <a:t>=</a:t>
            </a:r>
            <a:r>
              <a:rPr>
                <a:solidFill>
                  <a:srgbClr val="003B4F"/>
                </a:solidFill>
                <a:latin typeface="Roboto"/>
              </a:rPr>
              <a:t> nn.Identity()          </a:t>
            </a:r>
            <a:r>
              <a:rPr>
                <a:solidFill>
                  <a:srgbClr val="5E5E5E"/>
                </a:solidFill>
                <a:latin typeface="Roboto"/>
              </a:rPr>
              <a:t># placeholder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    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.dropout </a:t>
            </a:r>
            <a:r>
              <a:rPr>
                <a:solidFill>
                  <a:srgbClr val="5E5E5E"/>
                </a:solidFill>
                <a:latin typeface="Roboto"/>
              </a:rPr>
              <a:t>=</a:t>
            </a:r>
            <a:r>
              <a:rPr>
                <a:solidFill>
                  <a:srgbClr val="003B4F"/>
                </a:solidFill>
                <a:latin typeface="Roboto"/>
              </a:rPr>
              <a:t> nn.Dropout(</a:t>
            </a:r>
            <a:r>
              <a:rPr>
                <a:solidFill>
                  <a:srgbClr val="AD0000"/>
                </a:solidFill>
                <a:latin typeface="Roboto"/>
              </a:rPr>
              <a:t>0.1</a:t>
            </a:r>
            <a:r>
              <a:rPr>
                <a:solidFill>
                  <a:srgbClr val="003B4F"/>
                </a:solidFill>
                <a:latin typeface="Roboto"/>
              </a:rPr>
              <a:t>)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    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.classifier </a:t>
            </a:r>
            <a:r>
              <a:rPr>
                <a:solidFill>
                  <a:srgbClr val="5E5E5E"/>
                </a:solidFill>
                <a:latin typeface="Roboto"/>
              </a:rPr>
              <a:t>=</a:t>
            </a:r>
            <a:r>
              <a:rPr>
                <a:solidFill>
                  <a:srgbClr val="003B4F"/>
                </a:solidFill>
                <a:latin typeface="Roboto"/>
              </a:rPr>
              <a:t> nn.Linear(bert_hidden, num_classes)</a:t>
            </a:r>
            <a:br/>
            <a:br/>
            <a:r>
              <a:rPr>
                <a:solidFill>
                  <a:srgbClr val="003B4F"/>
                </a:solidFill>
                <a:latin typeface="Roboto"/>
              </a:rPr>
              <a:t>    </a:t>
            </a:r>
            <a:r>
              <a:rPr b="1">
                <a:solidFill>
                  <a:srgbClr val="003B4F"/>
                </a:solidFill>
                <a:latin typeface="Roboto"/>
              </a:rPr>
              <a:t>def</a:t>
            </a:r>
            <a:r>
              <a:rPr>
                <a:solidFill>
                  <a:srgbClr val="003B4F"/>
                </a:solidFill>
                <a:latin typeface="Roboto"/>
              </a:rPr>
              <a:t> forward(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, cls_embedding):</a:t>
            </a:r>
            <a:br/>
            <a:r>
              <a:rPr>
                <a:solidFill>
                  <a:srgbClr val="003B4F"/>
                </a:solidFill>
                <a:latin typeface="Roboto"/>
              </a:rPr>
              <a:t>        </a:t>
            </a:r>
            <a:r>
              <a:rPr b="1">
                <a:solidFill>
                  <a:srgbClr val="003B4F"/>
                </a:solidFill>
                <a:latin typeface="Roboto"/>
              </a:rPr>
              <a:t>return</a:t>
            </a:r>
            <a:r>
              <a:rPr>
                <a:solidFill>
                  <a:srgbClr val="003B4F"/>
                </a:solidFill>
                <a:latin typeface="Roboto"/>
              </a:rPr>
              <a:t> 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.classifier(</a:t>
            </a:r>
            <a:r>
              <a:rPr>
                <a:solidFill>
                  <a:srgbClr val="111111"/>
                </a:solidFill>
                <a:latin typeface="Roboto"/>
              </a:rPr>
              <a:t>self</a:t>
            </a:r>
            <a:r>
              <a:rPr>
                <a:solidFill>
                  <a:srgbClr val="003B4F"/>
                </a:solidFill>
                <a:latin typeface="Roboto"/>
              </a:rPr>
              <a:t>.dropout(cls_embedding))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of Full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Catastrophic forgetting</a:t>
            </a:r>
            <a:r>
              <a:rPr/>
              <a:t> — model loses general capabilities</a:t>
            </a:r>
          </a:p>
          <a:p>
            <a:pPr lvl="0"/>
            <a:r>
              <a:rPr b="1"/>
              <a:t>Compute cost</a:t>
            </a:r>
            <a:r>
              <a:rPr/>
              <a:t> — updating billions of parameters is expensive</a:t>
            </a:r>
          </a:p>
          <a:p>
            <a:pPr lvl="0"/>
            <a:r>
              <a:rPr b="1"/>
              <a:t>Data requirements</a:t>
            </a:r>
            <a:r>
              <a:rPr/>
              <a:t> — needs thousands of labelled examples</a:t>
            </a:r>
          </a:p>
          <a:p>
            <a:pPr lvl="0"/>
            <a:r>
              <a:rPr b="1"/>
              <a:t>Storage</a:t>
            </a:r>
            <a:r>
              <a:rPr/>
              <a:t> — one full copy of weights per fine-tuned task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Instruction Tuning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Instruction Tuning?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Fine-tune on </a:t>
            </a:r>
            <a:r>
              <a:rPr b="1"/>
              <a:t>(instruction, response)</a:t>
            </a:r>
            <a:r>
              <a:rPr/>
              <a:t> pairs to teach the model to follow natural language commands.</a:t>
            </a:r>
          </a:p>
          <a:p>
            <a:pPr lvl="0" indent="0">
              <a:buNone/>
            </a:pPr>
            <a:r>
              <a:rPr>
                <a:latin typeface="Roboto"/>
              </a:rPr>
              <a:t>Instruction: "Classify the sentiment of the following review as POSITIVE or NEGATIVE."
Input:       "The product broke after two days of use."
Response:    "NEGATIVE"</a:t>
            </a:r>
          </a:p>
          <a:p>
            <a:pPr lvl="0" indent="0" marL="0">
              <a:buNone/>
            </a:pPr>
            <a:r>
              <a:rPr/>
              <a:t>Examples: FLAN-T5, InstructGPT, Alpaca.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Instruction Tuning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Models become far more useful for end users without programming</a:t>
            </a:r>
          </a:p>
          <a:p>
            <a:pPr lvl="0"/>
            <a:r>
              <a:rPr/>
              <a:t>A single model can handle hundreds of tasks (zero-shot generalisation)</a:t>
            </a:r>
          </a:p>
          <a:p>
            <a:pPr lvl="0"/>
            <a:r>
              <a:rPr/>
              <a:t>Enables natural language as the interface to AI systems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RLHF: Reinforcement Learning from Human Feedback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RLHF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RLHF (Ouyang et al., 2022 — InstructGPT) aligns models with human preferences:</a:t>
            </a:r>
          </a:p>
          <a:p>
            <a:pPr lvl="0" indent="-457200" marL="457200">
              <a:buAutoNum type="arabicPeriod"/>
            </a:pPr>
            <a:r>
              <a:rPr b="1"/>
              <a:t>Supervised Fine-Tuning (SFT)</a:t>
            </a:r>
            <a:r>
              <a:rPr/>
              <a:t> — fine-tune on human-written demonstrations</a:t>
            </a:r>
          </a:p>
          <a:p>
            <a:pPr lvl="0" indent="-457200" marL="457200">
              <a:buAutoNum type="arabicPeriod"/>
            </a:pPr>
            <a:r>
              <a:rPr b="1"/>
              <a:t>Reward Model Training</a:t>
            </a:r>
            <a:r>
              <a:rPr/>
              <a:t> — train a model to predict human preference scores</a:t>
            </a:r>
          </a:p>
          <a:p>
            <a:pPr lvl="0" indent="-457200" marL="457200">
              <a:buAutoNum type="arabicPeriod"/>
            </a:pPr>
            <a:r>
              <a:rPr b="1"/>
              <a:t>PPO Optimisation</a:t>
            </a:r>
            <a:r>
              <a:rPr/>
              <a:t> — use RL to maximise reward while staying close to the SFT baseline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RLHF is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Human labellers must rank thousands of output pairs</a:t>
            </a:r>
          </a:p>
          <a:p>
            <a:pPr lvl="0"/>
            <a:r>
              <a:rPr/>
              <a:t>Reward models can be gamed (reward hacking)</a:t>
            </a:r>
          </a:p>
          <a:p>
            <a:pPr lvl="0"/>
            <a:r>
              <a:rPr/>
              <a:t>PPO is computationally expensive and unstable</a:t>
            </a:r>
          </a:p>
          <a:p>
            <a:pPr lvl="0"/>
            <a:r>
              <a:rPr/>
              <a:t>Alternative: </a:t>
            </a:r>
            <a:r>
              <a:rPr b="1"/>
              <a:t>Direct Preference Optimization (DPO)</a:t>
            </a:r>
            <a:r>
              <a:rPr/>
              <a:t> — simpler, no reward model needed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Parameter-Efficient Fine-Tuning (PEFT)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Instead of updating all parameters, inject a small number of </a:t>
                </a:r>
                <a:r>
                  <a:rPr b="1"/>
                  <a:t>trainable adapter</a:t>
                </a:r>
                <a:r>
                  <a:rPr/>
                  <a:t> parameters. The pretrained weights are </a:t>
                </a:r>
                <a:r>
                  <a:rPr b="1"/>
                  <a:t>frozen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LoRA</a:t>
                </a:r>
                <a:r>
                  <a:rPr/>
                  <a:t> — learn low-rank updates to weight matrices: </a:t>
                </a:r>
                <a14:m>
                  <m:oMath xmlns:m="http://schemas.openxmlformats.org/officeDocument/2006/math"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W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Δ</m:t>
                    </m:r>
                    <m:r>
                      <m:t>W</m:t>
                    </m:r>
                    <m:r>
                      <m:rPr>
                        <m:sty m:val="p"/>
                      </m:rPr>
                      <m:t>=</m:t>
                    </m:r>
                    <m:r>
                      <m:t>W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A</m:t>
                    </m:r>
                  </m:oMath>
                </a14:m>
              </a:p>
              <a:p>
                <a:pPr lvl="0"/>
                <a:r>
                  <a:rPr b="1"/>
                  <a:t>Prefix Tuning</a:t>
                </a:r>
                <a:r>
                  <a:rPr/>
                  <a:t> — prepend learnable tokens to the input sequence</a:t>
                </a:r>
              </a:p>
              <a:p>
                <a:pPr lvl="0"/>
                <a:r>
                  <a:rPr b="1"/>
                  <a:t>Prompt Tuning</a:t>
                </a:r>
                <a:r>
                  <a:rPr/>
                  <a:t> — learn soft prompt embeddings only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LoRA: Low-Rank Adaptation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W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A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where 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m:t>R</m:t>
                          </m:r>
                        </m:e>
                        <m:sup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∈</m:t>
                      </m:r>
                      <m:sSup>
                        <m:e>
                          <m:r>
                            <m:rPr>
                              <m:scr m:val="double-struck"/>
                              <m:sty m:val="p"/>
                            </m:rPr>
                            <m:t>R</m:t>
                          </m:r>
                        </m:e>
                        <m:sup>
                          <m:r>
                            <m:t>r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≪</m:t>
                      </m:r>
                      <m:r>
                        <m:rPr>
                          <m:sty m:val="p"/>
                        </m:rPr>
                        <m:t>min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Rank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controls the number of trainable parameters</a:t>
                </a:r>
              </a:p>
              <a:p>
                <a:pPr lvl="0"/>
                <a:r>
                  <a:rPr/>
                  <a:t>Typical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{</m:t>
                    </m:r>
                    <m:r>
                      <m:t>4</m:t>
                    </m:r>
                    <m:r>
                      <m:rPr>
                        <m:sty m:val="p"/>
                      </m:rPr>
                      <m:t>,</m:t>
                    </m:r>
                    <m:r>
                      <m:t>8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16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 — reduces parameters by 100–10,000×</a:t>
                </a:r>
              </a:p>
              <a:p>
                <a:pPr lvl="0"/>
                <a:r>
                  <a:rPr/>
                  <a:t>At inference: merge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W</m:t>
                    </m:r>
                  </m:oMath>
                </a14:m>
                <a:r>
                  <a:rPr/>
                  <a:t> back into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 — </a:t>
                </a:r>
                <a:r>
                  <a:rPr b="1"/>
                  <a:t>no latency overhead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Pretraining objectives (MLM, CLM, seq2seq) determine model strengths and weaknesses</a:t>
            </a:r>
          </a:p>
          <a:p>
            <a:pPr lvl="0"/>
            <a:r>
              <a:rPr/>
              <a:t>Transfer learning = leverage pretrained representations for downstream tasks</a:t>
            </a:r>
          </a:p>
          <a:p>
            <a:pPr lvl="0"/>
            <a:r>
              <a:rPr/>
              <a:t>Full fine-tuning is powerful but expensive; instruction tuning improves usability</a:t>
            </a:r>
          </a:p>
          <a:p>
            <a:pPr lvl="0"/>
            <a:r>
              <a:rPr/>
              <a:t>RLHF aligns models with human preferences — but at significant cost</a:t>
            </a:r>
          </a:p>
          <a:p>
            <a:pPr lvl="0"/>
            <a:r>
              <a:rPr/>
              <a:t>PEFT methods (LoRA, adapters) offer 90%+ of the fine-tuning benefit at 1–10% of the compute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Lab</a:t>
            </a:r>
            <a:r>
              <a:rPr/>
              <a:t>: Implement a fine-tuning training loop in PyTorch with a classification head</a:t>
            </a:r>
          </a:p>
          <a:p>
            <a:pPr lvl="0"/>
            <a:r>
              <a:rPr b="1"/>
              <a:t>Tutorial</a:t>
            </a:r>
            <a:r>
              <a:rPr/>
              <a:t>: Build a LoRA-style adapter from scratch</a:t>
            </a:r>
          </a:p>
          <a:p>
            <a:pPr lvl="0"/>
            <a:r>
              <a:rPr b="1"/>
              <a:t>Assignment</a:t>
            </a:r>
            <a:r>
              <a:rPr/>
              <a:t>: Fine-tune a model on SEC 10-K risk classification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/>
  <cp:keywords/>
  <dc:description>Presentation slides for Module 4 on Training Paradigms and Fine-Tuning Pipelines.</dc:description>
  <dcterms:created xsi:type="dcterms:W3CDTF">2026-04-30T20:04:13Z</dcterms:created>
  <dcterms:modified xsi:type="dcterms:W3CDTF">2026-04-30T20:04:13Z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../references.bib</vt:lpwstr>
  </property>
  <property fmtid="{D5CDD505-2E9C-101B-9397-08002B2CF9AE}" pid="4" name="categories">
    <vt:lpwstr/>
  </property>
  <property fmtid="{D5CDD505-2E9C-101B-9397-08002B2CF9AE}" pid="5" name="crossref">
    <vt:lpwstr/>
  </property>
  <property fmtid="{D5CDD505-2E9C-101B-9397-08002B2CF9AE}" pid="6" name="csl">
    <vt:lpwstr>../mis-quarterly.csl</vt:lpwstr>
  </property>
  <property fmtid="{D5CDD505-2E9C-101B-9397-08002B2CF9AE}" pid="7" name="date">
    <vt:lpwstr>March 12, 2026</vt:lpwstr>
  </property>
  <property fmtid="{D5CDD505-2E9C-101B-9397-08002B2CF9AE}" pid="8" name="date-format">
    <vt:lpwstr>long</vt:lpwstr>
  </property>
  <property fmtid="{D5CDD505-2E9C-101B-9397-08002B2CF9AE}" pid="9" name="date-modified">
    <vt:lpwstr>April 30, 2026</vt:lpwstr>
  </property>
  <property fmtid="{D5CDD505-2E9C-101B-9397-08002B2CF9AE}" pid="10" name="editor">
    <vt:lpwstr/>
  </property>
  <property fmtid="{D5CDD505-2E9C-101B-9397-08002B2CF9AE}" pid="11" name="engines">
    <vt:lpwstr/>
  </property>
  <property fmtid="{D5CDD505-2E9C-101B-9397-08002B2CF9AE}" pid="12" name="execute">
    <vt:lpwstr/>
  </property>
  <property fmtid="{D5CDD505-2E9C-101B-9397-08002B2CF9AE}" pid="13" name="header-includes">
    <vt:lpwstr/>
  </property>
  <property fmtid="{D5CDD505-2E9C-101B-9397-08002B2CF9AE}" pid="14" name="include-after">
    <vt:lpwstr/>
  </property>
  <property fmtid="{D5CDD505-2E9C-101B-9397-08002B2CF9AE}" pid="15" name="include-before">
    <vt:lpwstr/>
  </property>
  <property fmtid="{D5CDD505-2E9C-101B-9397-08002B2CF9AE}" pid="16" name="labels">
    <vt:lpwstr/>
  </property>
  <property fmtid="{D5CDD505-2E9C-101B-9397-08002B2CF9AE}" pid="17" name="logo">
    <vt:lpwstr>../theme/figures/met_signature_toptier_rgb.png</vt:lpwstr>
  </property>
  <property fmtid="{D5CDD505-2E9C-101B-9397-08002B2CF9AE}" pid="18" name="monofont">
    <vt:lpwstr>Roboto</vt:lpwstr>
  </property>
  <property fmtid="{D5CDD505-2E9C-101B-9397-08002B2CF9AE}" pid="19" name="resources">
    <vt:lpwstr/>
  </property>
  <property fmtid="{D5CDD505-2E9C-101B-9397-08002B2CF9AE}" pid="20" name="subtitle">
    <vt:lpwstr>Training Paradigms and Fine-Tuning Pipelines</vt:lpwstr>
  </property>
  <property fmtid="{D5CDD505-2E9C-101B-9397-08002B2CF9AE}" pid="21" name="title-slide-attributes">
    <vt:lpwstr/>
  </property>
  <property fmtid="{D5CDD505-2E9C-101B-9397-08002B2CF9AE}" pid="22" name="toc-title">
    <vt:lpwstr>Table of contents</vt:lpwstr>
  </property>
</Properties>
</file>