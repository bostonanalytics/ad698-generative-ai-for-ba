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1" Type="http://schemas.openxmlformats.org/officeDocument/2006/relationships/viewProps" Target="viewProps.xml" /><Relationship Id="rId20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 698 — Applied Generative AI for Business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Introduction &amp; Orientation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AD 698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Applied Generative AI for Business</a:t>
            </a:r>
            <a:r>
              <a:rPr/>
              <a:t> - A course focused on </a:t>
            </a:r>
            <a:r>
              <a:rPr b="1"/>
              <a:t>building</a:t>
            </a:r>
            <a:r>
              <a:rPr/>
              <a:t> generative AI systems—</a:t>
            </a:r>
            <a:br/>
            <a:r>
              <a:rPr/>
              <a:t>not just using them.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We Interact with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begin by typing a request into a chat box—</a:t>
            </a:r>
            <a:br/>
            <a:r>
              <a:rPr/>
              <a:t>a question, a description, an idea.</a:t>
            </a:r>
          </a:p>
          <a:p>
            <a:pPr lvl="0" indent="0" marL="0">
              <a:buNone/>
            </a:pPr>
            <a:r>
              <a:rPr/>
              <a:t>This request is called a </a:t>
            </a:r>
            <a:r>
              <a:rPr b="1"/>
              <a:t>prompt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From a prompt, AI can:</a:t>
            </a:r>
          </a:p>
          <a:p>
            <a:pPr lvl="0"/>
            <a:r>
              <a:rPr/>
              <a:t>Create stories</a:t>
            </a:r>
            <a:br/>
          </a:p>
          <a:p>
            <a:pPr lvl="0"/>
            <a:r>
              <a:rPr/>
              <a:t>Generate images</a:t>
            </a:r>
            <a:br/>
          </a:p>
          <a:p>
            <a:pPr lvl="0"/>
            <a:r>
              <a:rPr/>
              <a:t>Compose music</a:t>
            </a:r>
            <a:br/>
          </a:p>
          <a:p>
            <a:pPr lvl="0"/>
            <a:r>
              <a:rPr/>
              <a:t>Write code</a:t>
            </a:r>
            <a:br/>
          </a:p>
          <a:p>
            <a:pPr lvl="0"/>
            <a:r>
              <a:rPr/>
              <a:t>Summarize information</a:t>
            </a:r>
            <a:br/>
          </a:p>
          <a:p>
            <a:pPr lvl="0"/>
            <a:r>
              <a:rPr/>
              <a:t>Produce new ideas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AI Creates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LLMs generate content by learning patterns from enormous volumes of data.</a:t>
            </a:r>
          </a:p>
          <a:p>
            <a:pPr lvl="0" indent="0" marL="0">
              <a:buNone/>
            </a:pPr>
            <a:r>
              <a:rPr/>
              <a:t>The output often feels:</a:t>
            </a:r>
          </a:p>
          <a:p>
            <a:pPr lvl="0"/>
            <a:r>
              <a:rPr/>
              <a:t>New</a:t>
            </a:r>
            <a:br/>
          </a:p>
          <a:p>
            <a:pPr lvl="0"/>
            <a:r>
              <a:rPr/>
              <a:t>Impressive</a:t>
            </a:r>
            <a:br/>
          </a:p>
          <a:p>
            <a:pPr lvl="0"/>
            <a:r>
              <a:rPr/>
              <a:t>Hard to distinguish from human-created content</a:t>
            </a:r>
          </a:p>
          <a:p>
            <a:pPr lvl="0" indent="0" marL="0">
              <a:buNone/>
            </a:pPr>
            <a:r>
              <a:rPr/>
              <a:t>But generative AI also has limitations.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Generative AI can be misused:</a:t>
            </a:r>
          </a:p>
          <a:p>
            <a:pPr lvl="0"/>
            <a:r>
              <a:rPr b="1"/>
              <a:t>Deepfakes</a:t>
            </a:r>
            <a:r>
              <a:rPr/>
              <a:t> — realistic but fabricated images/videos</a:t>
            </a:r>
            <a:br/>
          </a:p>
          <a:p>
            <a:pPr lvl="0"/>
            <a:r>
              <a:rPr b="1"/>
              <a:t>AI-written text</a:t>
            </a:r>
            <a:r>
              <a:rPr/>
              <a:t> — nearly indistinguishable from human text</a:t>
            </a:r>
            <a:br/>
          </a:p>
          <a:p>
            <a:pPr lvl="0"/>
            <a:r>
              <a:rPr b="1"/>
              <a:t>Hallucinations</a:t>
            </a:r>
            <a:r>
              <a:rPr/>
              <a:t> — answers that sound correct but are factually wrong</a:t>
            </a:r>
          </a:p>
          <a:p>
            <a:pPr lvl="0" indent="0" marL="0">
              <a:buNone/>
            </a:pPr>
            <a:r>
              <a:rPr/>
              <a:t>Understanding these limitations is essential.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AD 698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</a:t>
            </a:r>
            <a:r>
              <a:rPr b="1"/>
              <a:t>not</a:t>
            </a:r>
            <a:r>
              <a:rPr/>
              <a:t> a course where the AI solves everything for you.</a:t>
            </a:r>
          </a:p>
          <a:p>
            <a:pPr lvl="0" indent="0" marL="0">
              <a:buNone/>
            </a:pPr>
            <a:r>
              <a:rPr/>
              <a:t>This is a </a:t>
            </a:r>
            <a:r>
              <a:rPr b="1"/>
              <a:t>build-the-LLM-system</a:t>
            </a:r>
            <a:r>
              <a:rPr/>
              <a:t> course.</a:t>
            </a:r>
          </a:p>
          <a:p>
            <a:pPr lvl="0" indent="0" marL="0">
              <a:buNone/>
            </a:pPr>
            <a:r>
              <a:rPr/>
              <a:t>You will learn how to design, construct, and evaluate</a:t>
            </a:r>
            <a:br/>
            <a:r>
              <a:rPr b="1"/>
              <a:t>responsible, reliable generative AI workflows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Seven Modules (0–6)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will build the components of a complete LLM application:</a:t>
            </a:r>
          </a:p>
          <a:p>
            <a:pPr lvl="0" indent="-457200" marL="457200">
              <a:buAutoNum type="arabicPeriod"/>
            </a:pPr>
            <a:r>
              <a:rPr b="1"/>
              <a:t>Module 0:</a:t>
            </a:r>
            <a:r>
              <a:rPr/>
              <a:t> Generative AI foundations</a:t>
            </a:r>
            <a:br/>
          </a:p>
          <a:p>
            <a:pPr lvl="0" indent="-457200" marL="457200">
              <a:buAutoNum type="arabicPeriod"/>
            </a:pPr>
            <a:r>
              <a:rPr b="1"/>
              <a:t>Module 1:</a:t>
            </a:r>
            <a:r>
              <a:rPr/>
              <a:t> Structured prompting</a:t>
            </a:r>
            <a:br/>
          </a:p>
          <a:p>
            <a:pPr lvl="0" indent="-457200" marL="457200">
              <a:buAutoNum type="arabicPeriod"/>
            </a:pPr>
            <a:r>
              <a:rPr b="1"/>
              <a:t>Module 2:</a:t>
            </a:r>
            <a:r>
              <a:rPr/>
              <a:t> In-context learning</a:t>
            </a:r>
            <a:br/>
          </a:p>
          <a:p>
            <a:pPr lvl="0" indent="-457200" marL="457200">
              <a:buAutoNum type="arabicPeriod"/>
            </a:pPr>
            <a:r>
              <a:rPr b="1"/>
              <a:t>Module 3:</a:t>
            </a:r>
            <a:r>
              <a:rPr/>
              <a:t> Embeddings &amp; retrieval (RAG)</a:t>
            </a:r>
            <a:br/>
          </a:p>
          <a:p>
            <a:pPr lvl="0" indent="-457200" marL="457200">
              <a:buAutoNum type="arabicPeriod"/>
            </a:pPr>
            <a:r>
              <a:rPr b="1"/>
              <a:t>Module 4:</a:t>
            </a:r>
            <a:r>
              <a:rPr/>
              <a:t> Building task-specific LLMs</a:t>
            </a:r>
            <a:br/>
          </a:p>
          <a:p>
            <a:pPr lvl="0" indent="-457200" marL="457200">
              <a:buAutoNum type="arabicPeriod"/>
            </a:pPr>
            <a:r>
              <a:rPr b="1"/>
              <a:t>Module 5:</a:t>
            </a:r>
            <a:r>
              <a:rPr/>
              <a:t> Agents &amp; automation</a:t>
            </a:r>
            <a:br/>
          </a:p>
          <a:p>
            <a:pPr lvl="0" indent="-457200" marL="457200">
              <a:buAutoNum type="arabicPeriod"/>
            </a:pPr>
            <a:r>
              <a:rPr b="1"/>
              <a:t>Module 6:</a:t>
            </a:r>
            <a:r>
              <a:rPr/>
              <a:t> Evaluation &amp; safety</a:t>
            </a:r>
          </a:p>
          <a:p>
            <a:pPr lvl="0" indent="0" marL="0">
              <a:buNone/>
            </a:pPr>
            <a:r>
              <a:rPr/>
              <a:t>Each module adds a new layer to your final system.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AI Systems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will learn to engineer:</a:t>
            </a:r>
          </a:p>
          <a:p>
            <a:pPr lvl="0"/>
            <a:r>
              <a:rPr/>
              <a:t>Prompt architectures</a:t>
            </a:r>
            <a:br/>
          </a:p>
          <a:p>
            <a:pPr lvl="0"/>
            <a:r>
              <a:rPr/>
              <a:t>Structured output pipelines</a:t>
            </a:r>
            <a:br/>
          </a:p>
          <a:p>
            <a:pPr lvl="0"/>
            <a:r>
              <a:rPr/>
              <a:t>In-context learning templates</a:t>
            </a:r>
            <a:br/>
          </a:p>
          <a:p>
            <a:pPr lvl="0"/>
            <a:r>
              <a:rPr/>
              <a:t>Embedding models</a:t>
            </a:r>
            <a:br/>
          </a:p>
          <a:p>
            <a:pPr lvl="0"/>
            <a:r>
              <a:rPr/>
              <a:t>Vector databases (ChromaDB / FAISS)</a:t>
            </a:r>
            <a:br/>
          </a:p>
          <a:p>
            <a:pPr lvl="0"/>
            <a:r>
              <a:rPr/>
              <a:t>Retrieval-augmented systems</a:t>
            </a:r>
            <a:br/>
          </a:p>
          <a:p>
            <a:pPr lvl="0"/>
            <a:r>
              <a:rPr/>
              <a:t>Domain-scoped LLM workflows</a:t>
            </a:r>
            <a:br/>
          </a:p>
          <a:p>
            <a:pPr lvl="0"/>
            <a:r>
              <a:rPr/>
              <a:t>Agents that interact with APIs</a:t>
            </a:r>
            <a:br/>
          </a:p>
          <a:p>
            <a:pPr lvl="0"/>
            <a:r>
              <a:rPr/>
              <a:t>Evaluation and safety mechanisms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Modality &amp; Tools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Weekly Rhythm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week includes:</a:t>
            </a:r>
          </a:p>
          <a:p>
            <a:pPr lvl="0"/>
            <a:r>
              <a:rPr/>
              <a:t>Short lecture videos</a:t>
            </a:r>
            <a:br/>
          </a:p>
          <a:p>
            <a:pPr lvl="0"/>
            <a:r>
              <a:rPr/>
              <a:t>Live or recorded demos</a:t>
            </a:r>
            <a:br/>
          </a:p>
          <a:p>
            <a:pPr lvl="0"/>
            <a:r>
              <a:rPr/>
              <a:t>Hands-on labs</a:t>
            </a:r>
            <a:br/>
          </a:p>
          <a:p>
            <a:pPr lvl="0"/>
            <a:r>
              <a:rPr/>
              <a:t>Structured assignments</a:t>
            </a:r>
          </a:p>
          <a:p>
            <a:pPr lvl="0" indent="0" marL="0">
              <a:buNone/>
            </a:pPr>
            <a:r>
              <a:rPr/>
              <a:t>All leading toward your final project.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Tools You Will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Python</a:t>
            </a:r>
            <a:r>
              <a:rPr/>
              <a:t> and </a:t>
            </a:r>
            <a:r>
              <a:rPr b="1"/>
              <a:t>Jupyter Notebooks</a:t>
            </a:r>
            <a:br/>
          </a:p>
          <a:p>
            <a:pPr lvl="0"/>
            <a:r>
              <a:rPr b="1"/>
              <a:t>OpenAI, Gemini, and OSS models</a:t>
            </a:r>
            <a:br/>
          </a:p>
          <a:p>
            <a:pPr lvl="0"/>
            <a:r>
              <a:rPr b="1"/>
              <a:t>ChromaDB or FAISS</a:t>
            </a:r>
            <a:br/>
          </a:p>
          <a:p>
            <a:pPr lvl="0"/>
            <a:r>
              <a:rPr b="1"/>
              <a:t>Streamlit</a:t>
            </a:r>
            <a:r>
              <a:rPr/>
              <a:t> for interfaces</a:t>
            </a:r>
            <a:br/>
          </a:p>
          <a:p>
            <a:pPr lvl="0"/>
            <a:r>
              <a:rPr b="1"/>
              <a:t>SQL + Python connectors</a:t>
            </a:r>
            <a:br/>
          </a:p>
          <a:p>
            <a:pPr lvl="0"/>
            <a:r>
              <a:rPr b="1"/>
              <a:t>GitHub &amp; Quarto</a:t>
            </a:r>
            <a:r>
              <a:rPr/>
              <a:t> for reproducible workflows</a:t>
            </a:r>
          </a:p>
          <a:p>
            <a:pPr lvl="0" indent="0" marL="0">
              <a:buNone/>
            </a:pPr>
            <a:r>
              <a:rPr/>
              <a:t>These are the same tools used in modern AI and analytics teams.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Applied Learning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Hands-On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will complete:</a:t>
            </a:r>
          </a:p>
          <a:p>
            <a:pPr lvl="0"/>
            <a:r>
              <a:rPr/>
              <a:t>Labs in prompting, embeddings, retrieval, and agents</a:t>
            </a:r>
            <a:br/>
          </a:p>
          <a:p>
            <a:pPr lvl="0"/>
            <a:r>
              <a:rPr/>
              <a:t>Assignments that assemble entire LLM pipelines</a:t>
            </a:r>
            <a:br/>
          </a:p>
          <a:p>
            <a:pPr lvl="0"/>
            <a:r>
              <a:rPr/>
              <a:t>A multi-stage </a:t>
            </a:r>
            <a:r>
              <a:rPr b="1"/>
              <a:t>final project</a:t>
            </a:r>
            <a:br/>
          </a:p>
          <a:p>
            <a:pPr lvl="0"/>
            <a:r>
              <a:rPr/>
              <a:t>A published </a:t>
            </a:r>
            <a:r>
              <a:rPr b="1"/>
              <a:t>Quarto website</a:t>
            </a:r>
            <a:r>
              <a:rPr/>
              <a:t> documenting your work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will </a:t>
            </a:r>
            <a:r>
              <a:rPr b="1"/>
              <a:t>design, build, and evaluate</a:t>
            </a:r>
            <a:br/>
            <a:r>
              <a:rPr/>
              <a:t>a domain-specific generative AI application.</a:t>
            </a:r>
          </a:p>
          <a:p>
            <a:pPr lvl="0" indent="0" marL="0">
              <a:buNone/>
            </a:pPr>
            <a:r>
              <a:rPr/>
              <a:t>You’ll integrate:</a:t>
            </a:r>
          </a:p>
          <a:p>
            <a:pPr lvl="0"/>
            <a:r>
              <a:rPr/>
              <a:t>Task-specific behavior</a:t>
            </a:r>
            <a:br/>
          </a:p>
          <a:p>
            <a:pPr lvl="0"/>
            <a:r>
              <a:rPr/>
              <a:t>Retrieval</a:t>
            </a:r>
            <a:br/>
          </a:p>
          <a:p>
            <a:pPr lvl="0"/>
            <a:r>
              <a:rPr/>
              <a:t>Evaluation</a:t>
            </a:r>
            <a:br/>
          </a:p>
          <a:p>
            <a:pPr lvl="0"/>
            <a:r>
              <a:rPr/>
              <a:t>Safety controls</a:t>
            </a:r>
            <a:br/>
          </a:p>
          <a:p>
            <a:pPr lvl="0"/>
            <a:r>
              <a:rPr/>
              <a:t>A simple interactive interface</a:t>
            </a:r>
          </a:p>
          <a:p>
            <a:pPr lvl="0" indent="0" marL="0">
              <a:buNone/>
            </a:pPr>
            <a:r>
              <a:rPr/>
              <a:t>All documented and published on GitHub.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Human Responsibility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AI Thoughtfully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Generative AI can create incredible things—</a:t>
            </a:r>
            <a:br/>
            <a:r>
              <a:rPr/>
              <a:t>but it can also mislead, hallucinate, and be misused.</a:t>
            </a:r>
          </a:p>
          <a:p>
            <a:pPr lvl="0" indent="0" marL="0">
              <a:buNone/>
            </a:pPr>
            <a:r>
              <a:rPr/>
              <a:t>Quality depends on:</a:t>
            </a:r>
          </a:p>
          <a:p>
            <a:pPr lvl="0"/>
            <a:r>
              <a:rPr/>
              <a:t>Good data</a:t>
            </a:r>
            <a:br/>
          </a:p>
          <a:p>
            <a:pPr lvl="0"/>
            <a:r>
              <a:rPr/>
              <a:t>Good system design</a:t>
            </a:r>
            <a:br/>
          </a:p>
          <a:p>
            <a:pPr lvl="0"/>
            <a:r>
              <a:rPr/>
              <a:t>Good evaluation</a:t>
            </a:r>
            <a:br/>
          </a:p>
          <a:p>
            <a:pPr lvl="0"/>
            <a:r>
              <a:rPr/>
              <a:t>Thoughtful human oversight</a:t>
            </a:r>
          </a:p>
          <a:p>
            <a:pPr lvl="0" indent="0" marL="0">
              <a:buNone/>
            </a:pPr>
            <a:r>
              <a:rPr/>
              <a:t>In AD 698, </a:t>
            </a:r>
            <a:r>
              <a:rPr b="1"/>
              <a:t>the AI does the heavy lifting—</a:t>
            </a:r>
            <a:br/>
            <a:r>
              <a:rPr b="1"/>
              <a:t>but </a:t>
            </a:r>
            <a:r>
              <a:rPr b="1" i="1"/>
              <a:t>you</a:t>
            </a:r>
            <a:r>
              <a:rPr b="1"/>
              <a:t> remain responsible for the facts.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Closing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AD 698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course will challenge you,</a:t>
            </a:r>
            <a:br/>
            <a:r>
              <a:rPr/>
              <a:t>expand your technical abilities,</a:t>
            </a:r>
            <a:br/>
            <a:r>
              <a:rPr/>
              <a:t>and give you the tools to build</a:t>
            </a:r>
            <a:br/>
            <a:r>
              <a:rPr/>
              <a:t>the next generation of generative AI systems.</a:t>
            </a:r>
          </a:p>
          <a:p>
            <a:pPr lvl="0" indent="0" marL="0">
              <a:buNone/>
            </a:pPr>
            <a:r>
              <a:rPr/>
              <a:t>Let’s get started.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698 — Applied Generative AI for Business</dc:title>
  <dc:creator>Nakul R. Padalkar</dc:creator>
  <cp:keywords/>
  <dcterms:created xsi:type="dcterms:W3CDTF">2025-12-04T02:10:58Z</dcterms:created>
  <dcterms:modified xsi:type="dcterms:W3CDTF">2025-12-04T02:10:58Z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December 4,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./theme/met_signature_toptier_rgb.png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Course Introduction &amp; Orientation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