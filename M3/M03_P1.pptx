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Default Extension="svg" ContentType="image/svg+xml"/>
  <Default Extension="webp" ContentType="image/webp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9" Type="http://schemas.openxmlformats.org/officeDocument/2006/relationships/tableStyles" Target="tableStyles.xml" /><Relationship Id="rId48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7" Type="http://schemas.openxmlformats.org/officeDocument/2006/relationships/viewProps" Target="viewProps.xml" /><Relationship Id="rId46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jp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jp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sv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sv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sv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sv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webp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sv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AD698 - Applied Generative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Prompting as System Design</a:t>
            </a:r>
            <a:br/>
            <a:br/>
            <a:r>
              <a:rPr/>
              <a:t>Nakul R. Padalkar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print Revealjs slides</a:t>
            </a:r>
          </a:p>
        </p:txBody>
      </p:sp>
      <p:pic>
        <p:nvPicPr>
          <p:cNvPr descr="../syllabus-images/Printing_Revealjs_Slid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1993900"/>
            <a:ext cx="10515600" cy="398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Shift to Prompt-Based Approaches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Training-Centric AI to Inference-Centric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Traditional ML paradigm:</a:t>
            </a:r>
          </a:p>
          <a:p>
            <a:pPr lvl="0"/>
            <a:r>
              <a:rPr/>
              <a:t>Model behavior determined primarily during training</a:t>
            </a:r>
          </a:p>
          <a:p>
            <a:pPr lvl="0"/>
            <a:r>
              <a:rPr/>
              <a:t>Deployment phase largely </a:t>
            </a:r>
            <a:r>
              <a:rPr b="1"/>
              <a:t>static</a:t>
            </a:r>
          </a:p>
          <a:p>
            <a:pPr lvl="0"/>
            <a:r>
              <a:rPr/>
              <a:t>Adaptation requires:</a:t>
            </a:r>
          </a:p>
          <a:p>
            <a:pPr lvl="1"/>
            <a:r>
              <a:rPr/>
              <a:t>retraining</a:t>
            </a:r>
          </a:p>
          <a:p>
            <a:pPr lvl="1"/>
            <a:r>
              <a:rPr/>
              <a:t>fine-tuning</a:t>
            </a:r>
          </a:p>
          <a:p>
            <a:pPr lvl="1"/>
            <a:r>
              <a:rPr/>
              <a:t>feature redesign</a:t>
            </a:r>
          </a:p>
          <a:p>
            <a:pPr lvl="0" indent="0" marL="0">
              <a:buNone/>
            </a:pPr>
            <a:r>
              <a:rPr/>
              <a:t>Large Language Model paradigm:</a:t>
            </a:r>
          </a:p>
          <a:p>
            <a:pPr lvl="0"/>
            <a:r>
              <a:rPr/>
              <a:t>Model behavior can be </a:t>
            </a:r>
            <a:r>
              <a:rPr b="1"/>
              <a:t>modified at inference time</a:t>
            </a:r>
          </a:p>
          <a:p>
            <a:pPr lvl="0"/>
            <a:r>
              <a:rPr/>
              <a:t>Adaptation occurs through:</a:t>
            </a:r>
          </a:p>
          <a:p>
            <a:pPr lvl="1"/>
            <a:r>
              <a:rPr/>
              <a:t>prompts</a:t>
            </a:r>
          </a:p>
          <a:p>
            <a:pPr lvl="1"/>
            <a:r>
              <a:rPr/>
              <a:t>context</a:t>
            </a:r>
          </a:p>
          <a:p>
            <a:pPr lvl="1"/>
            <a:r>
              <a:rPr/>
              <a:t>task specification</a:t>
            </a:r>
          </a:p>
          <a:p>
            <a:pPr lvl="0" indent="0" marL="0">
              <a:buNone/>
            </a:pPr>
            <a:r>
              <a:rPr/>
              <a:t>This represents a </a:t>
            </a:r>
            <a:r>
              <a:rPr b="1"/>
              <a:t>fundamental architectural shift</a:t>
            </a:r>
            <a:r>
              <a:rPr/>
              <a:t> in AI systems.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Classical Learning vs Generative Conditioning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Classical supervised learning: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θ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  <a:p>
                <a:pPr lvl="0"/>
                <a:r>
                  <a:rPr/>
                  <a:t>Behavior changes require updating </a:t>
                </a:r>
                <a14:m>
                  <m:oMath xmlns:m="http://schemas.openxmlformats.org/officeDocument/2006/math">
                    <m:r>
                      <m:t>θ</m:t>
                    </m:r>
                  </m:oMath>
                </a14:m>
                <a:r>
                  <a:rPr/>
                  <a:t> through training.</a:t>
                </a:r>
              </a:p>
              <a:p>
                <a:pPr lvl="0"/>
                <a:r>
                  <a:rPr/>
                  <a:t>Generative language models: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t>Y</m:t>
                    </m:r>
                    <m:r>
                      <m:rPr>
                        <m:sty m:val="p"/>
                      </m:rPr>
                      <m:t>∣</m:t>
                    </m:r>
                    <m:r>
                      <m:t>X</m:t>
                    </m:r>
                    <m:r>
                      <m:rPr>
                        <m:sty m:val="p"/>
                      </m:rPr>
                      <m:t>,</m:t>
                    </m:r>
                    <m:r>
                      <m:t>θ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  <a:p>
                <a:pPr lvl="0"/>
                <a:r>
                  <a:rPr/>
                  <a:t>Prompt-based control introduces: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t>Y</m:t>
                    </m:r>
                    <m:r>
                      <m:rPr>
                        <m:sty m:val="p"/>
                      </m:rPr>
                      <m:t>∣</m:t>
                    </m:r>
                    <m:r>
                      <m:t>X</m:t>
                    </m:r>
                    <m:r>
                      <m:rPr>
                        <m:sty m:val="p"/>
                      </m:rPr>
                      <m:t>,</m:t>
                    </m:r>
                    <m:r>
                      <m:t>p</m:t>
                    </m:r>
                    <m:r>
                      <m:rPr>
                        <m:sty m:val="p"/>
                      </m:rPr>
                      <m:t>,</m:t>
                    </m:r>
                    <m:r>
                      <m:t>θ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  <a:p>
                <a:pPr lvl="0"/>
                <a:r>
                  <a:rPr/>
                  <a:t>Prompting modifies inference distribution, not model weights.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Prompt as an Inference-Time Control Signal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prompt functions as:</a:t>
            </a:r>
          </a:p>
          <a:p>
            <a:pPr lvl="0"/>
            <a:r>
              <a:rPr/>
              <a:t>a conditioning signal</a:t>
            </a:r>
          </a:p>
          <a:p>
            <a:pPr lvl="0"/>
            <a:r>
              <a:rPr/>
              <a:t>a soft constraint</a:t>
            </a:r>
          </a:p>
          <a:p>
            <a:pPr lvl="0"/>
            <a:r>
              <a:rPr/>
              <a:t>a semantic policy</a:t>
            </a:r>
          </a:p>
          <a:p>
            <a:pPr lvl="0"/>
            <a:r>
              <a:rPr/>
              <a:t>a probabilistic steering mechanism</a:t>
            </a:r>
          </a:p>
          <a:p>
            <a:pPr lvl="0" indent="0" marL="0">
              <a:buNone/>
            </a:pPr>
            <a:r>
              <a:rPr/>
              <a:t>Implications:</a:t>
            </a:r>
          </a:p>
          <a:p>
            <a:pPr lvl="0"/>
            <a:r>
              <a:rPr/>
              <a:t>rapid task adaptation</a:t>
            </a:r>
          </a:p>
          <a:p>
            <a:pPr lvl="0"/>
            <a:r>
              <a:rPr/>
              <a:t>reduced need for retraining</a:t>
            </a:r>
          </a:p>
          <a:p>
            <a:pPr lvl="0"/>
            <a:r>
              <a:rPr/>
              <a:t>dynamic behavior shaping</a:t>
            </a:r>
          </a:p>
          <a:p>
            <a:pPr lvl="0"/>
            <a:r>
              <a:rPr/>
              <a:t>interactive AI workflows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Prompt Engineering, Fine-tuning, and RAG</a:t>
            </a:r>
          </a:p>
        </p:txBody>
      </p:sp>
      <p:pic>
        <p:nvPicPr>
          <p:cNvPr descr="./M03_lecture01_figures/Prompt_Engineering_vs_RAG-tuning_Venn_Diagram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48000" y="1816100"/>
            <a:ext cx="61087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1</a:t>
            </a:r>
            <a:r>
              <a:rPr b="1"/>
              <a:t>.</a:t>
            </a:r>
            <a:r>
              <a:rPr/>
              <a:t> Venn Diagram of Prompt Engineering, Fine-tuning, and RAG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Prompting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Prompting works because LLMs are:</a:t>
            </a:r>
          </a:p>
          <a:p>
            <a:pPr lvl="1"/>
            <a:r>
              <a:rPr/>
              <a:t>trained on diverse linguistic patterns</a:t>
            </a:r>
          </a:p>
          <a:p>
            <a:pPr lvl="1"/>
            <a:r>
              <a:rPr/>
              <a:t>capable of contextual reasoning</a:t>
            </a:r>
          </a:p>
          <a:p>
            <a:pPr lvl="1"/>
            <a:r>
              <a:rPr/>
              <a:t>sensitive to semantic structure</a:t>
            </a:r>
          </a:p>
          <a:p>
            <a:pPr lvl="1"/>
            <a:r>
              <a:rPr/>
              <a:t>internally structured via attention mechanisms</a:t>
            </a:r>
          </a:p>
          <a:p>
            <a:pPr lvl="0"/>
            <a:r>
              <a:rPr/>
              <a:t>Prompting activates </a:t>
            </a:r>
            <a:r>
              <a:rPr b="1"/>
              <a:t>latent capabilities</a:t>
            </a:r>
            <a:r>
              <a:rPr/>
              <a:t> rather than creating new ones.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Transformer Models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Transformers Timeline</a:t>
            </a:r>
          </a:p>
        </p:txBody>
      </p:sp>
      <p:pic>
        <p:nvPicPr>
          <p:cNvPr descr="./M03_lecture01_figures/02-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79700" y="1816100"/>
            <a:ext cx="68326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2</a:t>
            </a:r>
            <a:r>
              <a:rPr b="1"/>
              <a:t>.</a:t>
            </a:r>
            <a:r>
              <a:rPr/>
              <a:t> Timeline of transformer-based models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Transformer Models</a:t>
            </a:r>
          </a:p>
        </p:txBody>
      </p:sp>
      <p:pic>
        <p:nvPicPr>
          <p:cNvPr descr="./M03_lecture01_figures/transformer-archictur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89200" y="1816100"/>
            <a:ext cx="72009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3</a:t>
            </a:r>
            <a:r>
              <a:rPr b="1"/>
              <a:t>.</a:t>
            </a:r>
            <a:r>
              <a:rPr/>
              <a:t> Transformer Architecture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Encoder and Decoder Models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Language Modeling with RNNs</a:t>
            </a:r>
          </a:p>
        </p:txBody>
      </p:sp>
      <p:pic>
        <p:nvPicPr>
          <p:cNvPr descr="./M03_lecture01_figures/rnn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2159000"/>
            <a:ext cx="5181600" cy="314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5181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502399-0D40-0F1A-A770-6D3B06F65372}"/>
                  </a:ext>
                </a:extLst>
              </p:cNvPr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We will start by revisiting the problem of language modeling.</a:t>
                </a:r>
              </a:p>
              <a:p>
                <a:pPr lvl="0"/>
                <a:r>
                  <a:rPr/>
                  <a:t>Informally, given </a:t>
                </a: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 words, we are interested in predicting the </a:t>
                </a:r>
                <a14:m>
                  <m:oMath xmlns:m="http://schemas.openxmlformats.org/officeDocument/2006/math">
                    <m:sSup>
                      <m:e>
                        <m:r>
                          <m:t>t</m:t>
                        </m:r>
                      </m:e>
                      <m:sup>
                        <m:r>
                          <m:rPr>
                            <m:nor/>
                            <m:sty m:val="p"/>
                          </m:rPr>
                          <m:t>th</m:t>
                        </m:r>
                      </m:sup>
                    </m:sSup>
                  </m:oMath>
                </a14:m>
                <a:r>
                  <a:rPr/>
                  <a:t> word.</a:t>
                </a:r>
              </a:p>
              <a:p>
                <a:pPr lvl="0"/>
                <a:r>
                  <a:rPr/>
                  <a:t>More formally, given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t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, we want to find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arg</m:t>
                      </m:r>
                      <m:r>
                        <m:rPr>
                          <m:sty m:val="p"/>
                        </m:rPr>
                        <m:t>max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∣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p"/>
                        </m:rPr>
                        <m:t>…</m:t>
                      </m:r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/>
                <a:r>
                  <a:rPr/>
                  <a:t>Let us see how we model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∣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t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using an RNN.</a:t>
                </a:r>
              </a:p>
              <a:p>
                <a:pPr lvl="0"/>
                <a:r>
                  <a:rPr/>
                  <a:t>We will refer to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∣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t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using the shorthand notation:</a:t>
                </a:r>
              </a:p>
              <a:p>
                <a:pPr lvl="1" indent="0" marL="4572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∣</m:t>
                      </m:r>
                      <m:sSubSup>
                        <m:e>
                          <m:r>
                            <m:t>y</m:t>
                          </m:r>
                        </m:e>
                        <m:sub>
                          <m:r>
                            <m:t>1</m:t>
                          </m:r>
                        </m:sub>
                        <m:sup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p>
                      </m:sSubSup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RNN Probability Computation</a:t>
            </a:r>
          </a:p>
        </p:txBody>
      </p:sp>
      <p:pic>
        <p:nvPicPr>
          <p:cNvPr descr="./M03_lecture01_figures/rnn1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2146300"/>
            <a:ext cx="51816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5181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5</a:t>
            </a:r>
            <a:r>
              <a:rPr b="1"/>
              <a:t>.</a:t>
            </a:r>
            <a:r>
              <a:rPr/>
              <a:t> Rnn Probability Computation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502399-0D40-0F1A-A770-6D3B06F65372}"/>
                  </a:ext>
                </a:extLst>
              </p:cNvPr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We are interested in</a:t>
                </a:r>
              </a:p>
              <a:p>
                <a:pPr lvl="1" indent="0" marL="4572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j</m:t>
                      </m:r>
                      <m:r>
                        <m:rPr>
                          <m:sty m:val="p"/>
                        </m:rPr>
                        <m:t>∣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p"/>
                        </m:rPr>
                        <m:t>…</m:t>
                      </m:r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1" indent="0" marL="45720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r>
                      <m:t>j</m:t>
                    </m:r>
                    <m:r>
                      <m:rPr>
                        <m:sty m:val="p"/>
                      </m:rPr>
                      <m:t>∈</m:t>
                    </m:r>
                    <m:r>
                      <m:t>V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V</m:t>
                    </m:r>
                  </m:oMath>
                </a14:m>
                <a:r>
                  <a:rPr/>
                  <a:t> is the set of all vocabulary words.</a:t>
                </a:r>
              </a:p>
              <a:p>
                <a:pPr lvl="0"/>
                <a:r>
                  <a:rPr/>
                  <a:t>Using an RNN, we compute this as</a:t>
                </a:r>
              </a:p>
              <a:p>
                <a:pPr lvl="1" indent="0" marL="4572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j</m:t>
                      </m:r>
                      <m:r>
                        <m:rPr>
                          <m:sty m:val="p"/>
                        </m:rPr>
                        <m:t>∣</m:t>
                      </m:r>
                      <m:sSubSup>
                        <m:e>
                          <m:r>
                            <m:t>y</m:t>
                          </m:r>
                        </m:e>
                        <m:sub>
                          <m:r>
                            <m:t>1</m:t>
                          </m:r>
                        </m:sub>
                        <m:sup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p>
                      </m:sSubSup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softmax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V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c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In other words, we compute</a:t>
                </a:r>
              </a:p>
              <a:p>
                <a:pPr lvl="1" indent="0" marL="4572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j</m:t>
                          </m:r>
                          <m:r>
                            <m:rPr>
                              <m:sty m:val="p"/>
                            </m:rPr>
                            <m:t>∣</m:t>
                          </m:r>
                          <m:sSubSup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1</m:t>
                              </m:r>
                            </m:sub>
                            <m:sup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j</m:t>
                          </m:r>
                          <m:r>
                            <m:rPr>
                              <m:sty m:val="p"/>
                            </m:rPr>
                            <m:t>∣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e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sty m:val="p"/>
                            </m:rPr>
                            <m:t>softmax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V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c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</a:p>
              <a:p>
                <a:pPr lvl="0"/>
                <a:r>
                  <a:rPr/>
                  <a:t>Notice that the recurrent connections ensure that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</m:sub>
                    </m:sSub>
                  </m:oMath>
                </a14:m>
                <a:r>
                  <a:rPr/>
                  <a:t> has information about </a:t>
                </a:r>
                <a14:m>
                  <m:oMath xmlns:m="http://schemas.openxmlformats.org/officeDocument/2006/math">
                    <m:sSubSup>
                      <m:e>
                        <m:r>
                          <m:t>y</m:t>
                        </m:r>
                      </m:e>
                      <m:sub>
                        <m:r>
                          <m:t>1</m:t>
                        </m:r>
                      </m:sub>
                      <m:sup>
                        <m:r>
                          <m:t>t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bSup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Training an RNN Language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Data:</a:t>
            </a:r>
            <a:r>
              <a:rPr sz="2000"/>
              <a:t> India, officially the Republic of India, is a country in South Asia. It is the seventh-largest country by area, …..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502399-0D40-0F1A-A770-6D3B06F65372}"/>
                  </a:ext>
                </a:extLst>
              </p:cNvPr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Data:</a:t>
                </a:r>
                <a:r>
                  <a:rPr/>
                  <a:t> All sentences from any large corpus (say Wikipedia).</a:t>
                </a:r>
              </a:p>
              <a:p>
                <a:pPr lvl="0"/>
                <a:r>
                  <a:rPr b="1"/>
                  <a:t>Model:</a:t>
                </a:r>
              </a:p>
              <a:p>
                <a:pPr lvl="1" indent="0" marL="4572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σ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W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U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b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e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j</m:t>
                          </m:r>
                          <m:r>
                            <m:rPr>
                              <m:sty m:val="p"/>
                            </m:rPr>
                            <m:t>∣</m:t>
                          </m:r>
                          <m:sSubSup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1</m:t>
                              </m:r>
                            </m:sub>
                            <m:sup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sty m:val="p"/>
                            </m:rPr>
                            <m:t>softmax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V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c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</a:p>
              <a:p>
                <a:pPr lvl="0"/>
                <a:r>
                  <a:rPr b="1"/>
                  <a:t>Parameters: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U</m:t>
                    </m:r>
                    <m:r>
                      <m:rPr>
                        <m:sty m:val="p"/>
                      </m:rPr>
                      <m:t>,</m:t>
                    </m:r>
                    <m:r>
                      <m:t>V</m:t>
                    </m:r>
                    <m:r>
                      <m:rPr>
                        <m:sty m:val="p"/>
                      </m:rPr>
                      <m:t>,</m:t>
                    </m:r>
                    <m:r>
                      <m:t>W</m:t>
                    </m:r>
                    <m:r>
                      <m:rPr>
                        <m:sty m:val="p"/>
                      </m:rPr>
                      <m:t>,</m:t>
                    </m:r>
                    <m:r>
                      <m:t>b</m:t>
                    </m:r>
                    <m:r>
                      <m:rPr>
                        <m:sty m:val="p"/>
                      </m:rPr>
                      <m:t>,</m:t>
                    </m:r>
                    <m:r>
                      <m:t>c</m:t>
                    </m:r>
                  </m:oMath>
                </a14:m>
              </a:p>
              <a:p>
                <a:pPr lvl="0"/>
                <a:r>
                  <a:rPr b="1"/>
                  <a:t>Loss:</a:t>
                </a:r>
              </a:p>
              <a:p>
                <a:pPr lvl="1" indent="0" marL="4572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>
                          <m:r>
                            <m:rPr>
                              <m:scr m:val="script"/>
                              <m:sty m:val="p"/>
                            </m:rPr>
                            <m:t>L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T</m:t>
                              </m:r>
                            </m:sup>
                            <m:e>
                              <m:sSub>
                                <m:e>
                                  <m:r>
                                    <m:rPr>
                                      <m:scr m:val="script"/>
                                      <m:sty m:val="p"/>
                                    </m:rPr>
                                    <m:t>L</m:t>
                                  </m:r>
                                </m:e>
                                <m:sub>
                                  <m:r>
                                    <m:t>t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e>
                          <m:sSub>
                            <m:e>
                              <m:r>
                                <m:rPr>
                                  <m:scr m:val="script"/>
                                  <m:sty m:val="p"/>
                                </m:rPr>
                                <m:t>L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rPr>
                              <m:sty m:val="p"/>
                            </m:rPr>
                            <m:t>log</m:t>
                          </m:r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=</m:t>
                          </m:r>
                          <m:sSub>
                            <m:e>
                              <m:r>
                                <m:t>ℓ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∣</m:t>
                          </m:r>
                          <m:sSubSup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1</m:t>
                              </m:r>
                            </m:sub>
                            <m:sup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</m:eqArr>
                    </m:oMath>
                  </m:oMathPara>
                </a14:m>
              </a:p>
              <a:p>
                <a:pPr lvl="1" indent="0" marL="45720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r>
                          <m:t>ℓ</m:t>
                        </m:r>
                      </m:e>
                      <m:sub>
                        <m:r>
                          <m:t>t</m:t>
                        </m:r>
                      </m:sub>
                    </m:sSub>
                  </m:oMath>
                </a14:m>
                <a:r>
                  <a:rPr/>
                  <a:t> is the true word at time step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the Input at Each Time Step?</a:t>
            </a:r>
          </a:p>
        </p:txBody>
      </p:sp>
      <p:pic>
        <p:nvPicPr>
          <p:cNvPr descr="./M03_lecture01_figures/test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98600" y="1816100"/>
            <a:ext cx="38481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5181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6</a:t>
            </a:r>
            <a:r>
              <a:rPr b="1"/>
              <a:t>.</a:t>
            </a:r>
            <a:r>
              <a:rPr/>
              <a:t> Diagram showing the input at each time step in an RNN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502399-0D40-0F1A-A770-6D3B06F65372}"/>
                  </a:ext>
                </a:extLst>
              </p:cNvPr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What is the input at each time step?</a:t>
                </a:r>
              </a:p>
              <a:p>
                <a:pPr lvl="0"/>
                <a:r>
                  <a:rPr/>
                  <a:t>It is simply the word that we predicted at the previous time step.</a:t>
                </a:r>
              </a:p>
              <a:p>
                <a:pPr lvl="0"/>
                <a:r>
                  <a:rPr/>
                  <a:t>In general,</a:t>
                </a:r>
              </a:p>
              <a:p>
                <a:pPr lvl="1" indent="0" marL="4572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RNN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/>
                <a:r>
                  <a:rPr/>
                  <a:t>Let </a:t>
                </a:r>
                <a14:m>
                  <m:oMath xmlns:m="http://schemas.openxmlformats.org/officeDocument/2006/math">
                    <m:r>
                      <m:t>j</m:t>
                    </m:r>
                  </m:oMath>
                </a14:m>
                <a:r>
                  <a:rPr/>
                  <a:t> be the index of the word assigned the maximum probability at time step </a:t>
                </a: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.</a:t>
                </a:r>
              </a:p>
              <a:p>
                <a:pPr lvl="1" indent="0" marL="4572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t</m:t>
                        </m:r>
                      </m:sub>
                    </m:sSub>
                  </m:oMath>
                </a14:m>
                <a:r>
                  <a:rPr/>
                  <a:t> is essentially a one-hot vector, </a:t>
                </a:r>
                <a14:m>
                  <m:oMath xmlns:m="http://schemas.openxmlformats.org/officeDocument/2006/math"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v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, representing the </a:t>
                </a:r>
                <a14:m>
                  <m:oMath xmlns:m="http://schemas.openxmlformats.org/officeDocument/2006/math">
                    <m:sSup>
                      <m:e>
                        <m:r>
                          <m:t>j</m:t>
                        </m:r>
                      </m:e>
                      <m:sup>
                        <m:r>
                          <m:rPr>
                            <m:nor/>
                            <m:sty m:val="p"/>
                          </m:rPr>
                          <m:t>th</m:t>
                        </m:r>
                      </m:sup>
                    </m:sSup>
                  </m:oMath>
                </a14:m>
                <a:r>
                  <a:rPr/>
                  <a:t> word in the vocabulary.</a:t>
                </a:r>
              </a:p>
              <a:p>
                <a:pPr lvl="0"/>
                <a:r>
                  <a:rPr/>
                  <a:t>In practice, instead of a one-hot representation, we use a pre-trained word embedding of the </a:t>
                </a:r>
                <a14:m>
                  <m:oMath xmlns:m="http://schemas.openxmlformats.org/officeDocument/2006/math">
                    <m:sSup>
                      <m:e>
                        <m:r>
                          <m:t>j</m:t>
                        </m:r>
                      </m:e>
                      <m:sup>
                        <m:r>
                          <m:rPr>
                            <m:nor/>
                            <m:sty m:val="p"/>
                          </m:rPr>
                          <m:t>th</m:t>
                        </m:r>
                      </m:sup>
                    </m:sSup>
                  </m:oMath>
                </a14:m>
                <a:r>
                  <a:rPr/>
                  <a:t> word.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Initial Hidden State</a:t>
            </a:r>
          </a:p>
        </p:txBody>
      </p:sp>
      <p:pic>
        <p:nvPicPr>
          <p:cNvPr descr="./M03_lecture01_figures/rnn1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2146300"/>
            <a:ext cx="51816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5181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7</a:t>
            </a:r>
            <a:r>
              <a:rPr b="1"/>
              <a:t>.</a:t>
            </a:r>
            <a:r>
              <a:rPr/>
              <a:t> Diagram of RNN probability computation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502399-0D40-0F1A-A770-6D3B06F65372}"/>
                  </a:ext>
                </a:extLst>
              </p:cNvPr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Notice that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is not computed but instead randomly initialized.</a:t>
                </a:r>
              </a:p>
              <a:p>
                <a:pPr lvl="0"/>
                <a:r>
                  <a:rPr/>
                  <a:t>We learn it along with the other parameters of the RNN (or LSTM or GRU).</a:t>
                </a:r>
              </a:p>
              <a:p>
                <a:pPr lvl="0"/>
                <a:r>
                  <a:rPr/>
                  <a:t>We will return to this later.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Compact Recurrent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moving on, it is useful to write the functions computed by RNNs, GRUs, and LSTMs in a compact form.</a:t>
            </a:r>
          </a:p>
          <a:p>
            <a:pPr lvl="0" indent="0" marL="0">
              <a:buNone/>
            </a:pPr>
            <a:r>
              <a:rPr/>
              <a:t>We will use these notations going forward.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Compact Form: RNN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8063D6-309C-6044-E7F3-B0FAEA37F820}"/>
                  </a:ext>
                </a:extLst>
              </p:cNvPr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σ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U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W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b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e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sty m:val="p"/>
                            </m:rPr>
                            <m:t>RNN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</m:eqAr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502399-0D40-0F1A-A770-6D3B06F65372}"/>
                  </a:ext>
                </a:extLst>
              </p:cNvPr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A standard RNN updates its hidden state using:</a:t>
                </a:r>
              </a:p>
              <a:p>
                <a:pPr lvl="1"/>
                <a:r>
                  <a:rPr/>
                  <a:t>the current input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t</m:t>
                        </m:r>
                      </m:sub>
                    </m:sSub>
                  </m:oMath>
                </a14:m>
              </a:p>
              <a:p>
                <a:pPr lvl="1"/>
                <a:r>
                  <a:rPr/>
                  <a:t>the previous hidden state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This compact notation emphasizes that the hidden state is a function of:</a:t>
                </a:r>
              </a:p>
              <a:p>
                <a:pPr lvl="1" indent="0" marL="4572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/>
                <a:r>
                  <a:rPr/>
                  <a:t>We will use this shorthand repeatedly in later derivations.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Compact Form: Gated Recurrent Unit (GRU)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8063D6-309C-6044-E7F3-B0FAEA37F820}"/>
                  </a:ext>
                </a:extLst>
              </p:cNvPr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>
                          <m:acc>
                            <m:accPr>
                              <m:chr m:val="̃"/>
                            </m:accPr>
                            <m:e>
                              <m:sSub>
                                <m:e>
                                  <m:r>
                                    <m:t>s</m:t>
                                  </m:r>
                                </m:e>
                                <m:sub>
                                  <m:r>
                                    <m:t>t</m:t>
                                  </m:r>
                                </m:sub>
                              </m:sSub>
                            </m:e>
                          </m:acc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σ</m:t>
                          </m:r>
                          <m:r>
                            <m:t>​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W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sSub>
                                <m:e>
                                  <m:r>
                                    <m:t>o</m:t>
                                  </m:r>
                                </m:e>
                                <m:sub>
                                  <m:r>
                                    <m:t>t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⊙</m:t>
                              </m:r>
                              <m:sSub>
                                <m:e>
                                  <m:r>
                                    <m:t>s</m:t>
                                  </m:r>
                                </m:e>
                                <m:sub>
                                  <m: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U</m:t>
                              </m:r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t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b</m:t>
                              </m:r>
                            </m:e>
                          </m:d>
                        </m:e>
                        <m:e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sSub>
                            <m:e>
                              <m:r>
                                <m:t>i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⊙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i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⊙</m:t>
                          </m:r>
                          <m:acc>
                            <m:accPr>
                              <m:chr m:val="̃"/>
                            </m:accPr>
                            <m:e>
                              <m:sSub>
                                <m:e>
                                  <m:r>
                                    <m:t>s</m:t>
                                  </m:r>
                                </m:e>
                                <m:sub>
                                  <m:r>
                                    <m:t>t</m:t>
                                  </m:r>
                                </m:sub>
                              </m:sSub>
                            </m:e>
                          </m:acc>
                        </m:e>
                        <m:e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sty m:val="p"/>
                            </m:rPr>
                            <m:t>GRU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</m:eqAr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502399-0D40-0F1A-A770-6D3B06F65372}"/>
                  </a:ext>
                </a:extLst>
              </p:cNvPr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A GRU modifies the standard recurrent update with gating.</a:t>
                </a:r>
              </a:p>
              <a:p>
                <a:pPr lvl="0"/>
                <a:r>
                  <a:rPr/>
                  <a:t>These gates regulate how much past information is preserved and how much new information is incorporated.</a:t>
                </a:r>
              </a:p>
              <a:p>
                <a:pPr lvl="0"/>
                <a:r>
                  <a:rPr/>
                  <a:t>In compact form, we treat the whole gated update as:</a:t>
                </a:r>
              </a:p>
              <a:p>
                <a:pPr lvl="1" indent="0" marL="4572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GRU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Compact Form: LSTM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8063D6-309C-6044-E7F3-B0FAEA37F820}"/>
                  </a:ext>
                </a:extLst>
              </p:cNvPr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>
                          <m:acc>
                            <m:accPr>
                              <m:chr m:val="̃"/>
                            </m:accPr>
                            <m:e>
                              <m:sSub>
                                <m:e>
                                  <m:r>
                                    <m:t>s</m:t>
                                  </m:r>
                                </m:e>
                                <m:sub>
                                  <m:r>
                                    <m:t>t</m:t>
                                  </m:r>
                                </m:sub>
                              </m:sSub>
                            </m:e>
                          </m:acc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σ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W</m:t>
                          </m:r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U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b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e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sSub>
                            <m:e>
                              <m:r>
                                <m:t>f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⊙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t>i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⊙</m:t>
                          </m:r>
                          <m:acc>
                            <m:accPr>
                              <m:chr m:val="̃"/>
                            </m:accPr>
                            <m:e>
                              <m:sSub>
                                <m:e>
                                  <m:r>
                                    <m:t>s</m:t>
                                  </m:r>
                                </m:e>
                                <m:sub>
                                  <m:r>
                                    <m:t>t</m:t>
                                  </m:r>
                                </m:sub>
                              </m:sSub>
                            </m:e>
                          </m:acc>
                        </m:e>
                        <m:e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sSub>
                            <m:e>
                              <m:r>
                                <m:t>o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⊙</m:t>
                          </m:r>
                          <m:r>
                            <m:t>σ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e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sty m:val="p"/>
                            </m:rPr>
                            <m:t>LSTM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</m:eqAr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502399-0D40-0F1A-A770-6D3B06F65372}"/>
                  </a:ext>
                </a:extLst>
              </p:cNvPr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The LSTM maintains two recurrent quantities:</a:t>
                </a:r>
              </a:p>
              <a:p>
                <a:pPr lvl="1"/>
                <a:r>
                  <a:rPr/>
                  <a:t>the cell state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</m:sub>
                    </m:sSub>
                  </m:oMath>
                </a14:m>
              </a:p>
              <a:p>
                <a:pPr lvl="1"/>
                <a:r>
                  <a:rPr/>
                  <a:t>the hidden state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t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This allows the model to preserve long-range information more effectively than a standard RNN.</a:t>
                </a:r>
              </a:p>
              <a:p>
                <a:pPr lvl="0"/>
                <a:r>
                  <a:rPr/>
                  <a:t>In compact notation, the update is written as:</a:t>
                </a:r>
              </a:p>
              <a:p>
                <a:pPr lvl="1" indent="0" marL="4572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LSTM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Guiding Questions for Sequence Modeling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kind of network can we use to encode the input(s)?</a:t>
            </a:r>
            <a:br/>
          </a:p>
          <a:p>
            <a:pPr lvl="0"/>
            <a:r>
              <a:rPr/>
              <a:t>What kind of a network can we use to decode the output?</a:t>
            </a:r>
            <a:br/>
          </a:p>
          <a:p>
            <a:pPr lvl="0"/>
            <a:r>
              <a:rPr/>
              <a:t>What are the parameters of the model?</a:t>
            </a:r>
          </a:p>
          <a:p>
            <a:pPr lvl="0"/>
            <a:r>
              <a:rPr/>
              <a:t>What is an appropriate loss function?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Example: Image Captioning</a:t>
            </a:r>
          </a:p>
        </p:txBody>
      </p:sp>
      <p:pic>
        <p:nvPicPr>
          <p:cNvPr descr="./M03_lecture01_figures/good-doggo.webp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25800" y="1816100"/>
            <a:ext cx="57531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8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Example: Image Captioning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Algorithm:</a:t>
                </a:r>
                <a:r>
                  <a:rPr/>
                  <a:t> Gradient descent with backpropagation</a:t>
                </a:r>
              </a:p>
              <a:p>
                <a:pPr lvl="0"/>
                <a:r>
                  <a:rPr b="1"/>
                  <a:t>Model:</a:t>
                </a:r>
              </a:p>
              <a:p>
                <a:pPr lvl="1"/>
                <a:r>
                  <a:rPr b="1"/>
                  <a:t>Encoder: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CNN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1"/>
                <a:r>
                  <a:rPr b="1"/>
                  <a:t>Decoder:</a:t>
                </a:r>
              </a:p>
              <a:p>
                <a:pPr lvl="2" indent="0" marL="9144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sty m:val="p"/>
                            </m:rPr>
                            <m:t>RNN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e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y</m:t>
                                  </m:r>
                                </m:e>
                              </m:acc>
                            </m:e>
                            <m:sub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e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∣</m:t>
                          </m:r>
                          <m:sSubSup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1</m:t>
                              </m:r>
                            </m:sub>
                            <m:sup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sty m:val="p"/>
                            </m:rPr>
                            <m:t>softmax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V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b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</m:eqArr>
                    </m:oMath>
                  </m:oMathPara>
                </a14:m>
              </a:p>
              <a:p>
                <a:pPr lvl="0"/>
                <a:r>
                  <a:rPr b="1"/>
                  <a:t>Parameters:</a:t>
                </a:r>
                <a:br/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U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dec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t> </m:t>
                      </m:r>
                      <m:r>
                        <m:t>V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 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dec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t> 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conv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t> </m:t>
                      </m:r>
                      <m:r>
                        <m:t>b</m:t>
                      </m:r>
                    </m:oMath>
                  </m:oMathPara>
                </a14:m>
              </a:p>
              <a:p>
                <a:pPr lvl="0"/>
                <a:r>
                  <a:rPr b="1"/>
                  <a:t>Loss: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>
                          <m:r>
                            <m:rPr>
                              <m:scr m:val="script"/>
                              <m:sty m:val="p"/>
                            </m:rPr>
                            <m:t>L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T</m:t>
                              </m:r>
                            </m:sup>
                            <m:e>
                              <m:sSub>
                                <m:e>
                                  <m:r>
                                    <m:rPr>
                                      <m:scr m:val="script"/>
                                      <m:sty m:val="p"/>
                                    </m:rPr>
                                    <m:t>L</m:t>
                                  </m:r>
                                </m:e>
                                <m:sub>
                                  <m:r>
                                    <m:t>t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T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log</m:t>
                              </m:r>
                            </m:e>
                          </m:nary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=</m:t>
                          </m:r>
                          <m:sSub>
                            <m:e>
                              <m:r>
                                <m:t>ℓ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∣</m:t>
                          </m:r>
                          <m:sSubSup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1</m:t>
                              </m:r>
                            </m:sub>
                            <m:sup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</m:eqArr>
                    </m:oMath>
                  </m:oMathPara>
                </a14:m>
              </a:p>
            </p:txBody>
          </p:sp>
        </mc:Choice>
      </mc:AlternateContent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Image Captioning</a:t>
            </a:r>
          </a:p>
        </p:txBody>
      </p:sp>
      <p:pic>
        <p:nvPicPr>
          <p:cNvPr descr="./M03_lecture01_figures/image-captioning-ll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19300" y="1816100"/>
            <a:ext cx="81661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9</a:t>
            </a:r>
            <a:r>
              <a:rPr b="1"/>
              <a:t>.</a:t>
            </a:r>
            <a:r>
              <a:rPr/>
              <a:t> Image Captioning Model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Other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Textual entailment</a:t>
            </a:r>
          </a:p>
          <a:p>
            <a:pPr lvl="0"/>
            <a:r>
              <a:rPr/>
              <a:t>Machine translation</a:t>
            </a:r>
          </a:p>
          <a:p>
            <a:pPr lvl="0"/>
            <a:r>
              <a:rPr/>
              <a:t>Transliteration (e.g., English to Hindi)</a:t>
            </a:r>
          </a:p>
          <a:p>
            <a:pPr lvl="0"/>
            <a:r>
              <a:rPr/>
              <a:t>Image generation from text</a:t>
            </a:r>
          </a:p>
          <a:p>
            <a:pPr lvl="0"/>
            <a:r>
              <a:rPr/>
              <a:t>Code generation from text</a:t>
            </a:r>
          </a:p>
          <a:p>
            <a:pPr lvl="0"/>
            <a:r>
              <a:rPr/>
              <a:t>Speech recognition</a:t>
            </a:r>
          </a:p>
          <a:p>
            <a:pPr lvl="0"/>
            <a:r>
              <a:rPr/>
              <a:t>etc.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Attention Mechanisms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Do We Need Attention?</a:t>
            </a:r>
          </a:p>
        </p:txBody>
      </p:sp>
      <p:pic>
        <p:nvPicPr>
          <p:cNvPr descr="./M03_lecture01_figures//translation_opt2_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70100" y="1816100"/>
            <a:ext cx="27051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5181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10</a:t>
            </a:r>
            <a:r>
              <a:rPr b="1"/>
              <a:t>.</a:t>
            </a:r>
            <a:r>
              <a:rPr/>
              <a:t> Machine Translation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Let us motivate the task of attention with the help of machine translation.</a:t>
            </a:r>
          </a:p>
          <a:p>
            <a:pPr lvl="0"/>
            <a:r>
              <a:rPr/>
              <a:t>The encoder reads the source sentence only once and produces an encoding.</a:t>
            </a:r>
          </a:p>
          <a:p>
            <a:pPr lvl="0"/>
            <a:r>
              <a:rPr/>
              <a:t>At each time step, the decoder uses this encoding to produce a new word.</a:t>
            </a:r>
          </a:p>
          <a:p>
            <a:pPr lvl="0"/>
            <a:r>
              <a:rPr/>
              <a:t>But is this how humans translate a sentence? Not really.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Human Intuition Behind Attention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8063D6-309C-6044-E7F3-B0FAEA37F820}"/>
                  </a:ext>
                </a:extLst>
              </p:cNvPr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Output:</a:t>
                </a:r>
                <a:r>
                  <a:rPr/>
                  <a:t> I am going home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t>t</m:t>
                                </m:r>
                              </m:e>
                              <m:sub>
                                <m: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:</m:t>
                            </m:r>
                            <m:r>
                              <m:rPr>
                                <m:sty m:val="p"/>
                              </m:rPr>
                              <m:t>[</m:t>
                            </m:r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 </m:t>
                            </m:r>
                            <m:r>
                              <m:t>0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 </m:t>
                            </m:r>
                            <m:r>
                              <m:t>0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 </m:t>
                            </m:r>
                            <m:r>
                              <m:t>0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 </m:t>
                            </m:r>
                            <m:r>
                              <m:t>0</m:t>
                            </m:r>
                            <m:r>
                              <m:rPr>
                                <m:sty m:val="p"/>
                              </m:rPr>
                              <m:t>]</m:t>
                            </m:r>
                          </m:e>
                        </m:mr>
                        <m:mr>
                          <m:e>
                            <m:sSub>
                              <m:e>
                                <m:r>
                                  <m:t>t</m:t>
                                </m:r>
                              </m:e>
                              <m:sub>
                                <m: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:</m:t>
                            </m:r>
                            <m:r>
                              <m:rPr>
                                <m:sty m:val="p"/>
                              </m:rPr>
                              <m:t>[</m:t>
                            </m:r>
                            <m:r>
                              <m:t>0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 </m:t>
                            </m:r>
                            <m:r>
                              <m:t>0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 </m:t>
                            </m:r>
                            <m:r>
                              <m:t>0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 </m:t>
                            </m:r>
                            <m:r>
                              <m:t>0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 </m:t>
                            </m:r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]</m:t>
                            </m:r>
                          </m:e>
                        </m:mr>
                        <m:mr>
                          <m:e>
                            <m:sSub>
                              <m:e>
                                <m:r>
                                  <m:t>t</m:t>
                                </m:r>
                              </m:e>
                              <m:sub>
                                <m:r>
                                  <m:t>3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:</m:t>
                            </m:r>
                            <m:r>
                              <m:rPr>
                                <m:sty m:val="p"/>
                              </m:rPr>
                              <m:t>[</m:t>
                            </m:r>
                            <m:r>
                              <m:t>0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 </m:t>
                            </m:r>
                            <m:r>
                              <m:t>0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 </m:t>
                            </m:r>
                            <m:r>
                              <m:t>0.5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 </m:t>
                            </m:r>
                            <m:r>
                              <m:t>0.5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 </m:t>
                            </m:r>
                            <m:r>
                              <m:t>0</m:t>
                            </m:r>
                            <m:r>
                              <m:rPr>
                                <m:sty m:val="p"/>
                              </m:rPr>
                              <m:t>]</m:t>
                            </m:r>
                          </m:e>
                        </m:mr>
                        <m:mr>
                          <m:e>
                            <m:sSub>
                              <m:e>
                                <m:r>
                                  <m:t>t</m:t>
                                </m:r>
                              </m:e>
                              <m:sub>
                                <m:r>
                                  <m:t>4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:</m:t>
                            </m:r>
                            <m:r>
                              <m:rPr>
                                <m:sty m:val="p"/>
                              </m:rPr>
                              <m:t>[</m:t>
                            </m:r>
                            <m:r>
                              <m:t>0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 </m:t>
                            </m:r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 </m:t>
                            </m:r>
                            <m:r>
                              <m:t>0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 </m:t>
                            </m:r>
                            <m:r>
                              <m:t>0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 </m:t>
                            </m:r>
                            <m:r>
                              <m:t>0</m:t>
                            </m:r>
                            <m:r>
                              <m:rPr>
                                <m:sty m:val="p"/>
                              </m:rPr>
                              <m:t>]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Input:</a:t>
                </a:r>
                <a:r>
                  <a:rPr/>
                  <a:t> Main ghar ja raha hoon</a:t>
                </a:r>
              </a:p>
            </p:txBody>
          </p:sp>
        </mc:Choice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Humans often produce each output word by focusing only on certain words in the input.</a:t>
            </a:r>
          </a:p>
          <a:p>
            <a:pPr lvl="0"/>
            <a:r>
              <a:rPr/>
              <a:t>At each time step, we can think of the translator as forming a distribution over the input words.</a:t>
            </a:r>
          </a:p>
          <a:p>
            <a:pPr lvl="0"/>
            <a:r>
              <a:rPr/>
              <a:t>This distribution tells us how much attention to pay to each input word at that time step.</a:t>
            </a:r>
          </a:p>
          <a:p>
            <a:pPr lvl="0"/>
            <a:r>
              <a:rPr/>
              <a:t>Ideally, the decoder should receive primarily the relevant information, rather than the entire source representation uniformly.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More Complex Attention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We will cover these in video lectures in Module 8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Prompt Engineering as System Design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Sea Changes in NLP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Fully supervised learning</a:t>
            </a:r>
            <a:br/>
            <a:r>
              <a:rPr/>
              <a:t>Models trained only on task-specific labeled data</a:t>
            </a:r>
            <a:br/>
            <a:r>
              <a:rPr/>
              <a:t>→ heavy reliance on </a:t>
            </a:r>
            <a:r>
              <a:rPr b="1"/>
              <a:t>feature engineering</a:t>
            </a:r>
            <a:br/>
            <a:r>
              <a:rPr/>
              <a:t>(e.g., )</a:t>
            </a:r>
          </a:p>
          <a:p>
            <a:pPr lvl="0"/>
            <a:r>
              <a:rPr b="1"/>
              <a:t>Neural supervised learning</a:t>
            </a:r>
            <a:br/>
            <a:r>
              <a:rPr/>
              <a:t>Features learned jointly through </a:t>
            </a:r>
            <a:r>
              <a:rPr b="1"/>
              <a:t>architecture engineering</a:t>
            </a:r>
            <a:br/>
            <a:r>
              <a:rPr/>
              <a:t>(e.g., CNNs, RNNs, attention models)</a:t>
            </a:r>
            <a:br/>
            <a:r>
              <a:rPr/>
              <a:t>(e.g., )</a:t>
            </a:r>
          </a:p>
          <a:p>
            <a:pPr lvl="0"/>
            <a:r>
              <a:rPr b="1"/>
              <a:t>Pre-train → Fine-tune paradigm (2017–2019)</a:t>
            </a:r>
            <a:br/>
            <a:r>
              <a:rPr/>
              <a:t>Large language models trained on massive corpora, then adapted via</a:t>
            </a:r>
            <a:br/>
            <a:r>
              <a:rPr b="1"/>
              <a:t>objective engineering</a:t>
            </a:r>
            <a:br/>
            <a:r>
              <a:rPr/>
              <a:t>(e.g., )</a:t>
            </a:r>
          </a:p>
          <a:p>
            <a:pPr lvl="0"/>
            <a:r>
              <a:rPr b="1"/>
              <a:t>Pre-train → Prompt → Predict (current paradigm)</a:t>
            </a:r>
            <a:br/>
            <a:r>
              <a:rPr/>
              <a:t>Tasks reformulated as language modeling problems using </a:t>
            </a:r>
            <a:r>
              <a:rPr b="1"/>
              <a:t>textual prompts</a:t>
            </a:r>
            <a:br/>
            <a:r>
              <a:rPr/>
              <a:t>(e.g., )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 Paradigms in NLP</a:t>
            </a:r>
          </a:p>
        </p:txBody>
      </p:sp>
      <p:pic>
        <p:nvPicPr>
          <p:cNvPr descr="./M03_lecture01_figures/4paradigm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17800" y="1816100"/>
            <a:ext cx="67564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Typology of Prompting Methods</a:t>
            </a:r>
          </a:p>
        </p:txBody>
      </p:sp>
      <p:pic>
        <p:nvPicPr>
          <p:cNvPr descr="./M03_lecture01_figures/typology-ofprompting-method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51400" y="1816100"/>
            <a:ext cx="24892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11</a:t>
            </a:r>
            <a:r>
              <a:rPr b="1"/>
              <a:t>.</a:t>
            </a:r>
            <a:r>
              <a:rPr/>
              <a:t> Typology of prompting methods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Language Modeling Perspective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Instead of modeling: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b"/>
                        </m:rPr>
                        <m:t>y</m:t>
                      </m:r>
                      <m:r>
                        <m:rPr>
                          <m:sty m:val="p"/>
                        </m:rPr>
                        <m:t>∣</m:t>
                      </m:r>
                      <m:r>
                        <m:rPr>
                          <m:sty m:val="b"/>
                        </m:rPr>
                        <m:t>x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we train a model to learn: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b"/>
                        </m:rPr>
                        <m:t>x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over large text corpora.</a:t>
                </a:r>
              </a:p>
              <a:p>
                <a:pPr lvl="0" indent="0" marL="0">
                  <a:buNone/>
                </a:pPr>
                <a:r>
                  <a:rPr/>
                  <a:t>This allows models to learn:</a:t>
                </a:r>
              </a:p>
              <a:p>
                <a:pPr lvl="0"/>
                <a:r>
                  <a:rPr/>
                  <a:t>syntax</a:t>
                </a:r>
              </a:p>
              <a:p>
                <a:pPr lvl="0"/>
                <a:r>
                  <a:rPr/>
                  <a:t>semantics</a:t>
                </a:r>
              </a:p>
              <a:p>
                <a:pPr lvl="0"/>
                <a:r>
                  <a:rPr/>
                  <a:t>discourse structure</a:t>
                </a:r>
              </a:p>
              <a:p>
                <a:pPr lvl="0"/>
                <a:r>
                  <a:rPr/>
                  <a:t>world knowledge</a:t>
                </a:r>
              </a:p>
              <a:p>
                <a:pPr lvl="0" indent="0" marL="0">
                  <a:buNone/>
                </a:pPr>
                <a:r>
                  <a:rPr/>
                  <a:t>Prompting uses this learned distribution to solve tasks.</a:t>
                </a:r>
              </a:p>
            </p:txBody>
          </p:sp>
        </mc:Choice>
      </mc:AlternateContent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Prompting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Prompt-based learning reformulates tasks as language modeling.</a:t>
            </a:r>
          </a:p>
          <a:p>
            <a:pPr lvl="0"/>
            <a:r>
              <a:rPr/>
              <a:t>Instead of:</a:t>
            </a:r>
          </a:p>
          <a:p>
            <a:pPr lvl="1"/>
            <a:r>
              <a:rPr/>
              <a:t>training a task-specific model</a:t>
            </a:r>
          </a:p>
          <a:p>
            <a:pPr lvl="0"/>
            <a:r>
              <a:rPr/>
              <a:t>we:</a:t>
            </a:r>
          </a:p>
          <a:p>
            <a:pPr lvl="1"/>
            <a:r>
              <a:rPr/>
              <a:t>Convert input into a structured textual form</a:t>
            </a:r>
            <a:br/>
          </a:p>
          <a:p>
            <a:pPr lvl="1"/>
            <a:r>
              <a:rPr/>
              <a:t>Ask the language model to complete it</a:t>
            </a:r>
            <a:br/>
          </a:p>
          <a:p>
            <a:pPr lvl="0"/>
            <a:r>
              <a:rPr/>
              <a:t>This reduces dependence on supervised data.</a:t>
            </a:r>
          </a:p>
        </p:txBody>
      </p:sp>
    </p:spTree>
  </p:cSld>
</p:sld>
</file>

<file path=ppt/slides/slide37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><a:extLst><a:ext uri="{FF2B5EF4-FFF2-40B4-BE49-F238E27FC236}"><a16:creationId id="{FD0D56EA-0EE0-5C81-1AF1-A90102463E6A}" xmlns:a16="http://schemas.microsoft.com/office/drawing/2014/main" /></a:ext></a:extLst></p:cNvPr><p:cNvSpPr><a:spLocks noGrp="1" /></p:cNvSpPr><p:nvPr><p:ph type="title" /></p:nvPr></p:nvSpPr><p:spPr /><p:txBody><a:bodyPr /><a:lstStyle /><a:p><a:pPr lvl="0" indent="0" marL="0"><a:buNone /></a:pPr><a:r><a:rPr /><a:t>Prompting Terminology</a:t></a:r></a:p></p:txBody></p:sp><p:graphicFrame><p:nvGraphicFramePr><p:cNvPr id="6" name="Content Placeholder 5" /><p:cNvGraphicFramePr><a:graphicFrameLocks noGrp="1" /></p:cNvGraphicFramePr><p:nvPr><p:ph idx="1" /></p:nvPr></p:nvGraphicFramePr><p:xfrm><a:off x="838200" y="1816100" /><a:ext cx="10515600" cy="4343400" /></p:xfrm><a:graphic><a:graphicData uri="http://schemas.openxmlformats.org/drawingml/2006/table"><a:tbl><a:tblPr firstRow="1" bandRow="1"><a:tableStyleId>{5C22544A-7EE6-4342-B048-85BDC9FD1C3A}</a:tableStyleId></a:tblPr><a:tblGrid><a:gridCol w="2159000" /><a:gridCol w="2692400" /><a:gridCol w="2425700" /><a:gridCol w="3238500" /></a:tblGrid><a:tr h="0"><a:tc><a:txBody><a:bodyPr /><a:lstStyle /><a:p><a:pPr lvl="0" indent="0" marL="0"><a:buNone /></a:pPr><a:r><a:rPr /><a:t>Concept</a:t></a:r></a:p></a:txBody><a:tcPr /></a:tc><a:tc><a:txBody><a:bodyPr /><a:lstStyle /><a:p><a:pPr lvl="0" indent="0" marL="0"><a:buNone /></a:pPr><a:r><a:rPr /><a:t>Notation</a:t></a:r></a:p></a:txBody><a:tcPr /></a:tc><a:tc><a:txBody><a:bodyPr /><a:lstStyle /><a:p><a:pPr lvl="0" indent="0" marL="0"><a:buNone /></a:pPr><a:r><a:rPr /><a:t>Example</a:t></a:r></a:p></a:txBody><a:tcPr /></a:tc><a:tc><a:txBody><a:bodyPr /><a:lstStyle /><a:p><a:pPr lvl="0" indent="0" marL="0"><a:buNone /></a:pPr><a:r><a:rPr /><a:t>Description</a:t></a:r></a:p></a:txBody><a:tcPr /></a:tc></a:tr><a:tr h="0"><a:tc><a:txBody><a:bodyPr /><a:lstStyle /><a:p><a:pPr lvl="0" indent="0" marL="0"><a:buNone /></a:pPr><a:r><a:rPr /><a:t>Input</a:t></a:r></a:p></a:txBody></a:tc><a:tc><a:txBody><a:bodyPr /><a:lstStyle /><a:p><a:pPr lvl="0" indent="0" marL="0"><a:buNone /></a:pPr><a14:m><m:oMath xmlns:m="http://schemas.openxmlformats.org/officeDocument/2006/math"><m:r><m:rPr><m:sty m:val="b" /></m:rPr><m:t>x</m:t></m:r></m:oMath></a14:m></a:p></a:txBody></a:tc><a:tc><a:txBody><a:bodyPr /><a:lstStyle /><a:p><a:pPr lvl="0" indent="0" marL="0"><a:buNone /></a:pPr><a:r><a:rPr /><a:t>I love this movie.</a:t></a:r></a:p></a:txBody></a:tc><a:tc><a:txBody><a:bodyPr /><a:lstStyle /><a:p><a:pPr lvl="0" indent="0" marL="0"><a:buNone /></a:pPr><a:r><a:rPr /><a:t>Raw input text</a:t></a:r></a:p></a:txBody></a:tc></a:tr><a:tr h="0"><a:tc><a:txBody><a:bodyPr /><a:lstStyle /><a:p><a:pPr lvl="0" indent="0" marL="0"><a:buNone /></a:pPr><a:r><a:rPr /><a:t>Output</a:t></a:r></a:p></a:txBody></a:tc><a:tc><a:txBody><a:bodyPr /><a:lstStyle /><a:p><a:pPr lvl="0" indent="0" marL="0"><a:buNone /></a:pPr><a14:m><m:oMath xmlns:m="http://schemas.openxmlformats.org/officeDocument/2006/math"><m:r><m:rPr><m:sty m:val="b" /></m:rPr><m:t>y</m:t></m:r></m:oMath></a14:m></a:p></a:txBody></a:tc><a:tc><a:txBody><a:bodyPr /><a:lstStyle /><a:p><a:pPr lvl="0" indent="0" marL="0"><a:buNone /></a:pPr><a:r><a:rPr /><a:t>++</a:t></a:r></a:p></a:txBody></a:tc><a:tc><a:txBody><a:bodyPr /><a:lstStyle /><a:p><a:pPr lvl="0" indent="0" marL="0"><a:buNone /></a:pPr><a:r><a:rPr /><a:t>Final task output</a:t></a:r></a:p></a:txBody></a:tc></a:tr><a:tr h="0"><a:tc><a:txBody><a:bodyPr /><a:lstStyle /><a:p><a:pPr lvl="0" indent="0" marL="0"><a:buNone /></a:pPr><a:r><a:rPr /><a:t>Prompting Function</a:t></a:r></a:p></a:txBody></a:tc><a:tc><a:txBody><a:bodyPr /><a:lstStyle /><a:p><a:pPr lvl="0" indent="0" marL="0"><a:buNone /></a:pPr><a14:m><m:oMath xmlns:m="http://schemas.openxmlformats.org/officeDocument/2006/math"><m:sSub><m:e><m:r><m:t>f</m:t></m:r></m:e><m:sub><m:r><m:rPr><m:nor /><m:sty m:val="p" /></m:rPr><m:t>prompt</m:t></m:r></m:sub></m:sSub><m:r><m:rPr><m:sty m:val="p" /></m:rPr><m:t>(</m:t></m:r><m:r><m:rPr><m:sty m:val="b" /></m:rPr><m:t>x</m:t></m:r><m:r><m:rPr><m:sty m:val="p" /></m:rPr><m:t>)</m:t></m:r></m:oMath></a14:m></a:p></a:txBody></a:tc><a:tc><a:txBody><a:bodyPr /><a:lstStyle /><a:p><a:pPr lvl="0" indent="0" marL="0"><a:buNone /></a:pPr><a:r><a:rPr /><a:t>[X] Overall it was a [Z] movie</a:t></a:r></a:p></a:txBody></a:tc><a:tc><a:txBody><a:bodyPr /><a:lstStyle /><a:p><a:pPr lvl="0" indent="0" marL="0"><a:buNone /></a:pPr><a:r><a:rPr /><a:t>Converts input into prompt form</a:t></a:r></a:p></a:txBody></a:tc></a:tr><a:tr h="0"><a:tc><a:txBody><a:bodyPr /><a:lstStyle /><a:p><a:pPr lvl="0" indent="0" marL="0"><a:buNone /></a:pPr><a:r><a:rPr /><a:t>Prompt</a:t></a:r></a:p></a:txBody></a:tc><a:tc><a:txBody><a:bodyPr /><a:lstStyle /><a:p><a:pPr lvl="0" indent="0" marL="0"><a:buNone /></a:pPr><a14:m><m:oMath xmlns:m="http://schemas.openxmlformats.org/officeDocument/2006/math"><m:sSup><m:e><m:r><m:rPr><m:sty m:val="b" /></m:rPr><m:t>x</m:t></m:r></m:e><m:sup><m:r><m:rPr><m:sty m:val="b" /></m:rPr><m:t>′</m:t></m:r></m:sup></m:sSup></m:oMath></a14:m></a:p></a:txBody></a:tc><a:tc><a:txBody><a:bodyPr /><a:lstStyle /><a:p><a:pPr lvl="0" indent="0" marL="0"><a:buNone /></a:pPr><a:r><a:rPr /><a:t>I love this movie. Overall it was a [Z] movie</a:t></a:r></a:p></a:txBody></a:tc><a:tc><a:txBody><a:bodyPr /><a:lstStyle /><a:p><a:pPr lvl="0" indent="0" marL="0"><a:buNone /></a:pPr><a:r><a:rPr /><a:t>Input inserted, answer slot open</a:t></a:r></a:p></a:txBody></a:tc></a:tr><a:tr h="0"><a:tc><a:txBody><a:bodyPr /><a:lstStyle /><a:p><a:pPr lvl="0" indent="0" marL="0"><a:buNone /></a:pPr><a:r><a:rPr /><a:t>Filled Prompt</a:t></a:r></a:p></a:txBody></a:tc><a:tc><a:txBody><a:bodyPr /><a:lstStyle /><a:p><a:pPr lvl="0" indent="0" marL="0"><a:buNone /></a:pPr><a14:m><m:oMath xmlns:m="http://schemas.openxmlformats.org/officeDocument/2006/math"><m:sSub><m:e><m:r><m:t>f</m:t></m:r></m:e><m:sub><m:r><m:rPr><m:nor /><m:sty m:val="p" /></m:rPr><m:t>fill</m:t></m:r></m:sub></m:sSub><m:r><m:rPr><m:sty m:val="p" /></m:rPr><m:t>(</m:t></m:r><m:sSup><m:e><m:r><m:rPr><m:sty m:val="b" /></m:rPr><m:t>x</m:t></m:r></m:e><m:sup><m:r><m:rPr><m:sty m:val="b" /></m:rPr><m:t>′</m:t></m:r></m:sup></m:sSup><m:r><m:rPr><m:sty m:val="p" /></m:rPr><m:t>,</m:t></m:r><m:r><m:rPr><m:sty m:val="b" /></m:rPr><m:t>z</m:t></m:r><m:r><m:rPr><m:sty m:val="p" /></m:rPr><m:t>)</m:t></m:r></m:oMath></a14:m></a:p></a:txBody></a:tc><a:tc><a:txBody><a:bodyPr /><a:lstStyle /><a:p><a:pPr lvl="0" indent="0" marL="0"><a:buNone /></a:pPr><a:r><a:rPr /><a:t>Overall it was a bad movie</a:t></a:r></a:p></a:txBody></a:tc><a:tc><a:txBody><a:bodyPr /><a:lstStyle /><a:p><a:pPr lvl="0" indent="0" marL="0"><a:buNone /></a:pPr><a:r><a:rPr /><a:t>Candidate answer inserted</a:t></a:r></a:p></a:txBody></a:tc></a:tr><a:tr h="0"><a:tc><a:txBody><a:bodyPr /><a:lstStyle /><a:p><a:pPr lvl="0" indent="0" marL="0"><a:buNone /></a:pPr><a:r><a:rPr /><a:t>Answered Prompt</a:t></a:r></a:p></a:txBody></a:tc><a:tc><a:txBody><a:bodyPr /><a:lstStyle /><a:p><a:pPr lvl="0" indent="0" marL="0"><a:buNone /></a:pPr><a14:m><m:oMath xmlns:m="http://schemas.openxmlformats.org/officeDocument/2006/math"><m:sSub><m:e><m:r><m:t>f</m:t></m:r></m:e><m:sub><m:r><m:rPr><m:nor /><m:sty m:val="p" /></m:rPr><m:t>fill</m:t></m:r></m:sub></m:sSub><m:r><m:rPr><m:sty m:val="p" /></m:rPr><m:t>(</m:t></m:r><m:sSup><m:e><m:r><m:rPr><m:sty m:val="b" /></m:rPr><m:t>x</m:t></m:r></m:e><m:sup><m:r><m:rPr><m:sty m:val="b" /></m:rPr><m:t>′</m:t></m:r></m:sup></m:sSup><m:r><m:rPr><m:sty m:val="p" /></m:rPr><m:t>,</m:t></m:r><m:sSup><m:e><m:r><m:rPr><m:sty m:val="b" /></m:rPr><m:t>z</m:t></m:r></m:e><m:sup><m:r><m:rPr><m:sty m:val="b" /></m:rPr><m:t>*</m:t></m:r></m:sup></m:sSup><m:r><m:rPr><m:sty m:val="p" /></m:rPr><m:t>)</m:t></m:r></m:oMath></a14:m></a:p></a:txBody></a:tc><a:tc><a:txBody><a:bodyPr /><a:lstStyle /><a:p><a:pPr lvl="0" indent="0" marL="0"><a:buNone /></a:pPr><a:r><a:rPr /><a:t>Overall it was a good movie</a:t></a:r></a:p></a:txBody></a:tc><a:tc><a:txBody><a:bodyPr /><a:lstStyle /><a:p><a:pPr lvl="0" indent="0" marL="0"><a:buNone /></a:pPr><a:r><a:rPr /><a:t>True answer inserted</a:t></a:r></a:p></a:txBody></a:tc></a:tr><a:tr h="0"><a:tc><a:txBody><a:bodyPr /><a:lstStyle /><a:p><a:pPr lvl="0" indent="0" marL="0"><a:buNone /></a:pPr><a:r><a:rPr /><a:t>Answer</a:t></a:r></a:p></a:txBody></a:tc><a:tc><a:txBody><a:bodyPr /><a:lstStyle /><a:p><a:pPr lvl="0" indent="0" marL="0"><a:buNone /></a:pPr><a14:m><m:oMath xmlns:m="http://schemas.openxmlformats.org/officeDocument/2006/math"><m:r><m:rPr><m:sty m:val="b" /></m:rPr><m:t>z</m:t></m:r></m:oMath></a14:m></a:p></a:txBody></a:tc><a:tc><a:txBody><a:bodyPr /><a:lstStyle /><a:p><a:pPr lvl="0" indent="0" marL="0"><a:buNone /></a:pPr><a:r><a:rPr /><a:t>good / bad / fantastic</a:t></a:r></a:p></a:txBody></a:tc><a:tc><a:txBody><a:bodyPr /><a:lstStyle /><a:p><a:pPr lvl="0" indent="0" marL="0"><a:buNone /></a:pPr><a:r><a:rPr /><a:t>Token or phrase used to solve task</a:t></a:r></a:p></a:txBody></a:tc></a:tr></a:tbl></a:graphicData></a:graphic></p:graphicFrame></p:spTree></p:cSld>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Prompt Construction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Prompting transforms input: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rPr>
                              <m:sty m:val="b"/>
                            </m:rPr>
                            <m:t>x</m:t>
                          </m:r>
                        </m:e>
                        <m:sup>
                          <m:r>
                            <m:rPr>
                              <m:sty m:val="b"/>
                            </m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f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prompt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b"/>
                        </m:rPr>
                        <m:t>x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Typical template structure:</a:t>
                </a:r>
              </a:p>
              <a:p>
                <a:pPr lvl="0"/>
                <a:r>
                  <a:rPr/>
                  <a:t>input slot: [X]</a:t>
                </a:r>
              </a:p>
              <a:p>
                <a:pPr lvl="0"/>
                <a:r>
                  <a:rPr/>
                  <a:t>answer slot: [Z]</a:t>
                </a:r>
              </a:p>
              <a:p>
                <a:pPr lvl="0" indent="0" marL="0">
                  <a:buNone/>
                </a:pPr>
                <a:r>
                  <a:rPr/>
                  <a:t>Example (sentiment):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[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t> </m:t>
                      </m:r>
                      <m:r>
                        <m:rPr>
                          <m:nor/>
                          <m:sty m:val="p"/>
                        </m:rPr>
                        <m:t>Overall it was a [Z] movie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Example (translation):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Finnish: [X] English: [Z]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Types of Prompts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common forms:</a:t>
            </a:r>
          </a:p>
          <a:p>
            <a:pPr lvl="0" indent="0" marL="0">
              <a:buNone/>
            </a:pPr>
            <a:r>
              <a:rPr b="1"/>
              <a:t>Cloze prompts</a:t>
            </a:r>
            <a:r>
              <a:rPr/>
              <a:t> - answer slot inside sentence</a:t>
            </a:r>
          </a:p>
          <a:p>
            <a:pPr lvl="0" indent="0" marL="0">
              <a:buNone/>
            </a:pPr>
            <a:r>
              <a:rPr/>
              <a:t>Example:</a:t>
            </a:r>
          </a:p>
          <a:p>
            <a:pPr lvl="0" indent="0">
              <a:buNone/>
            </a:pPr>
            <a:r>
              <a:rPr>
                <a:latin typeface="Roboto"/>
              </a:rPr>
              <a:t>
The movie was [Z].
</a:t>
            </a:r>
          </a:p>
          <a:p>
            <a:pPr lvl="0" indent="0" marL="0">
              <a:buNone/>
            </a:pPr>
            <a:r>
              <a:rPr b="1"/>
              <a:t>Prefix prompts</a:t>
            </a:r>
            <a:r>
              <a:rPr/>
              <a:t> - answer follows entire input</a:t>
            </a:r>
          </a:p>
          <a:p>
            <a:pPr lvl="0" indent="0" marL="0">
              <a:buNone/>
            </a:pPr>
            <a:r>
              <a:rPr/>
              <a:t>Example:</a:t>
            </a:r>
          </a:p>
          <a:p>
            <a:pPr lvl="0" indent="0">
              <a:buNone/>
            </a:pPr>
            <a:r>
              <a:rPr>
                <a:latin typeface="Roboto"/>
              </a:rPr>
              <a:t>
Translate: [X]
</a:t>
            </a:r>
          </a:p>
          <a:p>
            <a:pPr lvl="0" indent="0" marL="0">
              <a:buNone/>
            </a:pPr>
            <a:r>
              <a:rPr/>
              <a:t>Prompts may also:</a:t>
            </a:r>
          </a:p>
          <a:p>
            <a:pPr lvl="0"/>
            <a:r>
              <a:rPr/>
              <a:t>use virtual tokens</a:t>
            </a:r>
            <a:br/>
          </a:p>
          <a:p>
            <a:pPr lvl="0"/>
            <a:r>
              <a:rPr/>
              <a:t>use continuous embeddings</a:t>
            </a:r>
            <a:br/>
          </a:p>
          <a:p>
            <a:pPr lvl="0"/>
            <a:r>
              <a:rPr/>
              <a:t>contain multiple input or output slots</a:t>
            </a:r>
          </a:p>
          <a:p>
            <a:pPr lvl="0" indent="0" marL="0">
              <a:buNone/>
            </a:pPr>
            <a:r>
              <a:rPr/>
              <a:t>–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Answer Search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We define: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cr m:val="script"/>
                          <m:sty m:val="p"/>
                        </m:rPr>
                        <m:t>Z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set of possible answers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Then compute: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rPr>
                              <m:sty m:val="b"/>
                            </m:rPr>
                            <m:t>z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arg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max</m:t>
                          </m:r>
                        </m:e>
                        <m:lim>
                          <m:r>
                            <m:rPr>
                              <m:sty m:val="b"/>
                            </m:rPr>
                            <m:t>z</m:t>
                          </m:r>
                          <m:r>
                            <m:rPr>
                              <m:sty m:val="p"/>
                            </m:rPr>
                            <m:t>∈</m:t>
                          </m:r>
                          <m:r>
                            <m:rPr>
                              <m:scr m:val="script"/>
                              <m:sty m:val="p"/>
                            </m:rPr>
                            <m:t>Z</m:t>
                          </m:r>
                        </m:lim>
                      </m:limLow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f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fill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sSup>
                        <m:e>
                          <m:r>
                            <m:rPr>
                              <m:sty m:val="b"/>
                            </m:rPr>
                            <m:t>x</m:t>
                          </m:r>
                        </m:e>
                        <m:sup>
                          <m:r>
                            <m:rPr>
                              <m:sty m:val="b"/>
                            </m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b"/>
                        </m:rPr>
                        <m:t>z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;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Search strategies:</a:t>
                </a:r>
              </a:p>
              <a:p>
                <a:pPr lvl="0"/>
                <a:r>
                  <a:rPr/>
                  <a:t>argmax decoding</a:t>
                </a:r>
              </a:p>
              <a:p>
                <a:pPr lvl="0"/>
                <a:r>
                  <a:rPr/>
                  <a:t>probabilistic sampling</a:t>
                </a:r>
              </a:p>
            </p:txBody>
          </p:sp>
        </mc:Choice>
      </mc:AlternateContent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Mapping Answers to Outputs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In some tasks: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rPr>
                              <m:sty m:val="b"/>
                            </m:rP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acc>
                        <m:accPr>
                          <m:chr m:val="̂"/>
                        </m:accPr>
                        <m:e>
                          <m:r>
                            <m:rPr>
                              <m:sty m:val="b"/>
                            </m:rPr>
                            <m:t>z</m:t>
                          </m:r>
                        </m:e>
                      </m:acc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In others:</a:t>
                </a:r>
              </a:p>
              <a:p>
                <a:pPr lvl="0"/>
                <a:r>
                  <a:rPr/>
                  <a:t>multiple answers correspond to same label</a:t>
                </a:r>
              </a:p>
              <a:p>
                <a:pPr lvl="0" indent="0" marL="0">
                  <a:buNone/>
                </a:pPr>
                <a:r>
                  <a:rPr/>
                  <a:t>Example:</a:t>
                </a:r>
              </a:p>
              <a:p>
                <a:pPr lvl="0" indent="0" marL="0">
                  <a:buNone/>
                </a:pPr>
                <a:r>
                  <a:rPr/>
                  <a:t>excellent, amazing → positive</a:t>
                </a:r>
              </a:p>
              <a:p>
                <a:pPr lvl="0" indent="0" marL="0">
                  <a:buNone/>
                </a:pPr>
                <a:r>
                  <a:rPr/>
                  <a:t>Thus we define: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g</m:t>
                      </m:r>
                      <m:r>
                        <m:rPr>
                          <m:sty m:val="p"/>
                        </m:rPr>
                        <m:t>:</m:t>
                      </m:r>
                      <m:r>
                        <m:rPr>
                          <m:sty m:val="b"/>
                        </m:rPr>
                        <m:t>z</m:t>
                      </m:r>
                      <m:r>
                        <m:rPr>
                          <m:sty m:val="p"/>
                        </m:rPr>
                        <m:t>→</m:t>
                      </m:r>
                      <m:r>
                        <m:rPr>
                          <m:sty m:val="b"/>
                        </m:rPr>
                        <m:t>y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Considerations in Prompting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dimensions:</a:t>
            </a:r>
          </a:p>
          <a:p>
            <a:pPr lvl="0"/>
            <a:r>
              <a:rPr/>
              <a:t>Choice of pre-trained model</a:t>
            </a:r>
          </a:p>
          <a:p>
            <a:pPr lvl="0"/>
            <a:r>
              <a:rPr/>
              <a:t>Prompt engineering</a:t>
            </a:r>
          </a:p>
          <a:p>
            <a:pPr lvl="0"/>
            <a:r>
              <a:rPr/>
              <a:t>Answer engineering</a:t>
            </a:r>
          </a:p>
          <a:p>
            <a:pPr lvl="0"/>
            <a:r>
              <a:rPr/>
              <a:t>Multi-prompt learning</a:t>
            </a:r>
          </a:p>
          <a:p>
            <a:pPr lvl="0"/>
            <a:r>
              <a:rPr/>
              <a:t>Prompt-based training strategies</a:t>
            </a:r>
          </a:p>
          <a:p>
            <a:pPr lvl="0" indent="0" marL="0">
              <a:buNone/>
            </a:pPr>
            <a:r>
              <a:rPr/>
              <a:t>Prompting is not just inference —</a:t>
            </a:r>
            <a:br/>
            <a:r>
              <a:rPr/>
              <a:t>it is a full modeling paradigm.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Prompting Design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Prompting methods vary across:</a:t>
            </a:r>
          </a:p>
          <a:p>
            <a:pPr lvl="0"/>
            <a:r>
              <a:rPr/>
              <a:t>Pre-trained model type</a:t>
            </a:r>
            <a:br/>
          </a:p>
          <a:p>
            <a:pPr lvl="0"/>
            <a:r>
              <a:rPr/>
              <a:t>Prompt construction method</a:t>
            </a:r>
            <a:br/>
          </a:p>
          <a:p>
            <a:pPr lvl="0"/>
            <a:r>
              <a:rPr/>
              <a:t>Answer representation</a:t>
            </a:r>
            <a:br/>
          </a:p>
          <a:p>
            <a:pPr lvl="0"/>
            <a:r>
              <a:rPr/>
              <a:t>Training strategy</a:t>
            </a:r>
            <a:br/>
          </a:p>
          <a:p>
            <a:pPr lvl="0"/>
            <a:r>
              <a:rPr/>
              <a:t>Multi-prompt composition</a:t>
            </a:r>
          </a:p>
          <a:p>
            <a:pPr lvl="0" indent="0" marL="0">
              <a:buNone/>
            </a:pPr>
            <a:r>
              <a:rPr/>
              <a:t>This defines a rich design space for LLM control.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Implications for AI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shift to prompt-based approaches enables:</a:t>
            </a:r>
          </a:p>
          <a:p>
            <a:pPr lvl="0"/>
            <a:r>
              <a:rPr/>
              <a:t>faster prototyping cycles</a:t>
            </a:r>
          </a:p>
          <a:p>
            <a:pPr lvl="0"/>
            <a:r>
              <a:rPr/>
              <a:t>lower development costs</a:t>
            </a:r>
          </a:p>
          <a:p>
            <a:pPr lvl="0"/>
            <a:r>
              <a:rPr/>
              <a:t>human-in-the-loop interaction</a:t>
            </a:r>
          </a:p>
          <a:p>
            <a:pPr lvl="0"/>
            <a:r>
              <a:rPr/>
              <a:t>dynamic system reconfiguration</a:t>
            </a:r>
          </a:p>
          <a:p>
            <a:pPr lvl="0"/>
            <a:r>
              <a:rPr/>
              <a:t>probabilistic software architectures</a:t>
            </a:r>
          </a:p>
          <a:p>
            <a:pPr lvl="0" indent="0" marL="0">
              <a:buNone/>
            </a:pPr>
            <a:r>
              <a:rPr/>
              <a:t>This marks a transition from:</a:t>
            </a:r>
          </a:p>
          <a:p>
            <a:pPr lvl="0" indent="0" marL="1270000">
              <a:buNone/>
            </a:pPr>
            <a:r>
              <a:rPr sz="2000" b="1"/>
              <a:t>Static Models → Interactive Generative Systems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AD698 - Applied Generative AI</dc:title>
  <dc:creator>Nakul R. Padalkar</dc:creator>
  <cp:keywords/>
  <dc:description>Presentation slides for Module 3 on Prompting as System Design.</dc:description>
  <dcterms:created xsi:type="dcterms:W3CDTF">2026-04-30T20:02:49Z</dcterms:created>
  <dcterms:modified xsi:type="dcterms:W3CDTF">2026-04-30T20:02:49Z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ategories">
    <vt:lpwstr/>
  </property>
  <property fmtid="{D5CDD505-2E9C-101B-9397-08002B2CF9AE}" pid="9" name="crossref">
    <vt:lpwstr/>
  </property>
  <property fmtid="{D5CDD505-2E9C-101B-9397-08002B2CF9AE}" pid="10" name="csl">
    <vt:lpwstr>../mis-quarterly.csl</vt:lpwstr>
  </property>
  <property fmtid="{D5CDD505-2E9C-101B-9397-08002B2CF9AE}" pid="11" name="date">
    <vt:lpwstr>March 12, 2024</vt:lpwstr>
  </property>
  <property fmtid="{D5CDD505-2E9C-101B-9397-08002B2CF9AE}" pid="12" name="date-format">
    <vt:lpwstr>long</vt:lpwstr>
  </property>
  <property fmtid="{D5CDD505-2E9C-101B-9397-08002B2CF9AE}" pid="13" name="date-modified">
    <vt:lpwstr>April 30, 2026</vt:lpwstr>
  </property>
  <property fmtid="{D5CDD505-2E9C-101B-9397-08002B2CF9AE}" pid="14" name="editor">
    <vt:lpwstr/>
  </property>
  <property fmtid="{D5CDD505-2E9C-101B-9397-08002B2CF9AE}" pid="15" name="engines">
    <vt:lpwstr/>
  </property>
  <property fmtid="{D5CDD505-2E9C-101B-9397-08002B2CF9AE}" pid="16" name="execute">
    <vt:lpwstr/>
  </property>
  <property fmtid="{D5CDD505-2E9C-101B-9397-08002B2CF9AE}" pid="17" name="header-includes">
    <vt:lpwstr/>
  </property>
  <property fmtid="{D5CDD505-2E9C-101B-9397-08002B2CF9AE}" pid="18" name="include-after">
    <vt:lpwstr/>
  </property>
  <property fmtid="{D5CDD505-2E9C-101B-9397-08002B2CF9AE}" pid="19" name="include-before">
    <vt:lpwstr/>
  </property>
  <property fmtid="{D5CDD505-2E9C-101B-9397-08002B2CF9AE}" pid="20" name="labels">
    <vt:lpwstr/>
  </property>
  <property fmtid="{D5CDD505-2E9C-101B-9397-08002B2CF9AE}" pid="21" name="logo">
    <vt:lpwstr>../theme/figures/met_signature_toptier_rgb.png</vt:lpwstr>
  </property>
  <property fmtid="{D5CDD505-2E9C-101B-9397-08002B2CF9AE}" pid="22" name="monofont">
    <vt:lpwstr>Roboto</vt:lpwstr>
  </property>
  <property fmtid="{D5CDD505-2E9C-101B-9397-08002B2CF9AE}" pid="23" name="resources">
    <vt:lpwstr/>
  </property>
  <property fmtid="{D5CDD505-2E9C-101B-9397-08002B2CF9AE}" pid="24" name="subtitle">
    <vt:lpwstr>Prompting as System Design</vt:lpwstr>
  </property>
  <property fmtid="{D5CDD505-2E9C-101B-9397-08002B2CF9AE}" pid="25" name="title-slide-attributes">
    <vt:lpwstr/>
  </property>
  <property fmtid="{D5CDD505-2E9C-101B-9397-08002B2CF9AE}" pid="26" name="toc-title">
    <vt:lpwstr>Table of contents</vt:lpwstr>
  </property>
</Properties>
</file>