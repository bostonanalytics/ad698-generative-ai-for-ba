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sv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Modeling Foundations, Transformer Mechanics, and Semantic Geometry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Modeling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Modeling as Next-Token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Modern generative AI is built on </a:t>
                </a:r>
                <a:r>
                  <a:rPr b="1"/>
                  <a:t>language modeling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Instead of learning a task-specific mapping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model the probability of a text sequence itself: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Joint Probability to Sequential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the chain rule of probability, we can rewrite the probability of a sequence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r>
                            <m:t>P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of Sequence Factorization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short sentence such as:</a:t>
                </a:r>
              </a:p>
              <a:p>
                <a:pPr lvl="0" indent="0" marL="1270000">
                  <a:buNone/>
                </a:pPr>
                <a:r>
                  <a:rPr sz="2000"/>
                  <a:t>deep learning is fun</a:t>
                </a:r>
              </a:p>
              <a:p>
                <a:pPr lvl="0" indent="0" marL="0">
                  <a:buNone/>
                </a:pPr>
                <a:r>
                  <a:rPr/>
                  <a:t>the joint probability becomes: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deep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learning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is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fun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deep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t> 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learning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rPr>
                              <m:nor/>
                              <m:sty m:val="p"/>
                            </m:rPr>
                            <m:t>deep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t> 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is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rPr>
                              <m:nor/>
                              <m:sty m:val="p"/>
                            </m:rPr>
                            <m:t>deep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learning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t> 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fun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rPr>
                              <m:nor/>
                              <m:sty m:val="p"/>
                            </m:rPr>
                            <m:t>deep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learning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is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Language generation is therefore a probabilistic unfolding of tokens through context. :contentReferenceoaicite:6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Supervised NLP vs Language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Supervised NLP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input text mapped to task-specific output</a:t>
                </a:r>
              </a:p>
              <a:p>
                <a:pPr lvl="0"/>
                <a:r>
                  <a:rPr/>
                  <a:t>requires labeled examples</a:t>
                </a:r>
              </a:p>
              <a:p>
                <a:pPr lvl="0"/>
                <a:r>
                  <a:rPr/>
                  <a:t>separate model or head for each task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Language Modeling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;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learns general text structure</a:t>
                </a:r>
              </a:p>
              <a:p>
                <a:pPr lvl="0"/>
                <a:r>
                  <a:rPr/>
                  <a:t>uses abundant unlabeled text</a:t>
                </a:r>
              </a:p>
              <a:p>
                <a:pPr lvl="0"/>
                <a:r>
                  <a:rPr/>
                  <a:t>supports generation, adaptation, and prompting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for Generative AI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a model learns: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well enough, then it can:</a:t>
                </a:r>
              </a:p>
              <a:p>
                <a:pPr lvl="0"/>
                <a:r>
                  <a:rPr/>
                  <a:t>generate coherent text</a:t>
                </a:r>
              </a:p>
              <a:p>
                <a:pPr lvl="0"/>
                <a:r>
                  <a:rPr/>
                  <a:t>continue instructions</a:t>
                </a:r>
              </a:p>
              <a:p>
                <a:pPr lvl="0"/>
                <a:r>
                  <a:rPr/>
                  <a:t>answer questions</a:t>
                </a:r>
              </a:p>
              <a:p>
                <a:pPr lvl="0"/>
                <a:r>
                  <a:rPr/>
                  <a:t>translate between languages</a:t>
                </a:r>
              </a:p>
              <a:p>
                <a:pPr lvl="0"/>
                <a:r>
                  <a:rPr/>
                  <a:t>simulate task performance through prompting</a:t>
                </a:r>
              </a:p>
              <a:p>
                <a:pPr lvl="0" indent="0" marL="0">
                  <a:buNone/>
                </a:pPr>
                <a:r>
                  <a:rPr/>
                  <a:t>This is the conceptual bridge from </a:t>
                </a:r>
                <a:r>
                  <a:rPr b="1"/>
                  <a:t>language models</a:t>
                </a:r>
                <a:r>
                  <a:rPr/>
                  <a:t> to </a:t>
                </a:r>
                <a:r>
                  <a:rPr b="1"/>
                  <a:t>large language models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Intuition: How Good Is a Language Model?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good language model should assign high probability to the </a:t>
                </a:r>
                <a:r>
                  <a:rPr b="1"/>
                  <a:t>actual next token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For a sequence of length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the average cross-entropy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</m:e>
                      </m:nary>
                      <m:r>
                        <m:rPr>
                          <m:sty m:val="p"/>
                        </m:rPr>
                        <m:t>log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 smaller value means:</a:t>
                </a:r>
              </a:p>
              <a:p>
                <a:pPr lvl="0"/>
                <a:r>
                  <a:rPr/>
                  <a:t>less surprise</a:t>
                </a:r>
              </a:p>
              <a:p>
                <a:pPr lvl="0"/>
                <a:r>
                  <a:rPr/>
                  <a:t>better prediction</a:t>
                </a:r>
              </a:p>
              <a:p>
                <a:pPr lvl="0"/>
                <a:r>
                  <a:rPr/>
                  <a:t>more accurate modeling of language structure. :contentReferenceoaicite:8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Perplexity is the exponential of average cross-entropy: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Perplexity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exp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</m:e>
                          </m:nary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&lt;</m:t>
                              </m:r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Interpreting Perplexity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Perplexity can be understood as the model’s effective uncertainty over the next token.</a:t>
            </a:r>
          </a:p>
          <a:p>
            <a:pPr lvl="0"/>
            <a:r>
              <a:rPr b="1"/>
              <a:t>Best case:</a:t>
            </a:r>
            <a:r>
              <a:rPr/>
              <a:t> model assigns probability 1 to the correct token</a:t>
            </a:r>
            <a:br/>
            <a:r>
              <a:rPr/>
              <a:t>→ perplexity = 1</a:t>
            </a:r>
          </a:p>
          <a:p>
            <a:pPr lvl="0"/>
            <a:r>
              <a:rPr b="1"/>
              <a:t>Worst case:</a:t>
            </a:r>
            <a:r>
              <a:rPr/>
              <a:t> model assigns probability 0 to the correct token</a:t>
            </a:r>
            <a:br/>
            <a:r>
              <a:rPr/>
              <a:t>→ perplexity approaches infinity</a:t>
            </a:r>
          </a:p>
          <a:p>
            <a:pPr lvl="0"/>
            <a:r>
              <a:rPr b="1"/>
              <a:t>Uniform baseline:</a:t>
            </a:r>
            <a:r>
              <a:rPr/>
              <a:t> model spreads probability equally across all tokens</a:t>
            </a:r>
            <a:br/>
            <a:r>
              <a:rPr/>
              <a:t>→ perplexity equals vocabulary size.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Perplexity Is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Perplexity gives us:</a:t>
            </a:r>
          </a:p>
          <a:p>
            <a:pPr lvl="0"/>
            <a:r>
              <a:rPr/>
              <a:t>a length-normalized measure of prediction quality</a:t>
            </a:r>
          </a:p>
          <a:p>
            <a:pPr lvl="0"/>
            <a:r>
              <a:rPr/>
              <a:t>comparability across different text sequences</a:t>
            </a:r>
          </a:p>
          <a:p>
            <a:pPr lvl="0"/>
            <a:r>
              <a:rPr/>
              <a:t>an information-theoretic interpretation of model uncertainty</a:t>
            </a:r>
          </a:p>
          <a:p>
            <a:pPr lvl="0" indent="0" marL="0">
              <a:buNone/>
            </a:pPr>
            <a:r>
              <a:rPr/>
              <a:t>But it does </a:t>
            </a:r>
            <a:r>
              <a:rPr b="1"/>
              <a:t>not</a:t>
            </a:r>
            <a:r>
              <a:rPr/>
              <a:t> directly measure:</a:t>
            </a:r>
          </a:p>
          <a:p>
            <a:pPr lvl="0"/>
            <a:r>
              <a:rPr/>
              <a:t>usefulness</a:t>
            </a:r>
          </a:p>
          <a:p>
            <a:pPr lvl="0"/>
            <a:r>
              <a:rPr/>
              <a:t>factuality</a:t>
            </a:r>
          </a:p>
          <a:p>
            <a:pPr lvl="0"/>
            <a:r>
              <a:rPr/>
              <a:t>helpfulness</a:t>
            </a:r>
          </a:p>
          <a:p>
            <a:pPr lvl="0"/>
            <a:r>
              <a:rPr/>
              <a:t>alignment with human preferences</a:t>
            </a:r>
          </a:p>
          <a:p>
            <a:pPr lvl="0" indent="0" marL="0">
              <a:buNone/>
            </a:pPr>
            <a:r>
              <a:rPr/>
              <a:t>That is why later LLM systems require additional control layers such as instruction tuning and RLHF.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to Transformers and Prompting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Language modeling gives us the foundational objective: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&lt;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Transformers give us a scalable architecture for estimating it.</a:t>
                </a:r>
              </a:p>
              <a:p>
                <a:pPr lvl="0"/>
                <a:r>
                  <a:rPr/>
                  <a:t>Prompting then becomes a way to </a:t>
                </a:r>
                <a:r>
                  <a:rPr b="1"/>
                  <a:t>shape the context</a:t>
                </a:r>
                <a:r>
                  <a:rPr/>
                  <a:t> so that the next-token distribution produces useful outputs.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Sequence Learning Problems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Fixed-size inputs in earlier models</a:t>
            </a:r>
          </a:p>
        </p:txBody>
      </p:sp>
      <p:pic>
        <p:nvPicPr>
          <p:cNvPr descr="M03_lecture02_figures/mnist_cnn_digit_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390900"/>
            <a:ext cx="5181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 feedforward and convolutional neural networks the size of the input was always fixed.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03_lecture02_figures/mnist_cnn_digit_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390900"/>
            <a:ext cx="5181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For example, we fed fixed size (</a:t>
                </a:r>
                <a14:m>
                  <m:oMath xmlns:m="http://schemas.openxmlformats.org/officeDocument/2006/math">
                    <m:r>
                      <m:t>28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28</m:t>
                    </m:r>
                  </m:oMath>
                </a14:m>
                <a:r>
                  <a:rPr/>
                  <a:t>) images to convolutional neural networks for image classification (MNIST).</a:t>
                </a:r>
              </a:p>
              <a:p>
                <a:pPr lvl="0"/>
                <a:r>
                  <a:rPr/>
                  <a:t>Similarly in word2vec, we fed a fixed window (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) of words to the network.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03_lecture02_figures/mnist_cnn_digit_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390900"/>
            <a:ext cx="5181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Further, each input to the network was independent of the previous or future inputs.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03_lecture02_figures/mnist_cnn_digit_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390900"/>
            <a:ext cx="5181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For example, the computations, outputs and decisions for two successive images are completely independent of each other.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Auto-completion as a sequence problem</a:t>
            </a:r>
          </a:p>
        </p:txBody>
      </p:sp>
      <p:pic>
        <p:nvPicPr>
          <p:cNvPr descr="M03_P2_files/figure-pptx/fig-autocomplete-sequence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816100"/>
            <a:ext cx="4533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</a:t>
            </a:r>
            <a:r>
              <a:rPr b="1"/>
              <a:t>.</a:t>
            </a:r>
            <a:r>
              <a:rPr/>
              <a:t> Diagram showing a sequence of inputs and outputs for an auto-completion task.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 many applications the input is not of a fixed size.</a:t>
            </a:r>
          </a:p>
          <a:p>
            <a:pPr lvl="0"/>
            <a:r>
              <a:rPr/>
              <a:t>Further successive inputs may not be independent of each other.</a:t>
            </a:r>
          </a:p>
          <a:p>
            <a:pPr lvl="0"/>
            <a:r>
              <a:rPr/>
              <a:t>For example, consider the task of auto completion.</a:t>
            </a:r>
          </a:p>
          <a:p>
            <a:pPr lvl="0"/>
            <a:r>
              <a:rPr/>
              <a:t>Given the first character </a:t>
            </a:r>
            <a:r>
              <a:rPr>
                <a:latin typeface="Roboto"/>
              </a:rPr>
              <a:t>d</a:t>
            </a:r>
            <a:r>
              <a:rPr/>
              <a:t> you want to predict the next character </a:t>
            </a:r>
            <a:r>
              <a:rPr>
                <a:latin typeface="Roboto"/>
              </a:rPr>
              <a:t>e</a:t>
            </a:r>
            <a:r>
              <a:rPr/>
              <a:t> and so 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Properties of sequence inputs</a:t>
            </a:r>
          </a:p>
        </p:txBody>
      </p:sp>
      <p:pic>
        <p:nvPicPr>
          <p:cNvPr descr="./M03_lecture02_figures/rnn_sequenc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68400" y="1816100"/>
            <a:ext cx="45212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2</a:t>
            </a:r>
            <a:r>
              <a:rPr b="1"/>
              <a:t>.</a:t>
            </a:r>
            <a:r>
              <a:rPr/>
              <a:t> “Diagram showing a sequence of inputs and outputs for an auto-completion task.”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Successive inputs are no longer independent (while predicting </a:t>
            </a:r>
            <a:r>
              <a:rPr>
                <a:latin typeface="Roboto"/>
              </a:rPr>
              <a:t>e</a:t>
            </a:r>
            <a:r>
              <a:rPr/>
              <a:t> you would want to know what the previous input was in addition to the current input).</a:t>
            </a:r>
          </a:p>
          <a:p>
            <a:pPr lvl="0"/>
            <a:r>
              <a:rPr/>
              <a:t>The length of the inputs and the number of predictions you need to make is not fixed (for example, “learn”, “deep”, “machine” have different number of characters).</a:t>
            </a:r>
          </a:p>
          <a:p>
            <a:pPr lvl="0"/>
            <a:r>
              <a:rPr/>
              <a:t>Each network (orange–blue–green structure) is performing the same task (</a:t>
            </a:r>
            <a:r>
              <a:rPr b="1"/>
              <a:t>input</a:t>
            </a:r>
            <a:r>
              <a:rPr/>
              <a:t>: character, </a:t>
            </a:r>
            <a:r>
              <a:rPr b="1"/>
              <a:t>output</a:t>
            </a:r>
            <a:r>
              <a:rPr/>
              <a:t>: character).</a:t>
            </a:r>
          </a:p>
          <a:p>
            <a:pPr lvl="0"/>
            <a:r>
              <a:rPr/>
              <a:t>These are known as sequence learning problems.</a:t>
            </a:r>
          </a:p>
          <a:p>
            <a:pPr lvl="0"/>
            <a:r>
              <a:rPr/>
              <a:t>We need to look at a sequence of (dependent) inputs and produce an output (or outputs).</a:t>
            </a:r>
          </a:p>
          <a:p>
            <a:pPr lvl="0"/>
            <a:r>
              <a:rPr/>
              <a:t>Each input corresponds to one time step.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Part-of-speech tagging as a sequence task</a:t>
            </a:r>
          </a:p>
        </p:txBody>
      </p:sp>
      <p:pic>
        <p:nvPicPr>
          <p:cNvPr descr="M03_P2_files/figure-pptx/fig-pos-tagging-sequence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68500"/>
            <a:ext cx="51816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3</a:t>
            </a:r>
            <a:r>
              <a:rPr b="1"/>
              <a:t>.</a:t>
            </a:r>
            <a:r>
              <a:rPr/>
              <a:t> Diagram showing a sequence of inputs and outputs for a part-of-speech tagging task.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Consider the task of predicting the part of speech tag (noun, adverb, adjective, verb) of each word in a sentence.</a:t>
            </a:r>
          </a:p>
          <a:p>
            <a:pPr lvl="0"/>
            <a:r>
              <a:rPr/>
              <a:t>Once we see an adjective (social) we are </a:t>
            </a:r>
            <a:r>
              <a:rPr i="1"/>
              <a:t>almost</a:t>
            </a:r>
            <a:r>
              <a:rPr/>
              <a:t> sure that the next word should be a noun (man).</a:t>
            </a:r>
          </a:p>
          <a:p>
            <a:pPr lvl="0"/>
            <a:r>
              <a:rPr/>
              <a:t>Thus the current output (noun) depends on the current input as well as the previous input.</a:t>
            </a:r>
          </a:p>
          <a:p>
            <a:pPr lvl="0"/>
            <a:r>
              <a:rPr/>
              <a:t>Further the size of the input is not fixed (sentences could have arbitrary number of words).</a:t>
            </a:r>
          </a:p>
          <a:p>
            <a:pPr lvl="0"/>
            <a:r>
              <a:rPr/>
              <a:t>Notice that here we are interested in producing an output at each time step.</a:t>
            </a:r>
          </a:p>
          <a:p>
            <a:pPr lvl="0"/>
            <a:r>
              <a:rPr/>
              <a:t>Each network is performing the same task (</a:t>
            </a:r>
            <a:r>
              <a:rPr b="1"/>
              <a:t>input</a:t>
            </a:r>
            <a:r>
              <a:rPr/>
              <a:t>: word, </a:t>
            </a:r>
            <a:r>
              <a:rPr b="1"/>
              <a:t>output</a:t>
            </a:r>
            <a:r>
              <a:rPr/>
              <a:t>: tag).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Sentiment as a sequence-to-label problem</a:t>
            </a:r>
          </a:p>
        </p:txBody>
      </p:sp>
      <p:pic>
        <p:nvPicPr>
          <p:cNvPr descr="M03_P2_files/figure-pptx/fig-sentiment-sequence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222500"/>
            <a:ext cx="5181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4</a:t>
            </a:r>
            <a:r>
              <a:rPr b="1"/>
              <a:t>.</a:t>
            </a:r>
            <a:r>
              <a:rPr/>
              <a:t> Diagram showing a sentiment as a sequence to label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Consider sentiment classification for a sentence like “The movie was boring and …”.</a:t>
            </a:r>
          </a:p>
          <a:p>
            <a:pPr lvl="0"/>
            <a:r>
              <a:rPr/>
              <a:t>The final sentiment depends on the entire sequence of words.</a:t>
            </a:r>
          </a:p>
          <a:p>
            <a:pPr lvl="0"/>
            <a:r>
              <a:rPr/>
              <a:t>Intermediate words like “boring” strongly influence the final decision.</a:t>
            </a:r>
          </a:p>
          <a:p>
            <a:pPr lvl="0"/>
            <a:r>
              <a:rPr/>
              <a:t>Again, the input length is variable, but we may only need a single output label at the end.</a:t>
            </a:r>
          </a:p>
          <a:p>
            <a:pPr lvl="0"/>
            <a:r>
              <a:rPr/>
              <a:t>Sequences could be composed of anything (not just words)</a:t>
            </a:r>
          </a:p>
          <a:p>
            <a:pPr lvl="0"/>
            <a:r>
              <a:rPr/>
              <a:t>For example, a video could be treated as a sequence of images</a:t>
            </a:r>
          </a:p>
          <a:p>
            <a:pPr lvl="0"/>
            <a:r>
              <a:rPr/>
              <a:t>We may want to look at the entire sequence and detect the activity being performed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Recurrent Neural Networks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Modeling sequences with 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How do we model such tasks involving sequences?</a:t>
            </a:r>
          </a:p>
          <a:p>
            <a:pPr lvl="0"/>
            <a:r>
              <a:rPr/>
              <a:t>Account for dependence between inputs</a:t>
            </a:r>
          </a:p>
          <a:p>
            <a:pPr lvl="0"/>
            <a:r>
              <a:rPr/>
              <a:t>Account for variable number of inputs</a:t>
            </a:r>
          </a:p>
          <a:p>
            <a:pPr lvl="0"/>
            <a:r>
              <a:rPr/>
              <a:t>Make sure that the function executed at each time step is the same</a:t>
            </a:r>
          </a:p>
          <a:p>
            <a:pPr lvl="0"/>
            <a:r>
              <a:rPr/>
              <a:t>We will focus on each of these to arrive at a model for dealing with sequences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Model of Sequence</a:t>
            </a:r>
          </a:p>
        </p:txBody>
      </p:sp>
      <p:pic>
        <p:nvPicPr>
          <p:cNvPr descr="M03_P2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816100"/>
            <a:ext cx="23622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showing a sequence of inputs and outputs for an auto-completion task.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What is the function being executed at each time step (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)?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σ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U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m:t>O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V</m:t>
                            </m:r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c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Since we want the </a:t>
                </a:r>
                <a:r>
                  <a:rPr b="1"/>
                  <a:t>same function</a:t>
                </a:r>
                <a:r>
                  <a:rPr/>
                  <a:t> to be executed at each time step, we should share the same network parameters across time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 Sharing Across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Parameter sharing ensures that the network becomes agnostic to the length of the input sequence</a:t>
            </a:r>
          </a:p>
          <a:p>
            <a:pPr lvl="0"/>
            <a:r>
              <a:rPr/>
              <a:t>Since we compute the same function with the same parameters at every time step, the number of time steps does not change the model definition</a:t>
            </a:r>
          </a:p>
          <a:p>
            <a:pPr lvl="0"/>
            <a:r>
              <a:rPr/>
              <a:t>We can view this as creating multiple copies of the same network and applying them across the sequence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First Attempt at Modeling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How do we account for dependence between inputs?</a:t>
                </a:r>
              </a:p>
              <a:p>
                <a:pPr lvl="0"/>
                <a:r>
                  <a:rPr/>
                  <a:t>A first, but infeasible, idea is to feed all previous inputs into the network at each time step</a:t>
                </a:r>
              </a:p>
              <a:p>
                <a:pPr lvl="0"/>
                <a:r>
                  <a:rPr/>
                  <a:t>At time step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, the model would receive: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…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Is this a good solution?</a:t>
                </a:r>
              </a:p>
              <a:p>
                <a:pPr lvl="0"/>
                <a:r>
                  <a:rPr/>
                  <a:t>No, because it violates the other requirements in our wishlist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Naive Dependence Strategy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function being computed at each time step is now different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f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The network becomes sensitive to sequence length</a:t>
                </a:r>
              </a:p>
              <a:p>
                <a:pPr lvl="0"/>
                <a:r>
                  <a:rPr/>
                  <a:t>A sequence of length 10 would require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10</m:t>
                        </m:r>
                      </m:sub>
                    </m:sSub>
                  </m:oMath>
                </a14:m>
                <a:r>
                  <a:rPr/>
                  <a:t>, while a sequence of length 100 would require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100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Recurrent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solution is to add a </a:t>
                </a:r>
                <a:r>
                  <a:rPr b="1"/>
                  <a:t>recurrent connection</a:t>
                </a:r>
                <a:r>
                  <a:rPr/>
                  <a:t> to the network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σ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U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W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cr m:val="script"/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V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or more generally,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W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</a:t>
                </a:r>
                <a:r>
                  <a:rPr b="1"/>
                  <a:t>state</a:t>
                </a:r>
                <a:r>
                  <a:rPr/>
                  <a:t> of the network at time step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/>
                <a:r>
                  <a:rPr/>
                  <a:t>The parameters </a:t>
                </a:r>
                <a14:m>
                  <m:oMath xmlns:m="http://schemas.openxmlformats.org/officeDocument/2006/math">
                    <m:r>
                      <m:t>W</m:t>
                    </m:r>
                    <m:r>
                      <m:rPr>
                        <m:sty m:val="p"/>
                      </m:rPr>
                      <m:t>,</m:t>
                    </m:r>
                    <m:r>
                      <m:t>U</m:t>
                    </m:r>
                    <m:r>
                      <m:rPr>
                        <m:sty m:val="p"/>
                      </m:rPr>
                      <m:t>,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</m:oMath>
                </a14:m>
                <a:r>
                  <a:rPr/>
                  <a:t> are shared across time steps</a:t>
                </a:r>
              </a:p>
              <a:p>
                <a:pPr lvl="0"/>
                <a:r>
                  <a:rPr/>
                  <a:t>The same model can process sequences of length 10, 100, or more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More Compact View of Recurrence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We can represent recurrence more compactly</a:t>
                </a:r>
              </a:p>
              <a:p>
                <a:pPr lvl="0"/>
                <a:r>
                  <a:rPr/>
                  <a:t>The hidden state is updated by combining:</a:t>
                </a:r>
              </a:p>
              <a:p>
                <a:pPr lvl="1"/>
                <a:r>
                  <a:rPr/>
                  <a:t>the current input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1"/>
                <a:r>
                  <a:rPr/>
                  <a:t>the previous state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This compact view emphasizes that the network carries information forward through time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Revisiting Sequence Learning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Let us revisit the sequence learning problems that we saw earlier</a:t>
            </a:r>
          </a:p>
          <a:p>
            <a:pPr lvl="0"/>
            <a:r>
              <a:rPr/>
              <a:t>We now have recurrent connections between time steps, which account for dependence between inputs</a:t>
            </a:r>
          </a:p>
          <a:p>
            <a:pPr lvl="0"/>
            <a:r>
              <a:rPr/>
              <a:t>This gives us a principled architecture for modeling sequential data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Engineering and Prompt-Based Learning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Prompt Engineering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Prompt-based learning reframes downstream tasks as language modeling problems. This means performance depends not only on:</a:t>
            </a:r>
          </a:p>
          <a:p>
            <a:pPr lvl="0"/>
            <a:r>
              <a:rPr/>
              <a:t>the pre-trained model</a:t>
            </a:r>
          </a:p>
          <a:p>
            <a:pPr lvl="0"/>
            <a:r>
              <a:rPr/>
              <a:t>the data</a:t>
            </a:r>
          </a:p>
          <a:p>
            <a:pPr lvl="0"/>
            <a:r>
              <a:rPr/>
              <a:t>the decoding strategy</a:t>
            </a:r>
          </a:p>
          <a:p>
            <a:pPr lvl="0" indent="0" marL="0">
              <a:buNone/>
            </a:pPr>
            <a:r>
              <a:rPr/>
              <a:t>but also on:</a:t>
            </a:r>
          </a:p>
          <a:p>
            <a:pPr lvl="0"/>
            <a:r>
              <a:rPr/>
              <a:t>how the prompt is structured</a:t>
            </a:r>
          </a:p>
          <a:p>
            <a:pPr lvl="0"/>
            <a:r>
              <a:rPr/>
              <a:t>how the answer space is designed</a:t>
            </a:r>
          </a:p>
          <a:p>
            <a:pPr lvl="0"/>
            <a:r>
              <a:rPr/>
              <a:t>how prompts are combined or tuned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major prompt shapes are commonly used:</a:t>
            </a:r>
          </a:p>
          <a:p>
            <a:pPr lvl="0" indent="0" marL="0">
              <a:buNone/>
            </a:pPr>
            <a:r>
              <a:rPr b="1"/>
              <a:t>Cloze prompt</a:t>
            </a:r>
            <a:r>
              <a:rPr/>
              <a:t> - the answer slot appears inside the text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Roboto"/>
              </a:rPr>
              <a:t>I love this movie. Overall, it was a [Z] movie.</a:t>
            </a:r>
          </a:p>
          <a:p>
            <a:pPr lvl="0" indent="0" marL="0">
              <a:buNone/>
            </a:pPr>
            <a:r>
              <a:rPr b="1"/>
              <a:t>Prefix prompt</a:t>
            </a:r>
          </a:p>
          <a:p>
            <a:pPr lvl="0"/>
            <a:r>
              <a:rPr/>
              <a:t>the input appears before the answer slot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Roboto"/>
              </a:rPr>
              <a:t>French: Je vous aime.
English: [Z]</a:t>
            </a:r>
          </a:p>
          <a:p>
            <a:pPr lvl="0" indent="0" marL="0">
              <a:buNone/>
            </a:pPr>
            <a:r>
              <a:rPr/>
              <a:t>Prompt shape affects:</a:t>
            </a:r>
          </a:p>
          <a:p>
            <a:pPr lvl="0"/>
            <a:r>
              <a:rPr/>
              <a:t>what the model is asked to do</a:t>
            </a:r>
          </a:p>
          <a:p>
            <a:pPr lvl="0"/>
            <a:r>
              <a:rPr/>
              <a:t>how naturally the task aligns with pretraining</a:t>
            </a:r>
          </a:p>
          <a:p>
            <a:pPr lvl="0"/>
            <a:r>
              <a:rPr/>
              <a:t>which model families work best.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Manual Template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manually designed prompt template specifies:</a:t>
            </a:r>
          </a:p>
          <a:p>
            <a:pPr lvl="0"/>
            <a:r>
              <a:rPr/>
              <a:t>where the input is inserted</a:t>
            </a:r>
          </a:p>
          <a:p>
            <a:pPr lvl="0"/>
            <a:r>
              <a:rPr/>
              <a:t>what linguistic context surrounds it</a:t>
            </a:r>
          </a:p>
          <a:p>
            <a:pPr lvl="0"/>
            <a:r>
              <a:rPr/>
              <a:t>what kind of answer is expected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Sentiment:</a:t>
            </a:r>
          </a:p>
          <a:p>
            <a:pPr lvl="1" indent="0">
              <a:buNone/>
            </a:pPr>
            <a:r>
              <a:rPr>
                <a:latin typeface="Roboto"/>
              </a:rPr>
              <a:t>[X] The movie is [Z].</a:t>
            </a:r>
          </a:p>
          <a:p>
            <a:pPr lvl="0"/>
            <a:r>
              <a:rPr/>
              <a:t>Topic classification:</a:t>
            </a:r>
          </a:p>
          <a:p>
            <a:pPr lvl="1" indent="0">
              <a:buNone/>
            </a:pPr>
            <a:r>
              <a:rPr>
                <a:latin typeface="Roboto"/>
              </a:rPr>
              <a:t>[X] The text is about [Z].</a:t>
            </a:r>
          </a:p>
          <a:p>
            <a:pPr lvl="0"/>
            <a:r>
              <a:rPr/>
              <a:t>Translation:</a:t>
            </a:r>
          </a:p>
          <a:p>
            <a:pPr lvl="1" indent="0">
              <a:buNone/>
            </a:pPr>
            <a:r>
              <a:rPr>
                <a:latin typeface="Roboto"/>
              </a:rPr>
              <a:t>French: [X] English: [Z]</a:t>
            </a:r>
          </a:p>
          <a:p>
            <a:pPr lvl="0" indent="0" marL="0">
              <a:buNone/>
            </a:pPr>
            <a:r>
              <a:rPr/>
              <a:t>Manual template design is intuitive and interpretable, but it is often brittle and task-sensitive.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Template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Instead of hand-writing prompts, we can learn them.</a:t>
            </a:r>
          </a:p>
          <a:p>
            <a:pPr lvl="0" indent="0" marL="0">
              <a:buNone/>
            </a:pPr>
            <a:r>
              <a:rPr/>
              <a:t>Two major approaches:</a:t>
            </a:r>
          </a:p>
          <a:p>
            <a:pPr lvl="0"/>
            <a:r>
              <a:rPr b="1"/>
              <a:t>Discrete prompt learning</a:t>
            </a:r>
          </a:p>
          <a:p>
            <a:pPr lvl="0"/>
            <a:r>
              <a:rPr b="1"/>
              <a:t>Continuous prompt learning</a:t>
            </a:r>
          </a:p>
          <a:p>
            <a:pPr lvl="0" indent="0" marL="0">
              <a:buNone/>
            </a:pPr>
            <a:r>
              <a:rPr/>
              <a:t>This shifts prompting from:</a:t>
            </a:r>
          </a:p>
          <a:p>
            <a:pPr lvl="0" indent="0" marL="1270000">
              <a:buNone/>
            </a:pPr>
            <a:r>
              <a:rPr sz="2000"/>
              <a:t>prompt writing</a:t>
            </a:r>
          </a:p>
          <a:p>
            <a:pPr lvl="0" indent="0" marL="0">
              <a:buNone/>
            </a:pPr>
            <a:r>
              <a:rPr/>
              <a:t>to</a:t>
            </a:r>
          </a:p>
          <a:p>
            <a:pPr lvl="0" indent="0" marL="1270000">
              <a:buNone/>
            </a:pPr>
            <a:r>
              <a:rPr sz="2000"/>
              <a:t>prompt optimization</a:t>
            </a:r>
          </a:p>
          <a:p>
            <a:pPr lvl="0" indent="0" marL="0">
              <a:buNone/>
            </a:pPr>
            <a:r>
              <a:rPr/>
              <a:t>The central idea is that the prompt itself can become an object of search or training.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prompt learning searches over actual tokens or phrases.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selecting better trigger words</a:t>
            </a:r>
          </a:p>
          <a:p>
            <a:pPr lvl="0"/>
            <a:r>
              <a:rPr/>
              <a:t>searching candidate templates</a:t>
            </a:r>
          </a:p>
          <a:p>
            <a:pPr lvl="0"/>
            <a:r>
              <a:rPr/>
              <a:t>optimizing label words</a:t>
            </a:r>
          </a:p>
          <a:p>
            <a:pPr lvl="0" indent="0" marL="0">
              <a:buNone/>
            </a:pPr>
            <a:r>
              <a:rPr/>
              <a:t>Advantages:</a:t>
            </a:r>
          </a:p>
          <a:p>
            <a:pPr lvl="0"/>
            <a:r>
              <a:rPr/>
              <a:t>interpretable</a:t>
            </a:r>
          </a:p>
          <a:p>
            <a:pPr lvl="0"/>
            <a:r>
              <a:rPr/>
              <a:t>human-readable</a:t>
            </a:r>
          </a:p>
          <a:p>
            <a:pPr lvl="0"/>
            <a:r>
              <a:rPr/>
              <a:t>easy to inspect</a:t>
            </a:r>
          </a:p>
          <a:p>
            <a:pPr lvl="0" indent="0" marL="0">
              <a:buNone/>
            </a:pPr>
            <a:r>
              <a:rPr/>
              <a:t>Limitations:</a:t>
            </a:r>
          </a:p>
          <a:p>
            <a:pPr lvl="0"/>
            <a:r>
              <a:rPr/>
              <a:t>combinatorial search space</a:t>
            </a:r>
          </a:p>
          <a:p>
            <a:pPr lvl="0"/>
            <a:r>
              <a:rPr/>
              <a:t>token-level optimization is difficult</a:t>
            </a:r>
          </a:p>
          <a:p>
            <a:pPr lvl="0"/>
            <a:r>
              <a:rPr/>
              <a:t>may remain brittle across tasks.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prompts replace natural-language templates with learnable vectors.</a:t>
            </a:r>
          </a:p>
          <a:p>
            <a:pPr lvl="0" indent="0" marL="0">
              <a:buNone/>
            </a:pPr>
            <a:r>
              <a:rPr/>
              <a:t>Instead of writing:</a:t>
            </a:r>
          </a:p>
          <a:p>
            <a:pPr lvl="0" indent="0">
              <a:buNone/>
            </a:pPr>
            <a:r>
              <a:rPr>
                <a:latin typeface="Roboto"/>
              </a:rPr>
              <a:t>The movie is [Z].</a:t>
            </a:r>
          </a:p>
          <a:p>
            <a:pPr lvl="0" indent="0" marL="0">
              <a:buNone/>
            </a:pPr>
            <a:r>
              <a:rPr/>
              <a:t>we learn soft prompt embeddings that steer the model.</a:t>
            </a:r>
          </a:p>
          <a:p>
            <a:pPr lvl="0" indent="0" marL="0">
              <a:buNone/>
            </a:pPr>
            <a:r>
              <a:rPr/>
              <a:t>Advantages:</a:t>
            </a:r>
          </a:p>
          <a:p>
            <a:pPr lvl="0"/>
            <a:r>
              <a:rPr/>
              <a:t>highly flexible</a:t>
            </a:r>
          </a:p>
          <a:p>
            <a:pPr lvl="0"/>
            <a:r>
              <a:rPr/>
              <a:t>easier to optimize than discrete token search</a:t>
            </a:r>
          </a:p>
          <a:p>
            <a:pPr lvl="0"/>
            <a:r>
              <a:rPr/>
              <a:t>often performs well with frozen language models</a:t>
            </a:r>
          </a:p>
          <a:p>
            <a:pPr lvl="0" indent="0" marL="0">
              <a:buNone/>
            </a:pPr>
            <a:r>
              <a:rPr/>
              <a:t>Limitations:</a:t>
            </a:r>
          </a:p>
          <a:p>
            <a:pPr lvl="0"/>
            <a:r>
              <a:rPr/>
              <a:t>less interpretable</a:t>
            </a:r>
          </a:p>
          <a:p>
            <a:pPr lvl="0"/>
            <a:r>
              <a:rPr/>
              <a:t>not directly human-readable</a:t>
            </a:r>
          </a:p>
          <a:p>
            <a:pPr lvl="0"/>
            <a:r>
              <a:rPr/>
              <a:t>can behave like hidden task-specific parameters.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Prompting does not end with the prompt itself.</a:t>
            </a:r>
          </a:p>
          <a:p>
            <a:pPr lvl="0" indent="0" marL="0">
              <a:buNone/>
            </a:pPr>
            <a:r>
              <a:rPr/>
              <a:t>We must also decide:</a:t>
            </a:r>
          </a:p>
          <a:p>
            <a:pPr lvl="0"/>
            <a:r>
              <a:rPr/>
              <a:t>what form the answer takes</a:t>
            </a:r>
          </a:p>
          <a:p>
            <a:pPr lvl="0"/>
            <a:r>
              <a:rPr/>
              <a:t>what answer space is allowed</a:t>
            </a:r>
          </a:p>
          <a:p>
            <a:pPr lvl="0"/>
            <a:r>
              <a:rPr/>
              <a:t>how answers map back to task outputs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token answer</a:t>
            </a:r>
          </a:p>
          <a:p>
            <a:pPr lvl="0"/>
            <a:r>
              <a:rPr/>
              <a:t>span answer</a:t>
            </a:r>
          </a:p>
          <a:p>
            <a:pPr lvl="0"/>
            <a:r>
              <a:rPr/>
              <a:t>sentence answer</a:t>
            </a:r>
          </a:p>
          <a:p>
            <a:pPr lvl="0" indent="0" marL="0">
              <a:buNone/>
            </a:pPr>
            <a:r>
              <a:rPr/>
              <a:t>Answer engineering is especially important in classification-style prompting, where many different words may correspond to the same label.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 Shape and Answer Space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common answer shapes:</a:t>
            </a:r>
          </a:p>
          <a:p>
            <a:pPr lvl="0"/>
            <a:r>
              <a:rPr b="1"/>
              <a:t>Token</a:t>
            </a:r>
          </a:p>
          <a:p>
            <a:pPr lvl="0"/>
            <a:r>
              <a:rPr b="1"/>
              <a:t>Span</a:t>
            </a:r>
          </a:p>
          <a:p>
            <a:pPr lvl="0"/>
            <a:r>
              <a:rPr b="1"/>
              <a:t>Sentence</a:t>
            </a:r>
          </a:p>
          <a:p>
            <a:pPr lvl="0" indent="0" marL="0">
              <a:buNone/>
            </a:pPr>
            <a:r>
              <a:rPr/>
              <a:t>Answer space design can be:</a:t>
            </a:r>
          </a:p>
          <a:p>
            <a:pPr lvl="0" indent="0" marL="0">
              <a:buNone/>
            </a:pPr>
            <a:r>
              <a:rPr b="1"/>
              <a:t>Manual</a:t>
            </a:r>
            <a:r>
              <a:rPr/>
              <a:t> - choose verbalizers such as: - positive → great - neutral → okay - negative → terrible</a:t>
            </a:r>
          </a:p>
          <a:p>
            <a:pPr lvl="0" indent="0" marL="0">
              <a:buNone/>
            </a:pPr>
            <a:r>
              <a:rPr b="1"/>
              <a:t>Discrete search</a:t>
            </a:r>
            <a:r>
              <a:rPr/>
              <a:t> - search over candidate answer tokens</a:t>
            </a:r>
          </a:p>
          <a:p>
            <a:pPr lvl="0" indent="0" marL="0">
              <a:buNone/>
            </a:pPr>
            <a:r>
              <a:rPr b="1"/>
              <a:t>Continuous search</a:t>
            </a:r>
            <a:r>
              <a:rPr/>
              <a:t> - learn answer representations in embedding space</a:t>
            </a:r>
          </a:p>
          <a:p>
            <a:pPr lvl="0" indent="0" marL="0">
              <a:buNone/>
            </a:pPr>
            <a:r>
              <a:rPr/>
              <a:t>This choice strongly affects accuracy, calibration, and task fit.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Multi-Prompt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single prompt is rarely sufficient.</a:t>
            </a:r>
          </a:p>
          <a:p>
            <a:pPr lvl="0" indent="0" marL="0">
              <a:buNone/>
            </a:pPr>
            <a:r>
              <a:rPr/>
              <a:t>Multi-prompt learning extends the framework through:</a:t>
            </a:r>
          </a:p>
          <a:p>
            <a:pPr lvl="0"/>
            <a:r>
              <a:rPr/>
              <a:t>Prompt ensembling</a:t>
            </a:r>
          </a:p>
          <a:p>
            <a:pPr lvl="0"/>
            <a:r>
              <a:rPr/>
              <a:t>Prompt augmentation</a:t>
            </a:r>
          </a:p>
          <a:p>
            <a:pPr lvl="0"/>
            <a:r>
              <a:rPr/>
              <a:t>Prompt composition</a:t>
            </a:r>
          </a:p>
          <a:p>
            <a:pPr lvl="0"/>
            <a:r>
              <a:rPr/>
              <a:t>Prompt decomposition</a:t>
            </a:r>
          </a:p>
          <a:p>
            <a:pPr lvl="0" indent="0" marL="0">
              <a:buNone/>
            </a:pPr>
            <a:r>
              <a:rPr/>
              <a:t>This helps reduce prompt sensitivity and improve robustness across tasks.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Multi-Prompt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Prompt ensembling</a:t>
            </a:r>
          </a:p>
          <a:p>
            <a:pPr lvl="1"/>
            <a:r>
              <a:rPr/>
              <a:t>combine predictions from multiple prompts</a:t>
            </a:r>
          </a:p>
          <a:p>
            <a:pPr lvl="0"/>
            <a:r>
              <a:rPr/>
              <a:t>Prompt augmentation</a:t>
            </a:r>
          </a:p>
          <a:p>
            <a:pPr lvl="1"/>
            <a:r>
              <a:rPr/>
              <a:t>vary demonstrations or examples</a:t>
            </a:r>
          </a:p>
          <a:p>
            <a:pPr lvl="1"/>
            <a:r>
              <a:rPr/>
              <a:t>generate multiple contextual prompt versions</a:t>
            </a:r>
          </a:p>
          <a:p>
            <a:pPr lvl="0"/>
            <a:r>
              <a:rPr/>
              <a:t>Prompt composition</a:t>
            </a:r>
          </a:p>
          <a:p>
            <a:pPr lvl="1"/>
            <a:r>
              <a:rPr/>
              <a:t>combine multiple sub-prompts into a larger task structure</a:t>
            </a:r>
          </a:p>
          <a:p>
            <a:pPr lvl="0"/>
            <a:r>
              <a:rPr/>
              <a:t>Prompt decomposition</a:t>
            </a:r>
          </a:p>
          <a:p>
            <a:pPr lvl="1"/>
            <a:r>
              <a:rPr/>
              <a:t>break a complex task into simpler prompted subtasks</a:t>
            </a:r>
          </a:p>
          <a:p>
            <a:pPr lvl="0"/>
            <a:r>
              <a:rPr/>
              <a:t>These strategies move prompting from a single-template method to a small inference system.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Strategies for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Prompt-based learning can be used with different training regimes.</a:t>
            </a:r>
          </a:p>
          <a:p>
            <a:pPr lvl="0" indent="0" marL="0">
              <a:buNone/>
            </a:pPr>
            <a:r>
              <a:rPr/>
              <a:t>Common settings include:</a:t>
            </a:r>
          </a:p>
          <a:p>
            <a:pPr lvl="0"/>
            <a:r>
              <a:rPr/>
              <a:t>zero-shot or few-shot prompting</a:t>
            </a:r>
          </a:p>
          <a:p>
            <a:pPr lvl="0"/>
            <a:r>
              <a:rPr/>
              <a:t>full-data prompting</a:t>
            </a:r>
          </a:p>
          <a:p>
            <a:pPr lvl="0"/>
            <a:r>
              <a:rPr/>
              <a:t>instruction tuning</a:t>
            </a:r>
          </a:p>
          <a:p>
            <a:pPr lvl="0"/>
            <a:r>
              <a:rPr/>
              <a:t>prompt tuning</a:t>
            </a:r>
          </a:p>
          <a:p>
            <a:pPr lvl="0" indent="0" marL="0">
              <a:buNone/>
            </a:pPr>
            <a:r>
              <a:rPr/>
              <a:t>The important question is:</a:t>
            </a:r>
          </a:p>
          <a:p>
            <a:pPr lvl="0" indent="0" marL="1270000">
              <a:buNone/>
            </a:pPr>
            <a:r>
              <a:rPr sz="2000"/>
              <a:t>Which parameters are actually updated?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 Update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major strategies:</a:t>
            </a:r>
          </a:p>
          <a:p>
            <a:pPr lvl="0" indent="-457200" marL="457200">
              <a:buAutoNum type="arabicPeriod"/>
            </a:pPr>
            <a:r>
              <a:rPr b="1"/>
              <a:t>Promptless fine-tuning</a:t>
            </a:r>
          </a:p>
          <a:p>
            <a:pPr lvl="1"/>
            <a:r>
              <a:rPr/>
              <a:t>fine-tune the model directly without prompts</a:t>
            </a:r>
          </a:p>
          <a:p>
            <a:pPr lvl="0" indent="-457200" marL="457200">
              <a:buAutoNum type="arabicPeriod"/>
            </a:pPr>
            <a:r>
              <a:rPr b="1"/>
              <a:t>Tuning-free prompting</a:t>
            </a:r>
          </a:p>
          <a:p>
            <a:pPr lvl="1"/>
            <a:r>
              <a:rPr/>
              <a:t>use prompts only at inference time</a:t>
            </a:r>
          </a:p>
          <a:p>
            <a:pPr lvl="0" indent="-457200" marL="457200">
              <a:buAutoNum type="arabicPeriod"/>
            </a:pPr>
            <a:r>
              <a:rPr b="1"/>
              <a:t>Fixed-LM prompt tuning</a:t>
            </a:r>
          </a:p>
          <a:p>
            <a:pPr lvl="1"/>
            <a:r>
              <a:rPr/>
              <a:t>freeze the model, learn the prompt</a:t>
            </a:r>
          </a:p>
          <a:p>
            <a:pPr lvl="0" indent="-457200" marL="457200">
              <a:buAutoNum type="arabicPeriod"/>
            </a:pPr>
            <a:r>
              <a:rPr b="1"/>
              <a:t>Fixed-prompt LM tuning</a:t>
            </a:r>
          </a:p>
          <a:p>
            <a:pPr lvl="1"/>
            <a:r>
              <a:rPr/>
              <a:t>keep prompt fixed, update model parameters</a:t>
            </a:r>
          </a:p>
          <a:p>
            <a:pPr lvl="0" indent="-457200" marL="457200">
              <a:buAutoNum type="arabicPeriod"/>
            </a:pPr>
            <a:r>
              <a:rPr b="1"/>
              <a:t>Prompt + LM tuning</a:t>
            </a:r>
          </a:p>
          <a:p>
            <a:pPr lvl="1"/>
            <a:r>
              <a:rPr/>
              <a:t>jointly optimize both prompt and model</a:t>
            </a:r>
          </a:p>
          <a:p>
            <a:pPr lvl="0" indent="0" marL="0">
              <a:buNone/>
            </a:pPr>
            <a:r>
              <a:rPr/>
              <a:t>These strategies differ in:</a:t>
            </a:r>
          </a:p>
          <a:p>
            <a:pPr lvl="0"/>
            <a:r>
              <a:rPr/>
              <a:t>cost</a:t>
            </a:r>
          </a:p>
          <a:p>
            <a:pPr lvl="0"/>
            <a:r>
              <a:rPr/>
              <a:t>interpretability</a:t>
            </a:r>
          </a:p>
          <a:p>
            <a:pPr lvl="0"/>
            <a:r>
              <a:rPr/>
              <a:t>flexibility</a:t>
            </a:r>
          </a:p>
          <a:p>
            <a:pPr lvl="0"/>
            <a:r>
              <a:rPr/>
              <a:t>performance.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Prompt-based learning is not one method.</a:t>
            </a:r>
          </a:p>
          <a:p>
            <a:pPr lvl="0" indent="0" marL="0">
              <a:buNone/>
            </a:pPr>
            <a:r>
              <a:rPr/>
              <a:t>It is a family of design choices involving:</a:t>
            </a:r>
          </a:p>
          <a:p>
            <a:pPr lvl="0"/>
            <a:r>
              <a:rPr/>
              <a:t>prompt structure</a:t>
            </a:r>
          </a:p>
          <a:p>
            <a:pPr lvl="0"/>
            <a:r>
              <a:rPr/>
              <a:t>answer structure</a:t>
            </a:r>
          </a:p>
          <a:p>
            <a:pPr lvl="0"/>
            <a:r>
              <a:rPr/>
              <a:t>multiple prompt coordination</a:t>
            </a:r>
          </a:p>
          <a:p>
            <a:pPr lvl="0"/>
            <a:r>
              <a:rPr/>
              <a:t>parameter update strategy</a:t>
            </a:r>
          </a:p>
          <a:p>
            <a:pPr lvl="0" indent="0" marL="0">
              <a:buNone/>
            </a:pPr>
            <a:r>
              <a:rPr/>
              <a:t>So when we say “prompt engineering,” we are really talking about a broader </a:t>
            </a:r>
            <a:r>
              <a:rPr b="1"/>
              <a:t>inference and adaptation framework</a:t>
            </a:r>
            <a:r>
              <a:rPr/>
              <a:t> for large language models.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now have a richer picture of prompting:</a:t>
            </a:r>
          </a:p>
          <a:p>
            <a:pPr lvl="0"/>
            <a:r>
              <a:rPr/>
              <a:t>prompts specify tasks</a:t>
            </a:r>
          </a:p>
          <a:p>
            <a:pPr lvl="0"/>
            <a:r>
              <a:rPr/>
              <a:t>answers define decision spaces</a:t>
            </a:r>
          </a:p>
          <a:p>
            <a:pPr lvl="0"/>
            <a:r>
              <a:rPr/>
              <a:t>multiple prompts improve robustness</a:t>
            </a:r>
          </a:p>
          <a:p>
            <a:pPr lvl="0"/>
            <a:r>
              <a:rPr/>
              <a:t>tuning strategies determine what adapts</a:t>
            </a:r>
          </a:p>
          <a:p>
            <a:pPr lvl="0" indent="0" marL="0">
              <a:buNone/>
            </a:pPr>
            <a:r>
              <a:rPr/>
              <a:t>The next question is:</a:t>
            </a:r>
          </a:p>
          <a:p>
            <a:pPr lvl="0" indent="0" marL="1270000">
              <a:buNone/>
            </a:pPr>
            <a:r>
              <a:rPr sz="2000"/>
              <a:t>How do these prompt-based methods connect to transformer computation, in-context learning, and alignment?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3 on Language Modeling Foundations, Transformer Mechanics, and Semantic Geometry.</dc:description>
  <dcterms:created xsi:type="dcterms:W3CDTF">2026-04-30T20:02:55Z</dcterms:created>
  <dcterms:modified xsi:type="dcterms:W3CDTF">2026-04-30T20:02:55Z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Language Modeling Foundations, Transformer Mechanics, and Semantic Geometry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